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2" r:id="rId4"/>
  </p:sldMasterIdLst>
  <p:notesMasterIdLst>
    <p:notesMasterId r:id="rId27"/>
  </p:notesMasterIdLst>
  <p:handoutMasterIdLst>
    <p:handoutMasterId r:id="rId28"/>
  </p:handoutMasterIdLst>
  <p:sldIdLst>
    <p:sldId id="256" r:id="rId5"/>
    <p:sldId id="275" r:id="rId6"/>
    <p:sldId id="276" r:id="rId7"/>
    <p:sldId id="304" r:id="rId8"/>
    <p:sldId id="278" r:id="rId9"/>
    <p:sldId id="306" r:id="rId10"/>
    <p:sldId id="282" r:id="rId11"/>
    <p:sldId id="279" r:id="rId12"/>
    <p:sldId id="307" r:id="rId13"/>
    <p:sldId id="280" r:id="rId14"/>
    <p:sldId id="285" r:id="rId15"/>
    <p:sldId id="288" r:id="rId16"/>
    <p:sldId id="289" r:id="rId17"/>
    <p:sldId id="290" r:id="rId18"/>
    <p:sldId id="291" r:id="rId19"/>
    <p:sldId id="292" r:id="rId20"/>
    <p:sldId id="293" r:id="rId21"/>
    <p:sldId id="294" r:id="rId22"/>
    <p:sldId id="296" r:id="rId23"/>
    <p:sldId id="298" r:id="rId24"/>
    <p:sldId id="303" r:id="rId25"/>
    <p:sldId id="27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47" autoAdjust="0"/>
  </p:normalViewPr>
  <p:slideViewPr>
    <p:cSldViewPr snapToGrid="0" snapToObjects="1">
      <p:cViewPr varScale="1">
        <p:scale>
          <a:sx n="99" d="100"/>
          <a:sy n="99" d="100"/>
        </p:scale>
        <p:origin x="948" y="90"/>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3 days</c:v>
                </c:pt>
              </c:strCache>
            </c:strRef>
          </c:tx>
          <c:spPr>
            <a:ln w="28575">
              <a:solidFill>
                <a:srgbClr val="FFFFFF"/>
              </a:solidFill>
            </a:ln>
          </c:spPr>
          <c:marker>
            <c:symbol val="none"/>
          </c:marker>
          <c:xVal>
            <c:numRef>
              <c:f>Sheet1!$A$2:$A$72</c:f>
              <c:numCache>
                <c:formatCode>General</c:formatCode>
                <c:ptCount val="71"/>
                <c:pt idx="0">
                  <c:v>20400</c:v>
                </c:pt>
                <c:pt idx="1">
                  <c:v>20450</c:v>
                </c:pt>
                <c:pt idx="2">
                  <c:v>20500</c:v>
                </c:pt>
                <c:pt idx="3">
                  <c:v>20550</c:v>
                </c:pt>
                <c:pt idx="4">
                  <c:v>20600</c:v>
                </c:pt>
                <c:pt idx="5">
                  <c:v>20650</c:v>
                </c:pt>
                <c:pt idx="6">
                  <c:v>20700</c:v>
                </c:pt>
                <c:pt idx="7">
                  <c:v>20750</c:v>
                </c:pt>
                <c:pt idx="8">
                  <c:v>20800</c:v>
                </c:pt>
                <c:pt idx="9">
                  <c:v>20850</c:v>
                </c:pt>
                <c:pt idx="10">
                  <c:v>20900</c:v>
                </c:pt>
                <c:pt idx="11">
                  <c:v>20950</c:v>
                </c:pt>
                <c:pt idx="12">
                  <c:v>21000</c:v>
                </c:pt>
                <c:pt idx="13">
                  <c:v>21050</c:v>
                </c:pt>
                <c:pt idx="14">
                  <c:v>21100</c:v>
                </c:pt>
                <c:pt idx="15">
                  <c:v>21150</c:v>
                </c:pt>
                <c:pt idx="16">
                  <c:v>21200</c:v>
                </c:pt>
                <c:pt idx="17">
                  <c:v>21250</c:v>
                </c:pt>
                <c:pt idx="18">
                  <c:v>21300</c:v>
                </c:pt>
                <c:pt idx="19">
                  <c:v>21350</c:v>
                </c:pt>
                <c:pt idx="20">
                  <c:v>21400</c:v>
                </c:pt>
                <c:pt idx="21">
                  <c:v>21450</c:v>
                </c:pt>
                <c:pt idx="22">
                  <c:v>21500</c:v>
                </c:pt>
                <c:pt idx="23">
                  <c:v>21550</c:v>
                </c:pt>
                <c:pt idx="24">
                  <c:v>21600</c:v>
                </c:pt>
                <c:pt idx="25">
                  <c:v>21650</c:v>
                </c:pt>
                <c:pt idx="26">
                  <c:v>21700</c:v>
                </c:pt>
                <c:pt idx="27">
                  <c:v>21750</c:v>
                </c:pt>
                <c:pt idx="28">
                  <c:v>21800</c:v>
                </c:pt>
                <c:pt idx="29">
                  <c:v>21850</c:v>
                </c:pt>
                <c:pt idx="30">
                  <c:v>21900</c:v>
                </c:pt>
                <c:pt idx="31">
                  <c:v>21950</c:v>
                </c:pt>
                <c:pt idx="32">
                  <c:v>22000</c:v>
                </c:pt>
                <c:pt idx="33">
                  <c:v>22050</c:v>
                </c:pt>
                <c:pt idx="34">
                  <c:v>22100</c:v>
                </c:pt>
                <c:pt idx="35">
                  <c:v>22150</c:v>
                </c:pt>
                <c:pt idx="36">
                  <c:v>22200</c:v>
                </c:pt>
                <c:pt idx="37">
                  <c:v>22250</c:v>
                </c:pt>
                <c:pt idx="38">
                  <c:v>22300</c:v>
                </c:pt>
                <c:pt idx="39">
                  <c:v>22350</c:v>
                </c:pt>
                <c:pt idx="40">
                  <c:v>22400</c:v>
                </c:pt>
                <c:pt idx="41">
                  <c:v>22450</c:v>
                </c:pt>
                <c:pt idx="42">
                  <c:v>22500</c:v>
                </c:pt>
                <c:pt idx="43">
                  <c:v>22550</c:v>
                </c:pt>
                <c:pt idx="44">
                  <c:v>22600</c:v>
                </c:pt>
                <c:pt idx="45">
                  <c:v>22650</c:v>
                </c:pt>
                <c:pt idx="46">
                  <c:v>22700</c:v>
                </c:pt>
                <c:pt idx="47">
                  <c:v>22750</c:v>
                </c:pt>
                <c:pt idx="48">
                  <c:v>22800</c:v>
                </c:pt>
                <c:pt idx="49">
                  <c:v>22850</c:v>
                </c:pt>
                <c:pt idx="50">
                  <c:v>22900</c:v>
                </c:pt>
                <c:pt idx="51">
                  <c:v>22950</c:v>
                </c:pt>
                <c:pt idx="52">
                  <c:v>23000</c:v>
                </c:pt>
                <c:pt idx="53">
                  <c:v>23050</c:v>
                </c:pt>
                <c:pt idx="54">
                  <c:v>23100</c:v>
                </c:pt>
                <c:pt idx="55">
                  <c:v>23150</c:v>
                </c:pt>
                <c:pt idx="56">
                  <c:v>23200</c:v>
                </c:pt>
                <c:pt idx="57">
                  <c:v>23250</c:v>
                </c:pt>
                <c:pt idx="58">
                  <c:v>23300</c:v>
                </c:pt>
                <c:pt idx="59">
                  <c:v>23350</c:v>
                </c:pt>
                <c:pt idx="60">
                  <c:v>23400</c:v>
                </c:pt>
                <c:pt idx="61">
                  <c:v>23450</c:v>
                </c:pt>
                <c:pt idx="62">
                  <c:v>23500</c:v>
                </c:pt>
                <c:pt idx="63">
                  <c:v>23550</c:v>
                </c:pt>
                <c:pt idx="64">
                  <c:v>23600</c:v>
                </c:pt>
                <c:pt idx="65">
                  <c:v>23650</c:v>
                </c:pt>
                <c:pt idx="66">
                  <c:v>23700</c:v>
                </c:pt>
                <c:pt idx="67">
                  <c:v>23750</c:v>
                </c:pt>
                <c:pt idx="68">
                  <c:v>23800</c:v>
                </c:pt>
                <c:pt idx="69">
                  <c:v>23850</c:v>
                </c:pt>
                <c:pt idx="70">
                  <c:v>23900</c:v>
                </c:pt>
              </c:numCache>
            </c:numRef>
          </c:xVal>
          <c:yVal>
            <c:numRef>
              <c:f>Sheet1!$B$2:$B$72</c:f>
              <c:numCache>
                <c:formatCode>General</c:formatCode>
                <c:ptCount val="71"/>
                <c:pt idx="0">
                  <c:v>-0.40969492544551217</c:v>
                </c:pt>
                <c:pt idx="1">
                  <c:v>-0.49204994265816804</c:v>
                </c:pt>
                <c:pt idx="2">
                  <c:v>-0.50403146127703302</c:v>
                </c:pt>
                <c:pt idx="3">
                  <c:v>-0.51586550246224205</c:v>
                </c:pt>
                <c:pt idx="4">
                  <c:v>-0.5953288338996533</c:v>
                </c:pt>
                <c:pt idx="5">
                  <c:v>-0.67294464996754311</c:v>
                </c:pt>
                <c:pt idx="6">
                  <c:v>-0.68344889134329623</c:v>
                </c:pt>
                <c:pt idx="7">
                  <c:v>-0.82268422214457171</c:v>
                </c:pt>
                <c:pt idx="8">
                  <c:v>-0.83185819313186826</c:v>
                </c:pt>
                <c:pt idx="9">
                  <c:v>-0.96506596083576901</c:v>
                </c:pt>
                <c:pt idx="10">
                  <c:v>-1.0935721434144161</c:v>
                </c:pt>
                <c:pt idx="11">
                  <c:v>-1.3330879103789008</c:v>
                </c:pt>
                <c:pt idx="12">
                  <c:v>-1.6155340829000451</c:v>
                </c:pt>
                <c:pt idx="13">
                  <c:v>-1.7238921779092746</c:v>
                </c:pt>
                <c:pt idx="14">
                  <c:v>-1.9831420242217823</c:v>
                </c:pt>
                <c:pt idx="15">
                  <c:v>-2.22839302161904</c:v>
                </c:pt>
                <c:pt idx="16">
                  <c:v>-2.5075828890976934</c:v>
                </c:pt>
                <c:pt idx="17">
                  <c:v>-2.678984296676914</c:v>
                </c:pt>
                <c:pt idx="18">
                  <c:v>-3.0598857146442415</c:v>
                </c:pt>
                <c:pt idx="19">
                  <c:v>-3.4130552394485321</c:v>
                </c:pt>
                <c:pt idx="20">
                  <c:v>-3.8180779004831735</c:v>
                </c:pt>
                <c:pt idx="21">
                  <c:v>-4.3737095300956401</c:v>
                </c:pt>
                <c:pt idx="22">
                  <c:v>-5.046539369087669</c:v>
                </c:pt>
                <c:pt idx="23">
                  <c:v>-5.6456366588836282</c:v>
                </c:pt>
                <c:pt idx="24">
                  <c:v>-6.438518289907857</c:v>
                </c:pt>
                <c:pt idx="25">
                  <c:v>-7.5488207662450044</c:v>
                </c:pt>
                <c:pt idx="26">
                  <c:v>-8.7660074169073354</c:v>
                </c:pt>
                <c:pt idx="27">
                  <c:v>-10.222159341108938</c:v>
                </c:pt>
                <c:pt idx="28">
                  <c:v>-11.844661583258446</c:v>
                </c:pt>
                <c:pt idx="29">
                  <c:v>-13.42946759586818</c:v>
                </c:pt>
                <c:pt idx="30">
                  <c:v>-14.98141342708584</c:v>
                </c:pt>
                <c:pt idx="31">
                  <c:v>-16.662572432154285</c:v>
                </c:pt>
                <c:pt idx="32">
                  <c:v>-18.025174599958802</c:v>
                </c:pt>
                <c:pt idx="33">
                  <c:v>-19.016470751349978</c:v>
                </c:pt>
                <c:pt idx="34">
                  <c:v>-19.56581689854303</c:v>
                </c:pt>
                <c:pt idx="35">
                  <c:v>-19.621294291583641</c:v>
                </c:pt>
                <c:pt idx="36">
                  <c:v>-19.04118910773764</c:v>
                </c:pt>
                <c:pt idx="37">
                  <c:v>-17.941206022043822</c:v>
                </c:pt>
                <c:pt idx="38">
                  <c:v>-16.439003353633659</c:v>
                </c:pt>
                <c:pt idx="39">
                  <c:v>-14.624307429442588</c:v>
                </c:pt>
                <c:pt idx="40">
                  <c:v>-12.656207912722865</c:v>
                </c:pt>
                <c:pt idx="41">
                  <c:v>-10.876561505744345</c:v>
                </c:pt>
                <c:pt idx="42">
                  <c:v>-9.2920635726705481</c:v>
                </c:pt>
                <c:pt idx="43">
                  <c:v>-7.6846445157845151</c:v>
                </c:pt>
                <c:pt idx="44">
                  <c:v>-6.4156894171005021</c:v>
                </c:pt>
                <c:pt idx="45">
                  <c:v>-5.1554024176409055</c:v>
                </c:pt>
                <c:pt idx="46">
                  <c:v>-4.2861586162788381</c:v>
                </c:pt>
                <c:pt idx="47">
                  <c:v>-3.5709623882596446</c:v>
                </c:pt>
                <c:pt idx="48">
                  <c:v>-3.0787163935665869</c:v>
                </c:pt>
                <c:pt idx="49">
                  <c:v>-2.7017774649014812</c:v>
                </c:pt>
                <c:pt idx="50">
                  <c:v>-2.4242756031964494</c:v>
                </c:pt>
                <c:pt idx="51">
                  <c:v>-2.2667198093074297</c:v>
                </c:pt>
                <c:pt idx="52">
                  <c:v>-2.14693837906648</c:v>
                </c:pt>
                <c:pt idx="53">
                  <c:v>-1.9160102527245655</c:v>
                </c:pt>
                <c:pt idx="54">
                  <c:v>-1.8829070434214803</c:v>
                </c:pt>
                <c:pt idx="55">
                  <c:v>-1.6838378560033036</c:v>
                </c:pt>
                <c:pt idx="56">
                  <c:v>-1.5863714236720461</c:v>
                </c:pt>
                <c:pt idx="57">
                  <c:v>-1.5420536003457945</c:v>
                </c:pt>
                <c:pt idx="58">
                  <c:v>-1.4955950087165821</c:v>
                </c:pt>
                <c:pt idx="59">
                  <c:v>-1.4470734541974695</c:v>
                </c:pt>
                <c:pt idx="60">
                  <c:v>-1.3965520607670363</c:v>
                </c:pt>
                <c:pt idx="61">
                  <c:v>-1.4058780005866192</c:v>
                </c:pt>
                <c:pt idx="62">
                  <c:v>-1.3526156772810405</c:v>
                </c:pt>
                <c:pt idx="63">
                  <c:v>-1.4235409619999388</c:v>
                </c:pt>
                <c:pt idx="64">
                  <c:v>-1.4319233490910905</c:v>
                </c:pt>
                <c:pt idx="65">
                  <c:v>-1.4400327969336444</c:v>
                </c:pt>
                <c:pt idx="66">
                  <c:v>-1.4478867490220702</c:v>
                </c:pt>
                <c:pt idx="67">
                  <c:v>-1.326222048166499</c:v>
                </c:pt>
                <c:pt idx="68">
                  <c:v>-1.266793683042609</c:v>
                </c:pt>
                <c:pt idx="69">
                  <c:v>-1.2728788075761825</c:v>
                </c:pt>
                <c:pt idx="70">
                  <c:v>-1.2787938815886961</c:v>
                </c:pt>
              </c:numCache>
            </c:numRef>
          </c:yVal>
          <c:smooth val="0"/>
          <c:extLst>
            <c:ext xmlns:c16="http://schemas.microsoft.com/office/drawing/2014/chart" uri="{C3380CC4-5D6E-409C-BE32-E72D297353CC}">
              <c16:uniqueId val="{00000000-346D-4A73-ADC2-FA27494A76CC}"/>
            </c:ext>
          </c:extLst>
        </c:ser>
        <c:ser>
          <c:idx val="1"/>
          <c:order val="1"/>
          <c:tx>
            <c:strRef>
              <c:f>Sheet1!$B$74</c:f>
              <c:strCache>
                <c:ptCount val="1"/>
                <c:pt idx="0">
                  <c:v>10 days</c:v>
                </c:pt>
              </c:strCache>
            </c:strRef>
          </c:tx>
          <c:spPr>
            <a:ln w="28575">
              <a:solidFill>
                <a:srgbClr val="FFD166"/>
              </a:solidFill>
            </a:ln>
          </c:spPr>
          <c:marker>
            <c:symbol val="none"/>
          </c:marker>
          <c:xVal>
            <c:numRef>
              <c:f>Sheet1!$A$75:$A$145</c:f>
              <c:numCache>
                <c:formatCode>General</c:formatCode>
                <c:ptCount val="71"/>
                <c:pt idx="0">
                  <c:v>20450</c:v>
                </c:pt>
                <c:pt idx="1">
                  <c:v>20500</c:v>
                </c:pt>
                <c:pt idx="2">
                  <c:v>20550</c:v>
                </c:pt>
                <c:pt idx="3">
                  <c:v>20600</c:v>
                </c:pt>
                <c:pt idx="4">
                  <c:v>20650</c:v>
                </c:pt>
                <c:pt idx="5">
                  <c:v>20700</c:v>
                </c:pt>
                <c:pt idx="6">
                  <c:v>20750</c:v>
                </c:pt>
                <c:pt idx="7">
                  <c:v>20800</c:v>
                </c:pt>
                <c:pt idx="8">
                  <c:v>20850</c:v>
                </c:pt>
                <c:pt idx="9">
                  <c:v>20900</c:v>
                </c:pt>
                <c:pt idx="10">
                  <c:v>20950</c:v>
                </c:pt>
                <c:pt idx="11">
                  <c:v>21000</c:v>
                </c:pt>
                <c:pt idx="12">
                  <c:v>21050</c:v>
                </c:pt>
                <c:pt idx="13">
                  <c:v>21100</c:v>
                </c:pt>
                <c:pt idx="14">
                  <c:v>21150</c:v>
                </c:pt>
                <c:pt idx="15">
                  <c:v>21200</c:v>
                </c:pt>
                <c:pt idx="16">
                  <c:v>21250</c:v>
                </c:pt>
                <c:pt idx="17">
                  <c:v>21300</c:v>
                </c:pt>
                <c:pt idx="18">
                  <c:v>21350</c:v>
                </c:pt>
                <c:pt idx="19">
                  <c:v>21400</c:v>
                </c:pt>
                <c:pt idx="20">
                  <c:v>21450</c:v>
                </c:pt>
                <c:pt idx="21">
                  <c:v>21500</c:v>
                </c:pt>
                <c:pt idx="22">
                  <c:v>21550</c:v>
                </c:pt>
                <c:pt idx="23">
                  <c:v>21600</c:v>
                </c:pt>
                <c:pt idx="24">
                  <c:v>21650</c:v>
                </c:pt>
                <c:pt idx="25">
                  <c:v>21700</c:v>
                </c:pt>
                <c:pt idx="26">
                  <c:v>21750</c:v>
                </c:pt>
                <c:pt idx="27">
                  <c:v>21800</c:v>
                </c:pt>
                <c:pt idx="28">
                  <c:v>21850</c:v>
                </c:pt>
                <c:pt idx="29">
                  <c:v>21900</c:v>
                </c:pt>
                <c:pt idx="30">
                  <c:v>21950</c:v>
                </c:pt>
                <c:pt idx="31">
                  <c:v>22000</c:v>
                </c:pt>
                <c:pt idx="32">
                  <c:v>22050</c:v>
                </c:pt>
                <c:pt idx="33">
                  <c:v>22100</c:v>
                </c:pt>
                <c:pt idx="34">
                  <c:v>22150</c:v>
                </c:pt>
                <c:pt idx="35">
                  <c:v>22200</c:v>
                </c:pt>
                <c:pt idx="36">
                  <c:v>22250</c:v>
                </c:pt>
                <c:pt idx="37">
                  <c:v>22300</c:v>
                </c:pt>
                <c:pt idx="38">
                  <c:v>22350</c:v>
                </c:pt>
                <c:pt idx="39">
                  <c:v>22400</c:v>
                </c:pt>
                <c:pt idx="40">
                  <c:v>22450</c:v>
                </c:pt>
                <c:pt idx="41">
                  <c:v>22500</c:v>
                </c:pt>
                <c:pt idx="42">
                  <c:v>22550</c:v>
                </c:pt>
                <c:pt idx="43">
                  <c:v>22600</c:v>
                </c:pt>
                <c:pt idx="44">
                  <c:v>22650</c:v>
                </c:pt>
                <c:pt idx="45">
                  <c:v>22700</c:v>
                </c:pt>
                <c:pt idx="46">
                  <c:v>22750</c:v>
                </c:pt>
                <c:pt idx="47">
                  <c:v>22800</c:v>
                </c:pt>
                <c:pt idx="48">
                  <c:v>22850</c:v>
                </c:pt>
                <c:pt idx="49">
                  <c:v>22900</c:v>
                </c:pt>
                <c:pt idx="50">
                  <c:v>22950</c:v>
                </c:pt>
                <c:pt idx="51">
                  <c:v>23000</c:v>
                </c:pt>
                <c:pt idx="52">
                  <c:v>23050</c:v>
                </c:pt>
                <c:pt idx="53">
                  <c:v>23100</c:v>
                </c:pt>
                <c:pt idx="54">
                  <c:v>23150</c:v>
                </c:pt>
                <c:pt idx="55">
                  <c:v>23200</c:v>
                </c:pt>
                <c:pt idx="56">
                  <c:v>23250</c:v>
                </c:pt>
                <c:pt idx="57">
                  <c:v>23300</c:v>
                </c:pt>
                <c:pt idx="58">
                  <c:v>23350</c:v>
                </c:pt>
                <c:pt idx="59">
                  <c:v>23400</c:v>
                </c:pt>
                <c:pt idx="60">
                  <c:v>23450</c:v>
                </c:pt>
                <c:pt idx="61">
                  <c:v>23500</c:v>
                </c:pt>
                <c:pt idx="62">
                  <c:v>23550</c:v>
                </c:pt>
                <c:pt idx="63">
                  <c:v>23600</c:v>
                </c:pt>
                <c:pt idx="64">
                  <c:v>23650</c:v>
                </c:pt>
                <c:pt idx="65">
                  <c:v>23700</c:v>
                </c:pt>
                <c:pt idx="66">
                  <c:v>23750</c:v>
                </c:pt>
                <c:pt idx="67">
                  <c:v>23800</c:v>
                </c:pt>
                <c:pt idx="68">
                  <c:v>23850</c:v>
                </c:pt>
                <c:pt idx="69">
                  <c:v>23900</c:v>
                </c:pt>
                <c:pt idx="70">
                  <c:v>23950</c:v>
                </c:pt>
              </c:numCache>
            </c:numRef>
          </c:xVal>
          <c:yVal>
            <c:numRef>
              <c:f>Sheet1!$B$75:$B$145</c:f>
              <c:numCache>
                <c:formatCode>General</c:formatCode>
                <c:ptCount val="71"/>
                <c:pt idx="0">
                  <c:v>-0.56725740649537637</c:v>
                </c:pt>
                <c:pt idx="1">
                  <c:v>-0.65350321566470548</c:v>
                </c:pt>
                <c:pt idx="2">
                  <c:v>-0.67824626775400443</c:v>
                </c:pt>
                <c:pt idx="3">
                  <c:v>-0.74642341974149096</c:v>
                </c:pt>
                <c:pt idx="4">
                  <c:v>-0.85540343809682129</c:v>
                </c:pt>
                <c:pt idx="5">
                  <c:v>-0.91910846554779657</c:v>
                </c:pt>
                <c:pt idx="6">
                  <c:v>-1.0351170400723682</c:v>
                </c:pt>
                <c:pt idx="7">
                  <c:v>-1.1204714763025263</c:v>
                </c:pt>
                <c:pt idx="8">
                  <c:v>-1.2792457317444599</c:v>
                </c:pt>
                <c:pt idx="9">
                  <c:v>-1.442680516099345</c:v>
                </c:pt>
                <c:pt idx="10">
                  <c:v>-1.5980671127721695</c:v>
                </c:pt>
                <c:pt idx="11">
                  <c:v>-1.8132959452763779</c:v>
                </c:pt>
                <c:pt idx="12">
                  <c:v>-1.9619602701011489</c:v>
                </c:pt>
                <c:pt idx="13">
                  <c:v>-2.1338531444479991</c:v>
                </c:pt>
                <c:pt idx="14">
                  <c:v>-2.3454202259341277</c:v>
                </c:pt>
                <c:pt idx="15">
                  <c:v>-2.5998422236616352</c:v>
                </c:pt>
                <c:pt idx="16">
                  <c:v>-2.8355001971506275</c:v>
                </c:pt>
                <c:pt idx="17">
                  <c:v>-3.1384031181208094</c:v>
                </c:pt>
                <c:pt idx="18">
                  <c:v>-3.5506346851602468</c:v>
                </c:pt>
                <c:pt idx="19">
                  <c:v>-3.8400493231282109</c:v>
                </c:pt>
                <c:pt idx="20">
                  <c:v>-4.2408143032095564</c:v>
                </c:pt>
                <c:pt idx="21">
                  <c:v>-4.7130630307014849</c:v>
                </c:pt>
                <c:pt idx="22">
                  <c:v>-5.1562545005019054</c:v>
                </c:pt>
                <c:pt idx="23">
                  <c:v>-5.6333524021556789</c:v>
                </c:pt>
                <c:pt idx="24">
                  <c:v>-6.1659298957802058</c:v>
                </c:pt>
                <c:pt idx="25">
                  <c:v>-6.6800611473435909</c:v>
                </c:pt>
                <c:pt idx="26">
                  <c:v>-7.1882867279740745</c:v>
                </c:pt>
                <c:pt idx="27">
                  <c:v>-7.640811395496458</c:v>
                </c:pt>
                <c:pt idx="28">
                  <c:v>-8.1430638897740355</c:v>
                </c:pt>
                <c:pt idx="29">
                  <c:v>-8.539413266183363</c:v>
                </c:pt>
                <c:pt idx="30">
                  <c:v>-8.9418863435181386</c:v>
                </c:pt>
                <c:pt idx="31">
                  <c:v>-9.2467359709330506</c:v>
                </c:pt>
                <c:pt idx="32">
                  <c:v>-9.4757164546600947</c:v>
                </c:pt>
                <c:pt idx="33">
                  <c:v>-9.6214011622218205</c:v>
                </c:pt>
                <c:pt idx="34">
                  <c:v>-9.6978900998525646</c:v>
                </c:pt>
                <c:pt idx="35">
                  <c:v>-9.6369725011376897</c:v>
                </c:pt>
                <c:pt idx="36">
                  <c:v>-9.5031742828415204</c:v>
                </c:pt>
                <c:pt idx="37">
                  <c:v>-9.2782537676508881</c:v>
                </c:pt>
                <c:pt idx="38">
                  <c:v>-8.9196531607766421</c:v>
                </c:pt>
                <c:pt idx="39">
                  <c:v>-8.5161522511396566</c:v>
                </c:pt>
                <c:pt idx="40">
                  <c:v>-8.0247188710940929</c:v>
                </c:pt>
                <c:pt idx="41">
                  <c:v>-7.458018620525185</c:v>
                </c:pt>
                <c:pt idx="42">
                  <c:v>-6.8442758486328259</c:v>
                </c:pt>
                <c:pt idx="43">
                  <c:v>-6.2256646763723626</c:v>
                </c:pt>
                <c:pt idx="44">
                  <c:v>-5.6186712543344219</c:v>
                </c:pt>
                <c:pt idx="45">
                  <c:v>-5.0266788487205316</c:v>
                </c:pt>
                <c:pt idx="46">
                  <c:v>-4.5107914057760645</c:v>
                </c:pt>
                <c:pt idx="47">
                  <c:v>-4.0338754223726561</c:v>
                </c:pt>
                <c:pt idx="48">
                  <c:v>-3.5238618552187049</c:v>
                </c:pt>
                <c:pt idx="49">
                  <c:v>-3.1303142824238961</c:v>
                </c:pt>
                <c:pt idx="50">
                  <c:v>-2.8015634160766218</c:v>
                </c:pt>
                <c:pt idx="51">
                  <c:v>-2.5143990101030864</c:v>
                </c:pt>
                <c:pt idx="52">
                  <c:v>-2.2138950373805062</c:v>
                </c:pt>
                <c:pt idx="53">
                  <c:v>-1.9329542538370152</c:v>
                </c:pt>
                <c:pt idx="54">
                  <c:v>-1.7698242315026556</c:v>
                </c:pt>
                <c:pt idx="55">
                  <c:v>-1.6167921117963295</c:v>
                </c:pt>
                <c:pt idx="56">
                  <c:v>-1.4642625548169188</c:v>
                </c:pt>
                <c:pt idx="57">
                  <c:v>-1.3391772475047403</c:v>
                </c:pt>
                <c:pt idx="58">
                  <c:v>-1.2459877910288781</c:v>
                </c:pt>
                <c:pt idx="59">
                  <c:v>-1.1887431173257836</c:v>
                </c:pt>
                <c:pt idx="60">
                  <c:v>-1.0859884326055533</c:v>
                </c:pt>
                <c:pt idx="61">
                  <c:v>-1.065472372527853</c:v>
                </c:pt>
                <c:pt idx="62">
                  <c:v>-1.0143019257973229</c:v>
                </c:pt>
                <c:pt idx="63">
                  <c:v>-0.97613227913948186</c:v>
                </c:pt>
                <c:pt idx="64">
                  <c:v>-0.92089192778810069</c:v>
                </c:pt>
                <c:pt idx="65">
                  <c:v>-0.89521128859462595</c:v>
                </c:pt>
                <c:pt idx="66">
                  <c:v>-0.90065487002554478</c:v>
                </c:pt>
                <c:pt idx="67">
                  <c:v>-0.85741458396239589</c:v>
                </c:pt>
                <c:pt idx="68">
                  <c:v>-0.8292649519274824</c:v>
                </c:pt>
                <c:pt idx="69">
                  <c:v>-0.86689678896581779</c:v>
                </c:pt>
                <c:pt idx="70">
                  <c:v>-0.80436816651719711</c:v>
                </c:pt>
              </c:numCache>
            </c:numRef>
          </c:yVal>
          <c:smooth val="0"/>
          <c:extLst>
            <c:ext xmlns:c16="http://schemas.microsoft.com/office/drawing/2014/chart" uri="{C3380CC4-5D6E-409C-BE32-E72D297353CC}">
              <c16:uniqueId val="{00000001-346D-4A73-ADC2-FA27494A76CC}"/>
            </c:ext>
          </c:extLst>
        </c:ser>
        <c:ser>
          <c:idx val="2"/>
          <c:order val="2"/>
          <c:tx>
            <c:strRef>
              <c:f>Sheet1!$B$147</c:f>
              <c:strCache>
                <c:ptCount val="1"/>
                <c:pt idx="0">
                  <c:v>24 days</c:v>
                </c:pt>
              </c:strCache>
            </c:strRef>
          </c:tx>
          <c:spPr>
            <a:ln w="28575">
              <a:solidFill>
                <a:srgbClr val="8FD3F4"/>
              </a:solidFill>
            </a:ln>
          </c:spPr>
          <c:marker>
            <c:symbol val="none"/>
          </c:marker>
          <c:xVal>
            <c:numRef>
              <c:f>Sheet1!$A$148:$A$218</c:f>
              <c:numCache>
                <c:formatCode>General</c:formatCode>
                <c:ptCount val="71"/>
                <c:pt idx="0">
                  <c:v>20500</c:v>
                </c:pt>
                <c:pt idx="1">
                  <c:v>20550</c:v>
                </c:pt>
                <c:pt idx="2">
                  <c:v>20600</c:v>
                </c:pt>
                <c:pt idx="3">
                  <c:v>20650</c:v>
                </c:pt>
                <c:pt idx="4">
                  <c:v>20700</c:v>
                </c:pt>
                <c:pt idx="5">
                  <c:v>20750</c:v>
                </c:pt>
                <c:pt idx="6">
                  <c:v>20800</c:v>
                </c:pt>
                <c:pt idx="7">
                  <c:v>20850</c:v>
                </c:pt>
                <c:pt idx="8">
                  <c:v>20900</c:v>
                </c:pt>
                <c:pt idx="9">
                  <c:v>20950</c:v>
                </c:pt>
                <c:pt idx="10">
                  <c:v>21000</c:v>
                </c:pt>
                <c:pt idx="11">
                  <c:v>21050</c:v>
                </c:pt>
                <c:pt idx="12">
                  <c:v>21100</c:v>
                </c:pt>
                <c:pt idx="13">
                  <c:v>21150</c:v>
                </c:pt>
                <c:pt idx="14">
                  <c:v>21200</c:v>
                </c:pt>
                <c:pt idx="15">
                  <c:v>21250</c:v>
                </c:pt>
                <c:pt idx="16">
                  <c:v>21300</c:v>
                </c:pt>
                <c:pt idx="17">
                  <c:v>21350</c:v>
                </c:pt>
                <c:pt idx="18">
                  <c:v>21400</c:v>
                </c:pt>
                <c:pt idx="19">
                  <c:v>21450</c:v>
                </c:pt>
                <c:pt idx="20">
                  <c:v>21500</c:v>
                </c:pt>
                <c:pt idx="21">
                  <c:v>21550</c:v>
                </c:pt>
                <c:pt idx="22">
                  <c:v>21600</c:v>
                </c:pt>
                <c:pt idx="23">
                  <c:v>21650</c:v>
                </c:pt>
                <c:pt idx="24">
                  <c:v>21700</c:v>
                </c:pt>
                <c:pt idx="25">
                  <c:v>21750</c:v>
                </c:pt>
                <c:pt idx="26">
                  <c:v>21800</c:v>
                </c:pt>
                <c:pt idx="27">
                  <c:v>21850</c:v>
                </c:pt>
                <c:pt idx="28">
                  <c:v>21900</c:v>
                </c:pt>
                <c:pt idx="29">
                  <c:v>21950</c:v>
                </c:pt>
                <c:pt idx="30">
                  <c:v>22000</c:v>
                </c:pt>
                <c:pt idx="31">
                  <c:v>22050</c:v>
                </c:pt>
                <c:pt idx="32">
                  <c:v>22100</c:v>
                </c:pt>
                <c:pt idx="33">
                  <c:v>22150</c:v>
                </c:pt>
                <c:pt idx="34">
                  <c:v>22200</c:v>
                </c:pt>
                <c:pt idx="35">
                  <c:v>22250</c:v>
                </c:pt>
                <c:pt idx="36">
                  <c:v>22300</c:v>
                </c:pt>
                <c:pt idx="37">
                  <c:v>22350</c:v>
                </c:pt>
                <c:pt idx="38">
                  <c:v>22400</c:v>
                </c:pt>
                <c:pt idx="39">
                  <c:v>22450</c:v>
                </c:pt>
                <c:pt idx="40">
                  <c:v>22500</c:v>
                </c:pt>
                <c:pt idx="41">
                  <c:v>22550</c:v>
                </c:pt>
                <c:pt idx="42">
                  <c:v>22600</c:v>
                </c:pt>
                <c:pt idx="43">
                  <c:v>22650</c:v>
                </c:pt>
                <c:pt idx="44">
                  <c:v>22700</c:v>
                </c:pt>
                <c:pt idx="45">
                  <c:v>22750</c:v>
                </c:pt>
                <c:pt idx="46">
                  <c:v>22800</c:v>
                </c:pt>
                <c:pt idx="47">
                  <c:v>22850</c:v>
                </c:pt>
                <c:pt idx="48">
                  <c:v>22900</c:v>
                </c:pt>
                <c:pt idx="49">
                  <c:v>22950</c:v>
                </c:pt>
                <c:pt idx="50">
                  <c:v>23000</c:v>
                </c:pt>
                <c:pt idx="51">
                  <c:v>23050</c:v>
                </c:pt>
                <c:pt idx="52">
                  <c:v>23100</c:v>
                </c:pt>
                <c:pt idx="53">
                  <c:v>23150</c:v>
                </c:pt>
                <c:pt idx="54">
                  <c:v>23200</c:v>
                </c:pt>
                <c:pt idx="55">
                  <c:v>23250</c:v>
                </c:pt>
                <c:pt idx="56">
                  <c:v>23300</c:v>
                </c:pt>
                <c:pt idx="57">
                  <c:v>23350</c:v>
                </c:pt>
                <c:pt idx="58">
                  <c:v>23400</c:v>
                </c:pt>
                <c:pt idx="59">
                  <c:v>23450</c:v>
                </c:pt>
                <c:pt idx="60">
                  <c:v>23500</c:v>
                </c:pt>
                <c:pt idx="61">
                  <c:v>23550</c:v>
                </c:pt>
                <c:pt idx="62">
                  <c:v>23600</c:v>
                </c:pt>
                <c:pt idx="63">
                  <c:v>23650</c:v>
                </c:pt>
                <c:pt idx="64">
                  <c:v>23700</c:v>
                </c:pt>
                <c:pt idx="65">
                  <c:v>23750</c:v>
                </c:pt>
                <c:pt idx="66">
                  <c:v>23800</c:v>
                </c:pt>
                <c:pt idx="67">
                  <c:v>23850</c:v>
                </c:pt>
                <c:pt idx="68">
                  <c:v>23900</c:v>
                </c:pt>
                <c:pt idx="69">
                  <c:v>23950</c:v>
                </c:pt>
                <c:pt idx="70">
                  <c:v>24000</c:v>
                </c:pt>
              </c:numCache>
            </c:numRef>
          </c:xVal>
          <c:yVal>
            <c:numRef>
              <c:f>Sheet1!$B$148:$B$218</c:f>
              <c:numCache>
                <c:formatCode>General</c:formatCode>
                <c:ptCount val="71"/>
                <c:pt idx="0">
                  <c:v>-0.95382545757648918</c:v>
                </c:pt>
                <c:pt idx="1">
                  <c:v>-1.0172361570527473</c:v>
                </c:pt>
                <c:pt idx="2">
                  <c:v>-1.0914607655852455</c:v>
                </c:pt>
                <c:pt idx="3">
                  <c:v>-1.1921109704907857</c:v>
                </c:pt>
                <c:pt idx="4">
                  <c:v>-1.3007372317563592</c:v>
                </c:pt>
                <c:pt idx="5">
                  <c:v>-1.4008539344431485</c:v>
                </c:pt>
                <c:pt idx="6">
                  <c:v>-1.5079409373282102</c:v>
                </c:pt>
                <c:pt idx="7">
                  <c:v>-1.6535876143826156</c:v>
                </c:pt>
                <c:pt idx="8">
                  <c:v>-1.7531242888425946</c:v>
                </c:pt>
                <c:pt idx="9">
                  <c:v>-1.9285288279508985</c:v>
                </c:pt>
                <c:pt idx="10">
                  <c:v>-2.1091295087181288</c:v>
                </c:pt>
                <c:pt idx="11">
                  <c:v>-2.2627964296739904</c:v>
                </c:pt>
                <c:pt idx="12">
                  <c:v>-2.4300401645145895</c:v>
                </c:pt>
                <c:pt idx="13">
                  <c:v>-2.6053334350804231</c:v>
                </c:pt>
                <c:pt idx="14">
                  <c:v>-2.7864179103614668</c:v>
                </c:pt>
                <c:pt idx="15">
                  <c:v>-3.0015628592398005</c:v>
                </c:pt>
                <c:pt idx="16">
                  <c:v>-3.1790862008986633</c:v>
                </c:pt>
                <c:pt idx="17">
                  <c:v>-3.4095105970529853</c:v>
                </c:pt>
                <c:pt idx="18">
                  <c:v>-3.6284665987409617</c:v>
                </c:pt>
                <c:pt idx="19">
                  <c:v>-3.828958609789384</c:v>
                </c:pt>
                <c:pt idx="20">
                  <c:v>-4.0362268283095828</c:v>
                </c:pt>
                <c:pt idx="21">
                  <c:v>-4.2644338099641317</c:v>
                </c:pt>
                <c:pt idx="22">
                  <c:v>-4.4755407195540897</c:v>
                </c:pt>
                <c:pt idx="23">
                  <c:v>-4.6928314873858774</c:v>
                </c:pt>
                <c:pt idx="24">
                  <c:v>-4.8863828575504815</c:v>
                </c:pt>
                <c:pt idx="25">
                  <c:v>-5.0801752341142228</c:v>
                </c:pt>
                <c:pt idx="26">
                  <c:v>-5.2555175591110537</c:v>
                </c:pt>
                <c:pt idx="27">
                  <c:v>-5.4245272661553949</c:v>
                </c:pt>
                <c:pt idx="28">
                  <c:v>-5.5753650501568677</c:v>
                </c:pt>
                <c:pt idx="29">
                  <c:v>-5.719468033984195</c:v>
                </c:pt>
                <c:pt idx="30">
                  <c:v>-5.8398331613217414</c:v>
                </c:pt>
                <c:pt idx="31">
                  <c:v>-5.9440218841242514</c:v>
                </c:pt>
                <c:pt idx="32">
                  <c:v>-5.9968609490795952</c:v>
                </c:pt>
                <c:pt idx="33">
                  <c:v>-6.0733944432412548</c:v>
                </c:pt>
                <c:pt idx="34">
                  <c:v>-6.0762414898333539</c:v>
                </c:pt>
                <c:pt idx="35">
                  <c:v>-6.0842508703533822</c:v>
                </c:pt>
                <c:pt idx="36">
                  <c:v>-6.0558103379531172</c:v>
                </c:pt>
                <c:pt idx="37">
                  <c:v>-5.9809082774073481</c:v>
                </c:pt>
                <c:pt idx="38">
                  <c:v>-5.8922445673529644</c:v>
                </c:pt>
                <c:pt idx="39">
                  <c:v>-5.782280764985976</c:v>
                </c:pt>
                <c:pt idx="40">
                  <c:v>-5.6673649473062389</c:v>
                </c:pt>
                <c:pt idx="41">
                  <c:v>-5.4759710283449223</c:v>
                </c:pt>
                <c:pt idx="42">
                  <c:v>-5.3087857941601024</c:v>
                </c:pt>
                <c:pt idx="43">
                  <c:v>-5.0917409346217681</c:v>
                </c:pt>
                <c:pt idx="44">
                  <c:v>-4.8664581096253539</c:v>
                </c:pt>
                <c:pt idx="45">
                  <c:v>-4.6374035711405108</c:v>
                </c:pt>
                <c:pt idx="46">
                  <c:v>-4.3791069570833026</c:v>
                </c:pt>
                <c:pt idx="47">
                  <c:v>-4.1604639136219257</c:v>
                </c:pt>
                <c:pt idx="48">
                  <c:v>-3.9099828637750109</c:v>
                </c:pt>
                <c:pt idx="49">
                  <c:v>-3.6469424665344565</c:v>
                </c:pt>
                <c:pt idx="50">
                  <c:v>-3.464720559319483</c:v>
                </c:pt>
                <c:pt idx="51">
                  <c:v>-3.1824873173638646</c:v>
                </c:pt>
                <c:pt idx="52">
                  <c:v>-2.9495550879439745</c:v>
                </c:pt>
                <c:pt idx="53">
                  <c:v>-2.7419888131138386</c:v>
                </c:pt>
                <c:pt idx="54">
                  <c:v>-2.5405937095218634</c:v>
                </c:pt>
                <c:pt idx="55">
                  <c:v>-2.3731226626412982</c:v>
                </c:pt>
                <c:pt idx="56">
                  <c:v>-2.2167836153548657</c:v>
                </c:pt>
                <c:pt idx="57">
                  <c:v>-2.0555481772686073</c:v>
                </c:pt>
                <c:pt idx="58">
                  <c:v>-1.9074152939216074</c:v>
                </c:pt>
                <c:pt idx="59">
                  <c:v>-1.8154945781835032</c:v>
                </c:pt>
                <c:pt idx="60">
                  <c:v>-1.7093941330360112</c:v>
                </c:pt>
                <c:pt idx="61">
                  <c:v>-1.5918464464475188</c:v>
                </c:pt>
                <c:pt idx="62">
                  <c:v>-1.4905232934806514</c:v>
                </c:pt>
                <c:pt idx="63">
                  <c:v>-1.4122317155908342</c:v>
                </c:pt>
                <c:pt idx="64">
                  <c:v>-1.3380985081880095</c:v>
                </c:pt>
                <c:pt idx="65">
                  <c:v>-1.2598635792337929</c:v>
                </c:pt>
                <c:pt idx="66">
                  <c:v>-1.1866965949711479</c:v>
                </c:pt>
                <c:pt idx="67">
                  <c:v>-1.128950989309581</c:v>
                </c:pt>
                <c:pt idx="68">
                  <c:v>-1.0437618035517864</c:v>
                </c:pt>
                <c:pt idx="69">
                  <c:v>-1.0305571916761787</c:v>
                </c:pt>
                <c:pt idx="70">
                  <c:v>-0.96522138158829951</c:v>
                </c:pt>
              </c:numCache>
            </c:numRef>
          </c:yVal>
          <c:smooth val="0"/>
          <c:extLst>
            <c:ext xmlns:c16="http://schemas.microsoft.com/office/drawing/2014/chart" uri="{C3380CC4-5D6E-409C-BE32-E72D297353CC}">
              <c16:uniqueId val="{00000002-346D-4A73-ADC2-FA27494A76CC}"/>
            </c:ext>
          </c:extLst>
        </c:ser>
        <c:ser>
          <c:idx val="3"/>
          <c:order val="3"/>
          <c:tx>
            <c:strRef>
              <c:f>Sheet1!$B$220</c:f>
              <c:strCache>
                <c:ptCount val="1"/>
                <c:pt idx="0">
                  <c:v>52 days</c:v>
                </c:pt>
              </c:strCache>
            </c:strRef>
          </c:tx>
          <c:spPr>
            <a:ln w="28575">
              <a:solidFill>
                <a:srgbClr val="95C369"/>
              </a:solidFill>
            </a:ln>
          </c:spPr>
          <c:marker>
            <c:symbol val="none"/>
          </c:marker>
          <c:xVal>
            <c:numRef>
              <c:f>Sheet1!$A$221:$A$291</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Sheet1!$B$221:$B$291</c:f>
              <c:numCache>
                <c:formatCode>General</c:formatCode>
                <c:ptCount val="71"/>
                <c:pt idx="0">
                  <c:v>-1.3996210383623999</c:v>
                </c:pt>
                <c:pt idx="1">
                  <c:v>-1.4303873453951648</c:v>
                </c:pt>
                <c:pt idx="2">
                  <c:v>-1.8634031048610951</c:v>
                </c:pt>
                <c:pt idx="3">
                  <c:v>-1.5808812490727415</c:v>
                </c:pt>
                <c:pt idx="4">
                  <c:v>-1.7911732768706838</c:v>
                </c:pt>
                <c:pt idx="5">
                  <c:v>-1.8133092058688176</c:v>
                </c:pt>
                <c:pt idx="6">
                  <c:v>-1.9113157713104145</c:v>
                </c:pt>
                <c:pt idx="7">
                  <c:v>-2.0350403500638863</c:v>
                </c:pt>
                <c:pt idx="8">
                  <c:v>-2.1379802329374971</c:v>
                </c:pt>
                <c:pt idx="9">
                  <c:v>-2.2237464777757032</c:v>
                </c:pt>
                <c:pt idx="10">
                  <c:v>-2.4217843517689581</c:v>
                </c:pt>
                <c:pt idx="11">
                  <c:v>-2.4276983361304336</c:v>
                </c:pt>
                <c:pt idx="12">
                  <c:v>-2.5443742603818964</c:v>
                </c:pt>
                <c:pt idx="13">
                  <c:v>-2.6370055944727335</c:v>
                </c:pt>
                <c:pt idx="14">
                  <c:v>-2.7522833982230592</c:v>
                </c:pt>
                <c:pt idx="15">
                  <c:v>-2.8709858411960085</c:v>
                </c:pt>
                <c:pt idx="16">
                  <c:v>-2.9573794605621111</c:v>
                </c:pt>
                <c:pt idx="17">
                  <c:v>-3.0473743115039924</c:v>
                </c:pt>
                <c:pt idx="18">
                  <c:v>-3.1475981143447838</c:v>
                </c:pt>
                <c:pt idx="19">
                  <c:v>-3.2388431246771479</c:v>
                </c:pt>
                <c:pt idx="20">
                  <c:v>-3.3376410416053415</c:v>
                </c:pt>
                <c:pt idx="21">
                  <c:v>-3.4153534570079569</c:v>
                </c:pt>
                <c:pt idx="22">
                  <c:v>-3.502074890167413</c:v>
                </c:pt>
                <c:pt idx="23">
                  <c:v>-3.57199148989999</c:v>
                </c:pt>
                <c:pt idx="24">
                  <c:v>-3.6579023318770973</c:v>
                </c:pt>
                <c:pt idx="25">
                  <c:v>-3.7259282583236359</c:v>
                </c:pt>
                <c:pt idx="26">
                  <c:v>-3.7879326847930255</c:v>
                </c:pt>
                <c:pt idx="27">
                  <c:v>-3.8622267437515654</c:v>
                </c:pt>
                <c:pt idx="28">
                  <c:v>-3.9022300151726794</c:v>
                </c:pt>
                <c:pt idx="29">
                  <c:v>-3.9603864988218271</c:v>
                </c:pt>
                <c:pt idx="30">
                  <c:v>-3.9924220388601328</c:v>
                </c:pt>
                <c:pt idx="31">
                  <c:v>-3.9864195506298992</c:v>
                </c:pt>
                <c:pt idx="32">
                  <c:v>-4.0251739921071055</c:v>
                </c:pt>
                <c:pt idx="33">
                  <c:v>-4.0274082411253653</c:v>
                </c:pt>
                <c:pt idx="34">
                  <c:v>-4.038655549600092</c:v>
                </c:pt>
                <c:pt idx="35">
                  <c:v>-4.0341538573211695</c:v>
                </c:pt>
                <c:pt idx="36">
                  <c:v>-4.0186798164404056</c:v>
                </c:pt>
                <c:pt idx="37">
                  <c:v>-3.9877233681073565</c:v>
                </c:pt>
                <c:pt idx="38">
                  <c:v>-3.953740616451547</c:v>
                </c:pt>
                <c:pt idx="39">
                  <c:v>-3.9263099346951336</c:v>
                </c:pt>
                <c:pt idx="40">
                  <c:v>-3.8658755727430627</c:v>
                </c:pt>
                <c:pt idx="41">
                  <c:v>-3.8177325008212475</c:v>
                </c:pt>
                <c:pt idx="42">
                  <c:v>-3.747346765402237</c:v>
                </c:pt>
                <c:pt idx="43">
                  <c:v>-3.6569265658197665</c:v>
                </c:pt>
                <c:pt idx="44">
                  <c:v>-3.5793106100503107</c:v>
                </c:pt>
                <c:pt idx="45">
                  <c:v>-3.5024822052989735</c:v>
                </c:pt>
                <c:pt idx="46">
                  <c:v>-3.4033106170078073</c:v>
                </c:pt>
                <c:pt idx="47">
                  <c:v>-3.2982627095254435</c:v>
                </c:pt>
                <c:pt idx="48">
                  <c:v>-3.1965029053387397</c:v>
                </c:pt>
                <c:pt idx="49">
                  <c:v>-3.084697893356239</c:v>
                </c:pt>
                <c:pt idx="50">
                  <c:v>-2.9594964431671045</c:v>
                </c:pt>
                <c:pt idx="51">
                  <c:v>-2.8503039452837164</c:v>
                </c:pt>
                <c:pt idx="52">
                  <c:v>-2.7402148965788324</c:v>
                </c:pt>
                <c:pt idx="53">
                  <c:v>-2.6109364700063042</c:v>
                </c:pt>
                <c:pt idx="54">
                  <c:v>-2.4895173546204008</c:v>
                </c:pt>
                <c:pt idx="55">
                  <c:v>-2.3778730023549484</c:v>
                </c:pt>
                <c:pt idx="56">
                  <c:v>-2.256864751031797</c:v>
                </c:pt>
                <c:pt idx="57">
                  <c:v>-2.1626032028494788</c:v>
                </c:pt>
                <c:pt idx="58">
                  <c:v>-2.0421313968584882</c:v>
                </c:pt>
                <c:pt idx="59">
                  <c:v>-1.9502010132357772</c:v>
                </c:pt>
                <c:pt idx="60">
                  <c:v>-1.8431563415918928</c:v>
                </c:pt>
                <c:pt idx="61">
                  <c:v>-1.7243922795746778</c:v>
                </c:pt>
                <c:pt idx="62">
                  <c:v>-1.6442608508827645</c:v>
                </c:pt>
                <c:pt idx="63">
                  <c:v>-1.5393709565710698</c:v>
                </c:pt>
                <c:pt idx="64">
                  <c:v>-1.4669318390902493</c:v>
                </c:pt>
                <c:pt idx="65">
                  <c:v>-1.3866485728985978</c:v>
                </c:pt>
                <c:pt idx="66">
                  <c:v>-1.4080361473991174</c:v>
                </c:pt>
                <c:pt idx="67">
                  <c:v>-1.2268398826378808</c:v>
                </c:pt>
                <c:pt idx="68">
                  <c:v>-1.198521223427514</c:v>
                </c:pt>
                <c:pt idx="69">
                  <c:v>-1.1371727117889983</c:v>
                </c:pt>
                <c:pt idx="70">
                  <c:v>-1.0219774181966732</c:v>
                </c:pt>
              </c:numCache>
            </c:numRef>
          </c:yVal>
          <c:smooth val="0"/>
          <c:extLst>
            <c:ext xmlns:c16="http://schemas.microsoft.com/office/drawing/2014/chart" uri="{C3380CC4-5D6E-409C-BE32-E72D297353CC}">
              <c16:uniqueId val="{00000003-346D-4A73-ADC2-FA27494A76CC}"/>
            </c:ext>
          </c:extLst>
        </c:ser>
        <c:dLbls>
          <c:showLegendKey val="0"/>
          <c:showVal val="0"/>
          <c:showCatName val="0"/>
          <c:showSerName val="0"/>
          <c:showPercent val="0"/>
          <c:showBubbleSize val="0"/>
        </c:dLbls>
        <c:axId val="-2128940872"/>
        <c:axId val="-2129643912"/>
      </c:scatterChart>
      <c:valAx>
        <c:axId val="-2128940872"/>
        <c:scaling>
          <c:orientation val="minMax"/>
          <c:max val="24100"/>
          <c:min val="20400"/>
        </c:scaling>
        <c:delete val="0"/>
        <c:axPos val="b"/>
        <c:majorGridlines>
          <c:spPr>
            <a:ln w="6350">
              <a:solidFill>
                <a:srgbClr val="FFFFFF">
                  <a:alpha val="18000"/>
                </a:srgbClr>
              </a:solidFill>
            </a:ln>
          </c:spPr>
        </c:majorGridlines>
        <c:title>
          <c:tx>
            <c:rich>
              <a:bodyPr/>
              <a:lstStyle/>
              <a:p>
                <a:r>
                  <a:rPr lang="en-IN" sz="1200" b="0">
                    <a:solidFill>
                      <a:srgbClr val="E6E0F2"/>
                    </a:solidFill>
                  </a:rPr>
                  <a:t>Strike</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title>
          <c:tx>
            <c:rich>
              <a:bodyPr/>
              <a:lstStyle/>
              <a:p>
                <a:r>
                  <a:rPr lang="en-IN" sz="1200" b="0">
                    <a:solidFill>
                      <a:srgbClr val="E6E0F2"/>
                    </a:solidFill>
                  </a:rPr>
                  <a:t>Theta (₹ per calendar day)</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3 days</c:v>
                </c:pt>
              </c:strCache>
            </c:strRef>
          </c:tx>
          <c:spPr>
            <a:ln w="28575">
              <a:solidFill>
                <a:srgbClr val="FFFFFF"/>
              </a:solidFill>
            </a:ln>
          </c:spPr>
          <c:marker>
            <c:symbol val="none"/>
          </c:marker>
          <c:xVal>
            <c:numRef>
              <c:f>Sheet1!$A$2:$A$72</c:f>
              <c:numCache>
                <c:formatCode>General</c:formatCode>
                <c:ptCount val="71"/>
                <c:pt idx="0">
                  <c:v>20400</c:v>
                </c:pt>
                <c:pt idx="1">
                  <c:v>20450</c:v>
                </c:pt>
                <c:pt idx="2">
                  <c:v>20500</c:v>
                </c:pt>
                <c:pt idx="3">
                  <c:v>20550</c:v>
                </c:pt>
                <c:pt idx="4">
                  <c:v>20600</c:v>
                </c:pt>
                <c:pt idx="5">
                  <c:v>20650</c:v>
                </c:pt>
                <c:pt idx="6">
                  <c:v>20700</c:v>
                </c:pt>
                <c:pt idx="7">
                  <c:v>20750</c:v>
                </c:pt>
                <c:pt idx="8">
                  <c:v>20800</c:v>
                </c:pt>
                <c:pt idx="9">
                  <c:v>20850</c:v>
                </c:pt>
                <c:pt idx="10">
                  <c:v>20900</c:v>
                </c:pt>
                <c:pt idx="11">
                  <c:v>20950</c:v>
                </c:pt>
                <c:pt idx="12">
                  <c:v>21000</c:v>
                </c:pt>
                <c:pt idx="13">
                  <c:v>21050</c:v>
                </c:pt>
                <c:pt idx="14">
                  <c:v>21100</c:v>
                </c:pt>
                <c:pt idx="15">
                  <c:v>21150</c:v>
                </c:pt>
                <c:pt idx="16">
                  <c:v>21200</c:v>
                </c:pt>
                <c:pt idx="17">
                  <c:v>21250</c:v>
                </c:pt>
                <c:pt idx="18">
                  <c:v>21300</c:v>
                </c:pt>
                <c:pt idx="19">
                  <c:v>21350</c:v>
                </c:pt>
                <c:pt idx="20">
                  <c:v>21400</c:v>
                </c:pt>
                <c:pt idx="21">
                  <c:v>21450</c:v>
                </c:pt>
                <c:pt idx="22">
                  <c:v>21500</c:v>
                </c:pt>
                <c:pt idx="23">
                  <c:v>21550</c:v>
                </c:pt>
                <c:pt idx="24">
                  <c:v>21600</c:v>
                </c:pt>
                <c:pt idx="25">
                  <c:v>21650</c:v>
                </c:pt>
                <c:pt idx="26">
                  <c:v>21700</c:v>
                </c:pt>
                <c:pt idx="27">
                  <c:v>21750</c:v>
                </c:pt>
                <c:pt idx="28">
                  <c:v>21800</c:v>
                </c:pt>
                <c:pt idx="29">
                  <c:v>21850</c:v>
                </c:pt>
                <c:pt idx="30">
                  <c:v>21900</c:v>
                </c:pt>
                <c:pt idx="31">
                  <c:v>21950</c:v>
                </c:pt>
                <c:pt idx="32">
                  <c:v>22000</c:v>
                </c:pt>
                <c:pt idx="33">
                  <c:v>22050</c:v>
                </c:pt>
                <c:pt idx="34">
                  <c:v>22100</c:v>
                </c:pt>
                <c:pt idx="35">
                  <c:v>22150</c:v>
                </c:pt>
                <c:pt idx="36">
                  <c:v>22200</c:v>
                </c:pt>
                <c:pt idx="37">
                  <c:v>22250</c:v>
                </c:pt>
                <c:pt idx="38">
                  <c:v>22300</c:v>
                </c:pt>
                <c:pt idx="39">
                  <c:v>22350</c:v>
                </c:pt>
                <c:pt idx="40">
                  <c:v>22400</c:v>
                </c:pt>
                <c:pt idx="41">
                  <c:v>22450</c:v>
                </c:pt>
                <c:pt idx="42">
                  <c:v>22500</c:v>
                </c:pt>
                <c:pt idx="43">
                  <c:v>22550</c:v>
                </c:pt>
                <c:pt idx="44">
                  <c:v>22600</c:v>
                </c:pt>
                <c:pt idx="45">
                  <c:v>22650</c:v>
                </c:pt>
                <c:pt idx="46">
                  <c:v>22700</c:v>
                </c:pt>
                <c:pt idx="47">
                  <c:v>22750</c:v>
                </c:pt>
                <c:pt idx="48">
                  <c:v>22800</c:v>
                </c:pt>
                <c:pt idx="49">
                  <c:v>22850</c:v>
                </c:pt>
                <c:pt idx="50">
                  <c:v>22900</c:v>
                </c:pt>
                <c:pt idx="51">
                  <c:v>22950</c:v>
                </c:pt>
                <c:pt idx="52">
                  <c:v>23000</c:v>
                </c:pt>
                <c:pt idx="53">
                  <c:v>23050</c:v>
                </c:pt>
                <c:pt idx="54">
                  <c:v>23100</c:v>
                </c:pt>
                <c:pt idx="55">
                  <c:v>23150</c:v>
                </c:pt>
                <c:pt idx="56">
                  <c:v>23200</c:v>
                </c:pt>
                <c:pt idx="57">
                  <c:v>23250</c:v>
                </c:pt>
                <c:pt idx="58">
                  <c:v>23300</c:v>
                </c:pt>
                <c:pt idx="59">
                  <c:v>23350</c:v>
                </c:pt>
                <c:pt idx="60">
                  <c:v>23400</c:v>
                </c:pt>
                <c:pt idx="61">
                  <c:v>23450</c:v>
                </c:pt>
                <c:pt idx="62">
                  <c:v>23500</c:v>
                </c:pt>
                <c:pt idx="63">
                  <c:v>23550</c:v>
                </c:pt>
                <c:pt idx="64">
                  <c:v>23600</c:v>
                </c:pt>
                <c:pt idx="65">
                  <c:v>23650</c:v>
                </c:pt>
                <c:pt idx="66">
                  <c:v>23700</c:v>
                </c:pt>
                <c:pt idx="67">
                  <c:v>23750</c:v>
                </c:pt>
                <c:pt idx="68">
                  <c:v>23800</c:v>
                </c:pt>
                <c:pt idx="69">
                  <c:v>23850</c:v>
                </c:pt>
                <c:pt idx="70">
                  <c:v>23900</c:v>
                </c:pt>
              </c:numCache>
            </c:numRef>
          </c:xVal>
          <c:yVal>
            <c:numRef>
              <c:f>Sheet1!$B$2:$B$72</c:f>
              <c:numCache>
                <c:formatCode>General</c:formatCode>
                <c:ptCount val="71"/>
                <c:pt idx="0">
                  <c:v>0.18144016551943298</c:v>
                </c:pt>
                <c:pt idx="1">
                  <c:v>0.19701483072783038</c:v>
                </c:pt>
                <c:pt idx="2">
                  <c:v>0.20166775696385209</c:v>
                </c:pt>
                <c:pt idx="3">
                  <c:v>0.20656387233813417</c:v>
                </c:pt>
                <c:pt idx="4">
                  <c:v>0.22362534293519479</c:v>
                </c:pt>
                <c:pt idx="5">
                  <c:v>0.24127643079461283</c:v>
                </c:pt>
                <c:pt idx="6">
                  <c:v>0.24763285779347094</c:v>
                </c:pt>
                <c:pt idx="7">
                  <c:v>0.27863342305900607</c:v>
                </c:pt>
                <c:pt idx="8">
                  <c:v>0.28641173975103934</c:v>
                </c:pt>
                <c:pt idx="9">
                  <c:v>0.31927328462005361</c:v>
                </c:pt>
                <c:pt idx="10">
                  <c:v>0.35314659412384491</c:v>
                </c:pt>
                <c:pt idx="11">
                  <c:v>0.41174500042980855</c:v>
                </c:pt>
                <c:pt idx="12">
                  <c:v>0.48232442950629667</c:v>
                </c:pt>
                <c:pt idx="13">
                  <c:v>0.52063312885291846</c:v>
                </c:pt>
                <c:pt idx="14">
                  <c:v>0.59419839568193067</c:v>
                </c:pt>
                <c:pt idx="15">
                  <c:v>0.6696215224633556</c:v>
                </c:pt>
                <c:pt idx="16">
                  <c:v>0.75802216620700569</c:v>
                </c:pt>
                <c:pt idx="17">
                  <c:v>0.82866404032714314</c:v>
                </c:pt>
                <c:pt idx="18">
                  <c:v>0.95428226453517584</c:v>
                </c:pt>
                <c:pt idx="19">
                  <c:v>1.0831507276124885</c:v>
                </c:pt>
                <c:pt idx="20">
                  <c:v>1.2355777962405028</c:v>
                </c:pt>
                <c:pt idx="21">
                  <c:v>1.4381342009318834</c:v>
                </c:pt>
                <c:pt idx="22">
                  <c:v>1.6864879096374901</c:v>
                </c:pt>
                <c:pt idx="23">
                  <c:v>1.9380574346952824</c:v>
                </c:pt>
                <c:pt idx="24">
                  <c:v>2.2622176700992749</c:v>
                </c:pt>
                <c:pt idx="25">
                  <c:v>2.6933169957792922</c:v>
                </c:pt>
                <c:pt idx="26">
                  <c:v>3.1832608255066006</c:v>
                </c:pt>
                <c:pt idx="27">
                  <c:v>3.7635960591004931</c:v>
                </c:pt>
                <c:pt idx="28">
                  <c:v>4.4130243101086597</c:v>
                </c:pt>
                <c:pt idx="29">
                  <c:v>5.0833040664262814</c:v>
                </c:pt>
                <c:pt idx="30">
                  <c:v>5.7665779021065839</c:v>
                </c:pt>
                <c:pt idx="31">
                  <c:v>6.4591708723688788</c:v>
                </c:pt>
                <c:pt idx="32">
                  <c:v>7.0654003354019403</c:v>
                </c:pt>
                <c:pt idx="33">
                  <c:v>7.5517128913058267</c:v>
                </c:pt>
                <c:pt idx="34">
                  <c:v>7.8771663203042035</c:v>
                </c:pt>
                <c:pt idx="35">
                  <c:v>8.0030407610114533</c:v>
                </c:pt>
                <c:pt idx="36">
                  <c:v>7.9015604755291884</c:v>
                </c:pt>
                <c:pt idx="37">
                  <c:v>7.5617080426561234</c:v>
                </c:pt>
                <c:pt idx="38">
                  <c:v>7.0040194941692029</c:v>
                </c:pt>
                <c:pt idx="39">
                  <c:v>6.2770530996505487</c:v>
                </c:pt>
                <c:pt idx="40">
                  <c:v>5.4509826776513126</c:v>
                </c:pt>
                <c:pt idx="41">
                  <c:v>4.6430831037685163</c:v>
                </c:pt>
                <c:pt idx="42">
                  <c:v>3.9031424784541602</c:v>
                </c:pt>
                <c:pt idx="43">
                  <c:v>3.1942332694615581</c:v>
                </c:pt>
                <c:pt idx="44">
                  <c:v>2.6161615734927688</c:v>
                </c:pt>
                <c:pt idx="45">
                  <c:v>2.0784024591783585</c:v>
                </c:pt>
                <c:pt idx="46">
                  <c:v>1.6885816600375101</c:v>
                </c:pt>
                <c:pt idx="47">
                  <c:v>1.373481966666382</c:v>
                </c:pt>
                <c:pt idx="48">
                  <c:v>1.1482183716213146</c:v>
                </c:pt>
                <c:pt idx="49">
                  <c:v>0.97511415436054749</c:v>
                </c:pt>
                <c:pt idx="50">
                  <c:v>0.84480101412929021</c:v>
                </c:pt>
                <c:pt idx="51">
                  <c:v>0.75878455686849744</c:v>
                </c:pt>
                <c:pt idx="52">
                  <c:v>0.69053825116606693</c:v>
                </c:pt>
                <c:pt idx="53">
                  <c:v>0.59922574411017793</c:v>
                </c:pt>
                <c:pt idx="54">
                  <c:v>0.56483580316925353</c:v>
                </c:pt>
                <c:pt idx="55">
                  <c:v>0.49258725011350268</c:v>
                </c:pt>
                <c:pt idx="56">
                  <c:v>0.44963208666918092</c:v>
                </c:pt>
                <c:pt idx="57">
                  <c:v>0.42220879663260208</c:v>
                </c:pt>
                <c:pt idx="58">
                  <c:v>0.39631584520256935</c:v>
                </c:pt>
                <c:pt idx="59">
                  <c:v>0.371780044525855</c:v>
                </c:pt>
                <c:pt idx="60">
                  <c:v>0.34845122191946609</c:v>
                </c:pt>
                <c:pt idx="61">
                  <c:v>0.33913507386769853</c:v>
                </c:pt>
                <c:pt idx="62">
                  <c:v>0.31776987792263756</c:v>
                </c:pt>
                <c:pt idx="63">
                  <c:v>0.3221895202915363</c:v>
                </c:pt>
                <c:pt idx="64">
                  <c:v>0.31445693278746911</c:v>
                </c:pt>
                <c:pt idx="65">
                  <c:v>0.30715945758880914</c:v>
                </c:pt>
                <c:pt idx="66">
                  <c:v>0.30025976139166971</c:v>
                </c:pt>
                <c:pt idx="67">
                  <c:v>0.2708622360692538</c:v>
                </c:pt>
                <c:pt idx="68">
                  <c:v>0.25358946220551476</c:v>
                </c:pt>
                <c:pt idx="69">
                  <c:v>0.24834669694050079</c:v>
                </c:pt>
                <c:pt idx="70">
                  <c:v>0.24335924153038238</c:v>
                </c:pt>
              </c:numCache>
            </c:numRef>
          </c:yVal>
          <c:smooth val="0"/>
          <c:extLst>
            <c:ext xmlns:c16="http://schemas.microsoft.com/office/drawing/2014/chart" uri="{C3380CC4-5D6E-409C-BE32-E72D297353CC}">
              <c16:uniqueId val="{00000000-F788-47A4-A539-2E6EB3BEE3BF}"/>
            </c:ext>
          </c:extLst>
        </c:ser>
        <c:ser>
          <c:idx val="1"/>
          <c:order val="1"/>
          <c:tx>
            <c:strRef>
              <c:f>Sheet1!$B$74</c:f>
              <c:strCache>
                <c:ptCount val="1"/>
                <c:pt idx="0">
                  <c:v>10 days</c:v>
                </c:pt>
              </c:strCache>
            </c:strRef>
          </c:tx>
          <c:spPr>
            <a:ln w="28575">
              <a:solidFill>
                <a:srgbClr val="FFD166"/>
              </a:solidFill>
            </a:ln>
          </c:spPr>
          <c:marker>
            <c:symbol val="none"/>
          </c:marker>
          <c:xVal>
            <c:numRef>
              <c:f>Sheet1!$A$75:$A$145</c:f>
              <c:numCache>
                <c:formatCode>General</c:formatCode>
                <c:ptCount val="71"/>
                <c:pt idx="0">
                  <c:v>20450</c:v>
                </c:pt>
                <c:pt idx="1">
                  <c:v>20500</c:v>
                </c:pt>
                <c:pt idx="2">
                  <c:v>20550</c:v>
                </c:pt>
                <c:pt idx="3">
                  <c:v>20600</c:v>
                </c:pt>
                <c:pt idx="4">
                  <c:v>20650</c:v>
                </c:pt>
                <c:pt idx="5">
                  <c:v>20700</c:v>
                </c:pt>
                <c:pt idx="6">
                  <c:v>20750</c:v>
                </c:pt>
                <c:pt idx="7">
                  <c:v>20800</c:v>
                </c:pt>
                <c:pt idx="8">
                  <c:v>20850</c:v>
                </c:pt>
                <c:pt idx="9">
                  <c:v>20900</c:v>
                </c:pt>
                <c:pt idx="10">
                  <c:v>20950</c:v>
                </c:pt>
                <c:pt idx="11">
                  <c:v>21000</c:v>
                </c:pt>
                <c:pt idx="12">
                  <c:v>21050</c:v>
                </c:pt>
                <c:pt idx="13">
                  <c:v>21100</c:v>
                </c:pt>
                <c:pt idx="14">
                  <c:v>21150</c:v>
                </c:pt>
                <c:pt idx="15">
                  <c:v>21200</c:v>
                </c:pt>
                <c:pt idx="16">
                  <c:v>21250</c:v>
                </c:pt>
                <c:pt idx="17">
                  <c:v>21300</c:v>
                </c:pt>
                <c:pt idx="18">
                  <c:v>21350</c:v>
                </c:pt>
                <c:pt idx="19">
                  <c:v>21400</c:v>
                </c:pt>
                <c:pt idx="20">
                  <c:v>21450</c:v>
                </c:pt>
                <c:pt idx="21">
                  <c:v>21500</c:v>
                </c:pt>
                <c:pt idx="22">
                  <c:v>21550</c:v>
                </c:pt>
                <c:pt idx="23">
                  <c:v>21600</c:v>
                </c:pt>
                <c:pt idx="24">
                  <c:v>21650</c:v>
                </c:pt>
                <c:pt idx="25">
                  <c:v>21700</c:v>
                </c:pt>
                <c:pt idx="26">
                  <c:v>21750</c:v>
                </c:pt>
                <c:pt idx="27">
                  <c:v>21800</c:v>
                </c:pt>
                <c:pt idx="28">
                  <c:v>21850</c:v>
                </c:pt>
                <c:pt idx="29">
                  <c:v>21900</c:v>
                </c:pt>
                <c:pt idx="30">
                  <c:v>21950</c:v>
                </c:pt>
                <c:pt idx="31">
                  <c:v>22000</c:v>
                </c:pt>
                <c:pt idx="32">
                  <c:v>22050</c:v>
                </c:pt>
                <c:pt idx="33">
                  <c:v>22100</c:v>
                </c:pt>
                <c:pt idx="34">
                  <c:v>22150</c:v>
                </c:pt>
                <c:pt idx="35">
                  <c:v>22200</c:v>
                </c:pt>
                <c:pt idx="36">
                  <c:v>22250</c:v>
                </c:pt>
                <c:pt idx="37">
                  <c:v>22300</c:v>
                </c:pt>
                <c:pt idx="38">
                  <c:v>22350</c:v>
                </c:pt>
                <c:pt idx="39">
                  <c:v>22400</c:v>
                </c:pt>
                <c:pt idx="40">
                  <c:v>22450</c:v>
                </c:pt>
                <c:pt idx="41">
                  <c:v>22500</c:v>
                </c:pt>
                <c:pt idx="42">
                  <c:v>22550</c:v>
                </c:pt>
                <c:pt idx="43">
                  <c:v>22600</c:v>
                </c:pt>
                <c:pt idx="44">
                  <c:v>22650</c:v>
                </c:pt>
                <c:pt idx="45">
                  <c:v>22700</c:v>
                </c:pt>
                <c:pt idx="46">
                  <c:v>22750</c:v>
                </c:pt>
                <c:pt idx="47">
                  <c:v>22800</c:v>
                </c:pt>
                <c:pt idx="48">
                  <c:v>22850</c:v>
                </c:pt>
                <c:pt idx="49">
                  <c:v>22900</c:v>
                </c:pt>
                <c:pt idx="50">
                  <c:v>22950</c:v>
                </c:pt>
                <c:pt idx="51">
                  <c:v>23000</c:v>
                </c:pt>
                <c:pt idx="52">
                  <c:v>23050</c:v>
                </c:pt>
                <c:pt idx="53">
                  <c:v>23100</c:v>
                </c:pt>
                <c:pt idx="54">
                  <c:v>23150</c:v>
                </c:pt>
                <c:pt idx="55">
                  <c:v>23200</c:v>
                </c:pt>
                <c:pt idx="56">
                  <c:v>23250</c:v>
                </c:pt>
                <c:pt idx="57">
                  <c:v>23300</c:v>
                </c:pt>
                <c:pt idx="58">
                  <c:v>23350</c:v>
                </c:pt>
                <c:pt idx="59">
                  <c:v>23400</c:v>
                </c:pt>
                <c:pt idx="60">
                  <c:v>23450</c:v>
                </c:pt>
                <c:pt idx="61">
                  <c:v>23500</c:v>
                </c:pt>
                <c:pt idx="62">
                  <c:v>23550</c:v>
                </c:pt>
                <c:pt idx="63">
                  <c:v>23600</c:v>
                </c:pt>
                <c:pt idx="64">
                  <c:v>23650</c:v>
                </c:pt>
                <c:pt idx="65">
                  <c:v>23700</c:v>
                </c:pt>
                <c:pt idx="66">
                  <c:v>23750</c:v>
                </c:pt>
                <c:pt idx="67">
                  <c:v>23800</c:v>
                </c:pt>
                <c:pt idx="68">
                  <c:v>23850</c:v>
                </c:pt>
                <c:pt idx="69">
                  <c:v>23900</c:v>
                </c:pt>
                <c:pt idx="70">
                  <c:v>23950</c:v>
                </c:pt>
              </c:numCache>
            </c:numRef>
          </c:xVal>
          <c:yVal>
            <c:numRef>
              <c:f>Sheet1!$B$75:$B$145</c:f>
              <c:numCache>
                <c:formatCode>General</c:formatCode>
                <c:ptCount val="71"/>
                <c:pt idx="0">
                  <c:v>1.0640265813071585</c:v>
                </c:pt>
                <c:pt idx="1">
                  <c:v>1.1459309158125217</c:v>
                </c:pt>
                <c:pt idx="2">
                  <c:v>1.1825614403004481</c:v>
                </c:pt>
                <c:pt idx="3">
                  <c:v>1.2564990602956116</c:v>
                </c:pt>
                <c:pt idx="4">
                  <c:v>1.3675348584711455</c:v>
                </c:pt>
                <c:pt idx="5">
                  <c:v>1.4458869123694098</c:v>
                </c:pt>
                <c:pt idx="6">
                  <c:v>1.5725952235837608</c:v>
                </c:pt>
                <c:pt idx="7">
                  <c:v>1.6790957234027162</c:v>
                </c:pt>
                <c:pt idx="8">
                  <c:v>1.8547581490912917</c:v>
                </c:pt>
                <c:pt idx="9">
                  <c:v>2.0422590621519219</c:v>
                </c:pt>
                <c:pt idx="10">
                  <c:v>2.2314688322328986</c:v>
                </c:pt>
                <c:pt idx="11">
                  <c:v>2.4825315830162209</c:v>
                </c:pt>
                <c:pt idx="12">
                  <c:v>2.686423466804833</c:v>
                </c:pt>
                <c:pt idx="13">
                  <c:v>2.9225637080645255</c:v>
                </c:pt>
                <c:pt idx="14">
                  <c:v>3.2074460839670791</c:v>
                </c:pt>
                <c:pt idx="15">
                  <c:v>3.5458297977429716</c:v>
                </c:pt>
                <c:pt idx="16">
                  <c:v>3.8846901867972803</c:v>
                </c:pt>
                <c:pt idx="17">
                  <c:v>4.3023514527871285</c:v>
                </c:pt>
                <c:pt idx="18">
                  <c:v>4.8360390556245534</c:v>
                </c:pt>
                <c:pt idx="19">
                  <c:v>5.2854211218624441</c:v>
                </c:pt>
                <c:pt idx="20">
                  <c:v>5.8544811635964571</c:v>
                </c:pt>
                <c:pt idx="21">
                  <c:v>6.5062601665534139</c:v>
                </c:pt>
                <c:pt idx="22">
                  <c:v>7.1577268273721044</c:v>
                </c:pt>
                <c:pt idx="23">
                  <c:v>7.8588735858921908</c:v>
                </c:pt>
                <c:pt idx="24">
                  <c:v>8.6197101501256945</c:v>
                </c:pt>
                <c:pt idx="25">
                  <c:v>9.3814607170107003</c:v>
                </c:pt>
                <c:pt idx="26">
                  <c:v>10.148093305031866</c:v>
                </c:pt>
                <c:pt idx="27">
                  <c:v>10.885647650784028</c:v>
                </c:pt>
                <c:pt idx="28">
                  <c:v>11.637807355941939</c:v>
                </c:pt>
                <c:pt idx="29">
                  <c:v>12.319098191542182</c:v>
                </c:pt>
                <c:pt idx="30">
                  <c:v>12.961087752768085</c:v>
                </c:pt>
                <c:pt idx="31">
                  <c:v>13.514146647107289</c:v>
                </c:pt>
                <c:pt idx="32">
                  <c:v>13.971865623289016</c:v>
                </c:pt>
                <c:pt idx="33">
                  <c:v>14.316958695451442</c:v>
                </c:pt>
                <c:pt idx="34">
                  <c:v>14.533153623411572</c:v>
                </c:pt>
                <c:pt idx="35">
                  <c:v>14.60558291265286</c:v>
                </c:pt>
                <c:pt idx="36">
                  <c:v>14.524805211896462</c:v>
                </c:pt>
                <c:pt idx="37">
                  <c:v>14.286389359416543</c:v>
                </c:pt>
                <c:pt idx="38">
                  <c:v>13.886442801024685</c:v>
                </c:pt>
                <c:pt idx="39">
                  <c:v>13.341960784836935</c:v>
                </c:pt>
                <c:pt idx="40">
                  <c:v>12.66048845809104</c:v>
                </c:pt>
                <c:pt idx="41">
                  <c:v>11.857559655492265</c:v>
                </c:pt>
                <c:pt idx="42">
                  <c:v>10.960434970575937</c:v>
                </c:pt>
                <c:pt idx="43">
                  <c:v>10.014108979805718</c:v>
                </c:pt>
                <c:pt idx="44">
                  <c:v>9.0540410901463151</c:v>
                </c:pt>
                <c:pt idx="45">
                  <c:v>8.102374914270559</c:v>
                </c:pt>
                <c:pt idx="46">
                  <c:v>7.2299965705340723</c:v>
                </c:pt>
                <c:pt idx="47">
                  <c:v>6.4177055738908315</c:v>
                </c:pt>
                <c:pt idx="48">
                  <c:v>5.5960399340209568</c:v>
                </c:pt>
                <c:pt idx="49">
                  <c:v>4.9215707626968124</c:v>
                </c:pt>
                <c:pt idx="50">
                  <c:v>4.3455744566629377</c:v>
                </c:pt>
                <c:pt idx="51">
                  <c:v>3.8424749829191986</c:v>
                </c:pt>
                <c:pt idx="52">
                  <c:v>3.348394257563807</c:v>
                </c:pt>
                <c:pt idx="53">
                  <c:v>2.8970365586361204</c:v>
                </c:pt>
                <c:pt idx="54">
                  <c:v>2.5992606828582661</c:v>
                </c:pt>
                <c:pt idx="55">
                  <c:v>2.3293425939383328</c:v>
                </c:pt>
                <c:pt idx="56">
                  <c:v>2.0742345406945399</c:v>
                </c:pt>
                <c:pt idx="57">
                  <c:v>1.8624536765220103</c:v>
                </c:pt>
                <c:pt idx="58">
                  <c:v>1.6967723106475727</c:v>
                </c:pt>
                <c:pt idx="59">
                  <c:v>1.5791428682444075</c:v>
                </c:pt>
                <c:pt idx="60">
                  <c:v>1.419452360090977</c:v>
                </c:pt>
                <c:pt idx="61">
                  <c:v>1.3543336720326602</c:v>
                </c:pt>
                <c:pt idx="62">
                  <c:v>1.2615361730137313</c:v>
                </c:pt>
                <c:pt idx="63">
                  <c:v>1.1867424971904534</c:v>
                </c:pt>
                <c:pt idx="64">
                  <c:v>1.098779698553624</c:v>
                </c:pt>
                <c:pt idx="65">
                  <c:v>1.0440186578476007</c:v>
                </c:pt>
                <c:pt idx="66">
                  <c:v>1.0219585014385273</c:v>
                </c:pt>
                <c:pt idx="67">
                  <c:v>0.95548769470138351</c:v>
                </c:pt>
                <c:pt idx="68">
                  <c:v>0.90593805392156823</c:v>
                </c:pt>
                <c:pt idx="69">
                  <c:v>0.91823866417516953</c:v>
                </c:pt>
                <c:pt idx="70">
                  <c:v>0.84155163377099074</c:v>
                </c:pt>
              </c:numCache>
            </c:numRef>
          </c:yVal>
          <c:smooth val="0"/>
          <c:extLst>
            <c:ext xmlns:c16="http://schemas.microsoft.com/office/drawing/2014/chart" uri="{C3380CC4-5D6E-409C-BE32-E72D297353CC}">
              <c16:uniqueId val="{00000001-F788-47A4-A539-2E6EB3BEE3BF}"/>
            </c:ext>
          </c:extLst>
        </c:ser>
        <c:ser>
          <c:idx val="2"/>
          <c:order val="2"/>
          <c:tx>
            <c:strRef>
              <c:f>Sheet1!$B$147</c:f>
              <c:strCache>
                <c:ptCount val="1"/>
                <c:pt idx="0">
                  <c:v>24 days</c:v>
                </c:pt>
              </c:strCache>
            </c:strRef>
          </c:tx>
          <c:spPr>
            <a:ln w="28575">
              <a:solidFill>
                <a:srgbClr val="8FD3F4"/>
              </a:solidFill>
            </a:ln>
          </c:spPr>
          <c:marker>
            <c:symbol val="none"/>
          </c:marker>
          <c:xVal>
            <c:numRef>
              <c:f>Sheet1!$A$148:$A$218</c:f>
              <c:numCache>
                <c:formatCode>General</c:formatCode>
                <c:ptCount val="71"/>
                <c:pt idx="0">
                  <c:v>20500</c:v>
                </c:pt>
                <c:pt idx="1">
                  <c:v>20550</c:v>
                </c:pt>
                <c:pt idx="2">
                  <c:v>20600</c:v>
                </c:pt>
                <c:pt idx="3">
                  <c:v>20650</c:v>
                </c:pt>
                <c:pt idx="4">
                  <c:v>20700</c:v>
                </c:pt>
                <c:pt idx="5">
                  <c:v>20750</c:v>
                </c:pt>
                <c:pt idx="6">
                  <c:v>20800</c:v>
                </c:pt>
                <c:pt idx="7">
                  <c:v>20850</c:v>
                </c:pt>
                <c:pt idx="8">
                  <c:v>20900</c:v>
                </c:pt>
                <c:pt idx="9">
                  <c:v>20950</c:v>
                </c:pt>
                <c:pt idx="10">
                  <c:v>21000</c:v>
                </c:pt>
                <c:pt idx="11">
                  <c:v>21050</c:v>
                </c:pt>
                <c:pt idx="12">
                  <c:v>21100</c:v>
                </c:pt>
                <c:pt idx="13">
                  <c:v>21150</c:v>
                </c:pt>
                <c:pt idx="14">
                  <c:v>21200</c:v>
                </c:pt>
                <c:pt idx="15">
                  <c:v>21250</c:v>
                </c:pt>
                <c:pt idx="16">
                  <c:v>21300</c:v>
                </c:pt>
                <c:pt idx="17">
                  <c:v>21350</c:v>
                </c:pt>
                <c:pt idx="18">
                  <c:v>21400</c:v>
                </c:pt>
                <c:pt idx="19">
                  <c:v>21450</c:v>
                </c:pt>
                <c:pt idx="20">
                  <c:v>21500</c:v>
                </c:pt>
                <c:pt idx="21">
                  <c:v>21550</c:v>
                </c:pt>
                <c:pt idx="22">
                  <c:v>21600</c:v>
                </c:pt>
                <c:pt idx="23">
                  <c:v>21650</c:v>
                </c:pt>
                <c:pt idx="24">
                  <c:v>21700</c:v>
                </c:pt>
                <c:pt idx="25">
                  <c:v>21750</c:v>
                </c:pt>
                <c:pt idx="26">
                  <c:v>21800</c:v>
                </c:pt>
                <c:pt idx="27">
                  <c:v>21850</c:v>
                </c:pt>
                <c:pt idx="28">
                  <c:v>21900</c:v>
                </c:pt>
                <c:pt idx="29">
                  <c:v>21950</c:v>
                </c:pt>
                <c:pt idx="30">
                  <c:v>22000</c:v>
                </c:pt>
                <c:pt idx="31">
                  <c:v>22050</c:v>
                </c:pt>
                <c:pt idx="32">
                  <c:v>22100</c:v>
                </c:pt>
                <c:pt idx="33">
                  <c:v>22150</c:v>
                </c:pt>
                <c:pt idx="34">
                  <c:v>22200</c:v>
                </c:pt>
                <c:pt idx="35">
                  <c:v>22250</c:v>
                </c:pt>
                <c:pt idx="36">
                  <c:v>22300</c:v>
                </c:pt>
                <c:pt idx="37">
                  <c:v>22350</c:v>
                </c:pt>
                <c:pt idx="38">
                  <c:v>22400</c:v>
                </c:pt>
                <c:pt idx="39">
                  <c:v>22450</c:v>
                </c:pt>
                <c:pt idx="40">
                  <c:v>22500</c:v>
                </c:pt>
                <c:pt idx="41">
                  <c:v>22550</c:v>
                </c:pt>
                <c:pt idx="42">
                  <c:v>22600</c:v>
                </c:pt>
                <c:pt idx="43">
                  <c:v>22650</c:v>
                </c:pt>
                <c:pt idx="44">
                  <c:v>22700</c:v>
                </c:pt>
                <c:pt idx="45">
                  <c:v>22750</c:v>
                </c:pt>
                <c:pt idx="46">
                  <c:v>22800</c:v>
                </c:pt>
                <c:pt idx="47">
                  <c:v>22850</c:v>
                </c:pt>
                <c:pt idx="48">
                  <c:v>22900</c:v>
                </c:pt>
                <c:pt idx="49">
                  <c:v>22950</c:v>
                </c:pt>
                <c:pt idx="50">
                  <c:v>23000</c:v>
                </c:pt>
                <c:pt idx="51">
                  <c:v>23050</c:v>
                </c:pt>
                <c:pt idx="52">
                  <c:v>23100</c:v>
                </c:pt>
                <c:pt idx="53">
                  <c:v>23150</c:v>
                </c:pt>
                <c:pt idx="54">
                  <c:v>23200</c:v>
                </c:pt>
                <c:pt idx="55">
                  <c:v>23250</c:v>
                </c:pt>
                <c:pt idx="56">
                  <c:v>23300</c:v>
                </c:pt>
                <c:pt idx="57">
                  <c:v>23350</c:v>
                </c:pt>
                <c:pt idx="58">
                  <c:v>23400</c:v>
                </c:pt>
                <c:pt idx="59">
                  <c:v>23450</c:v>
                </c:pt>
                <c:pt idx="60">
                  <c:v>23500</c:v>
                </c:pt>
                <c:pt idx="61">
                  <c:v>23550</c:v>
                </c:pt>
                <c:pt idx="62">
                  <c:v>23600</c:v>
                </c:pt>
                <c:pt idx="63">
                  <c:v>23650</c:v>
                </c:pt>
                <c:pt idx="64">
                  <c:v>23700</c:v>
                </c:pt>
                <c:pt idx="65">
                  <c:v>23750</c:v>
                </c:pt>
                <c:pt idx="66">
                  <c:v>23800</c:v>
                </c:pt>
                <c:pt idx="67">
                  <c:v>23850</c:v>
                </c:pt>
                <c:pt idx="68">
                  <c:v>23900</c:v>
                </c:pt>
                <c:pt idx="69">
                  <c:v>23950</c:v>
                </c:pt>
                <c:pt idx="70">
                  <c:v>24000</c:v>
                </c:pt>
              </c:numCache>
            </c:numRef>
          </c:xVal>
          <c:yVal>
            <c:numRef>
              <c:f>Sheet1!$B$148:$B$218</c:f>
              <c:numCache>
                <c:formatCode>General</c:formatCode>
                <c:ptCount val="71"/>
                <c:pt idx="0">
                  <c:v>4.1986824349001237</c:v>
                </c:pt>
                <c:pt idx="1">
                  <c:v>4.3960444320722756</c:v>
                </c:pt>
                <c:pt idx="2">
                  <c:v>4.6242587020560322</c:v>
                </c:pt>
                <c:pt idx="3">
                  <c:v>4.9176436234955991</c:v>
                </c:pt>
                <c:pt idx="4">
                  <c:v>5.2381047716949984</c:v>
                </c:pt>
                <c:pt idx="5">
                  <c:v>5.5513407051997294</c:v>
                </c:pt>
                <c:pt idx="6">
                  <c:v>5.8910755904894039</c:v>
                </c:pt>
                <c:pt idx="7">
                  <c:v>6.3254177955336592</c:v>
                </c:pt>
                <c:pt idx="8">
                  <c:v>6.6751575032800501</c:v>
                </c:pt>
                <c:pt idx="9">
                  <c:v>7.199740444917782</c:v>
                </c:pt>
                <c:pt idx="10">
                  <c:v>7.7487032922071046</c:v>
                </c:pt>
                <c:pt idx="11">
                  <c:v>8.2568632490343674</c:v>
                </c:pt>
                <c:pt idx="12">
                  <c:v>8.809055816764646</c:v>
                </c:pt>
                <c:pt idx="13">
                  <c:v>9.3940722015235227</c:v>
                </c:pt>
                <c:pt idx="14">
                  <c:v>10.007495646345371</c:v>
                </c:pt>
                <c:pt idx="15">
                  <c:v>10.703106812314045</c:v>
                </c:pt>
                <c:pt idx="16">
                  <c:v>11.343503051029446</c:v>
                </c:pt>
                <c:pt idx="17">
                  <c:v>12.097075067305971</c:v>
                </c:pt>
                <c:pt idx="18">
                  <c:v>12.842368587493279</c:v>
                </c:pt>
                <c:pt idx="19">
                  <c:v>13.56911955354113</c:v>
                </c:pt>
                <c:pt idx="20">
                  <c:v>14.319277738399641</c:v>
                </c:pt>
                <c:pt idx="21">
                  <c:v>15.109528142054083</c:v>
                </c:pt>
                <c:pt idx="22">
                  <c:v>15.878083969921436</c:v>
                </c:pt>
                <c:pt idx="23">
                  <c:v>16.654573148861818</c:v>
                </c:pt>
                <c:pt idx="24">
                  <c:v>17.396557919270812</c:v>
                </c:pt>
                <c:pt idx="25">
                  <c:v>18.129286572245885</c:v>
                </c:pt>
                <c:pt idx="26">
                  <c:v>18.826998801836957</c:v>
                </c:pt>
                <c:pt idx="27">
                  <c:v>19.49548814288158</c:v>
                </c:pt>
                <c:pt idx="28">
                  <c:v>20.117823392999306</c:v>
                </c:pt>
                <c:pt idx="29">
                  <c:v>20.693558782629029</c:v>
                </c:pt>
                <c:pt idx="30">
                  <c:v>21.204869131608959</c:v>
                </c:pt>
                <c:pt idx="31">
                  <c:v>21.647825656621425</c:v>
                </c:pt>
                <c:pt idx="32">
                  <c:v>22.008272751446466</c:v>
                </c:pt>
                <c:pt idx="33">
                  <c:v>22.292009453469451</c:v>
                </c:pt>
                <c:pt idx="34">
                  <c:v>22.481381526084309</c:v>
                </c:pt>
                <c:pt idx="35">
                  <c:v>22.576610140154393</c:v>
                </c:pt>
                <c:pt idx="36">
                  <c:v>22.571998578315938</c:v>
                </c:pt>
                <c:pt idx="37">
                  <c:v>22.463985497704666</c:v>
                </c:pt>
                <c:pt idx="38">
                  <c:v>22.251144880463016</c:v>
                </c:pt>
                <c:pt idx="39">
                  <c:v>21.93447684100131</c:v>
                </c:pt>
                <c:pt idx="40">
                  <c:v>21.523418214385305</c:v>
                </c:pt>
                <c:pt idx="41">
                  <c:v>20.993154876248301</c:v>
                </c:pt>
                <c:pt idx="42">
                  <c:v>20.392165614752656</c:v>
                </c:pt>
                <c:pt idx="43">
                  <c:v>19.684967486319302</c:v>
                </c:pt>
                <c:pt idx="44">
                  <c:v>18.905432508193648</c:v>
                </c:pt>
                <c:pt idx="45">
                  <c:v>18.070798480901288</c:v>
                </c:pt>
                <c:pt idx="46">
                  <c:v>17.157495563152914</c:v>
                </c:pt>
                <c:pt idx="47">
                  <c:v>16.273429214751996</c:v>
                </c:pt>
                <c:pt idx="48">
                  <c:v>15.323350702690831</c:v>
                </c:pt>
                <c:pt idx="49">
                  <c:v>14.337520215536298</c:v>
                </c:pt>
                <c:pt idx="50">
                  <c:v>13.507371334616662</c:v>
                </c:pt>
                <c:pt idx="51">
                  <c:v>12.479213553218838</c:v>
                </c:pt>
                <c:pt idx="52">
                  <c:v>11.558202300365293</c:v>
                </c:pt>
                <c:pt idx="53">
                  <c:v>10.706474728730587</c:v>
                </c:pt>
                <c:pt idx="54">
                  <c:v>9.884559571661784</c:v>
                </c:pt>
                <c:pt idx="55">
                  <c:v>9.1635832362763772</c:v>
                </c:pt>
                <c:pt idx="56">
                  <c:v>8.4903419462723999</c:v>
                </c:pt>
                <c:pt idx="57">
                  <c:v>7.8234155337690794</c:v>
                </c:pt>
                <c:pt idx="58">
                  <c:v>7.2084259913239697</c:v>
                </c:pt>
                <c:pt idx="59">
                  <c:v>6.7604135561838676</c:v>
                </c:pt>
                <c:pt idx="60">
                  <c:v>6.2924709012048208</c:v>
                </c:pt>
                <c:pt idx="61">
                  <c:v>5.809965332499802</c:v>
                </c:pt>
                <c:pt idx="62">
                  <c:v>5.3856495674254123</c:v>
                </c:pt>
                <c:pt idx="63">
                  <c:v>5.0370986153824067</c:v>
                </c:pt>
                <c:pt idx="64">
                  <c:v>4.7123466817529165</c:v>
                </c:pt>
                <c:pt idx="65">
                  <c:v>4.388165060661291</c:v>
                </c:pt>
                <c:pt idx="66">
                  <c:v>4.0882168227068849</c:v>
                </c:pt>
                <c:pt idx="67">
                  <c:v>3.8392127669860736</c:v>
                </c:pt>
                <c:pt idx="68">
                  <c:v>3.5258571912126815</c:v>
                </c:pt>
                <c:pt idx="69">
                  <c:v>3.4118660061179402</c:v>
                </c:pt>
                <c:pt idx="70">
                  <c:v>3.167075270694923</c:v>
                </c:pt>
              </c:numCache>
            </c:numRef>
          </c:yVal>
          <c:smooth val="0"/>
          <c:extLst>
            <c:ext xmlns:c16="http://schemas.microsoft.com/office/drawing/2014/chart" uri="{C3380CC4-5D6E-409C-BE32-E72D297353CC}">
              <c16:uniqueId val="{00000002-F788-47A4-A539-2E6EB3BEE3BF}"/>
            </c:ext>
          </c:extLst>
        </c:ser>
        <c:ser>
          <c:idx val="3"/>
          <c:order val="3"/>
          <c:tx>
            <c:strRef>
              <c:f>Sheet1!$B$220</c:f>
              <c:strCache>
                <c:ptCount val="1"/>
                <c:pt idx="0">
                  <c:v>52 days</c:v>
                </c:pt>
              </c:strCache>
            </c:strRef>
          </c:tx>
          <c:spPr>
            <a:ln w="28575">
              <a:solidFill>
                <a:srgbClr val="95C369"/>
              </a:solidFill>
            </a:ln>
          </c:spPr>
          <c:marker>
            <c:symbol val="none"/>
          </c:marker>
          <c:xVal>
            <c:numRef>
              <c:f>Sheet1!$A$221:$A$291</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Sheet1!$B$221:$B$291</c:f>
              <c:numCache>
                <c:formatCode>General</c:formatCode>
                <c:ptCount val="71"/>
                <c:pt idx="0">
                  <c:v>12.900393959610268</c:v>
                </c:pt>
                <c:pt idx="1">
                  <c:v>13.216561549931448</c:v>
                </c:pt>
                <c:pt idx="2">
                  <c:v>15.15391546243227</c:v>
                </c:pt>
                <c:pt idx="3">
                  <c:v>14.260683788584602</c:v>
                </c:pt>
                <c:pt idx="4">
                  <c:v>15.348536008309491</c:v>
                </c:pt>
                <c:pt idx="5">
                  <c:v>15.687920075151224</c:v>
                </c:pt>
                <c:pt idx="6">
                  <c:v>16.342516059723668</c:v>
                </c:pt>
                <c:pt idx="7">
                  <c:v>17.106735347784543</c:v>
                </c:pt>
                <c:pt idx="8">
                  <c:v>17.799686416699434</c:v>
                </c:pt>
                <c:pt idx="9">
                  <c:v>18.439626324147383</c:v>
                </c:pt>
                <c:pt idx="10">
                  <c:v>19.487054022635895</c:v>
                </c:pt>
                <c:pt idx="11">
                  <c:v>19.869133659717907</c:v>
                </c:pt>
                <c:pt idx="12">
                  <c:v>20.645915051392798</c:v>
                </c:pt>
                <c:pt idx="13">
                  <c:v>21.348848955527505</c:v>
                </c:pt>
                <c:pt idx="14">
                  <c:v>22.130251881946897</c:v>
                </c:pt>
                <c:pt idx="15">
                  <c:v>22.922309241936468</c:v>
                </c:pt>
                <c:pt idx="16">
                  <c:v>23.621318393359971</c:v>
                </c:pt>
                <c:pt idx="17">
                  <c:v>24.334303531942506</c:v>
                </c:pt>
                <c:pt idx="18">
                  <c:v>25.07400156055753</c:v>
                </c:pt>
                <c:pt idx="19">
                  <c:v>25.787360626964738</c:v>
                </c:pt>
                <c:pt idx="20">
                  <c:v>26.511299595202107</c:v>
                </c:pt>
                <c:pt idx="21">
                  <c:v>27.180674127443901</c:v>
                </c:pt>
                <c:pt idx="22">
                  <c:v>27.857016754746855</c:v>
                </c:pt>
                <c:pt idx="23">
                  <c:v>28.488383117127583</c:v>
                </c:pt>
                <c:pt idx="24">
                  <c:v>29.126308687682762</c:v>
                </c:pt>
                <c:pt idx="25">
                  <c:v>29.713412331768108</c:v>
                </c:pt>
                <c:pt idx="26">
                  <c:v>30.26635529327158</c:v>
                </c:pt>
                <c:pt idx="27">
                  <c:v>30.798268759001395</c:v>
                </c:pt>
                <c:pt idx="28">
                  <c:v>31.263114560434214</c:v>
                </c:pt>
                <c:pt idx="29">
                  <c:v>31.70036319261089</c:v>
                </c:pt>
                <c:pt idx="30">
                  <c:v>32.077405419048176</c:v>
                </c:pt>
                <c:pt idx="31">
                  <c:v>32.395662998011346</c:v>
                </c:pt>
                <c:pt idx="32">
                  <c:v>32.675384273093549</c:v>
                </c:pt>
                <c:pt idx="33">
                  <c:v>32.890928392179084</c:v>
                </c:pt>
                <c:pt idx="34">
                  <c:v>33.046700674905978</c:v>
                </c:pt>
                <c:pt idx="35">
                  <c:v>33.137693687832055</c:v>
                </c:pt>
                <c:pt idx="36">
                  <c:v>33.161991103039753</c:v>
                </c:pt>
                <c:pt idx="37">
                  <c:v>33.116970816690355</c:v>
                </c:pt>
                <c:pt idx="38">
                  <c:v>33.000605703363398</c:v>
                </c:pt>
                <c:pt idx="39">
                  <c:v>32.814780165796527</c:v>
                </c:pt>
                <c:pt idx="40">
                  <c:v>32.550133240705264</c:v>
                </c:pt>
                <c:pt idx="41">
                  <c:v>32.219628268963859</c:v>
                </c:pt>
                <c:pt idx="42">
                  <c:v>31.809041050827204</c:v>
                </c:pt>
                <c:pt idx="43">
                  <c:v>31.312174505693225</c:v>
                </c:pt>
                <c:pt idx="44">
                  <c:v>30.76166766533353</c:v>
                </c:pt>
                <c:pt idx="45">
                  <c:v>30.156581342739077</c:v>
                </c:pt>
                <c:pt idx="46">
                  <c:v>29.464431785808134</c:v>
                </c:pt>
                <c:pt idx="47">
                  <c:v>28.708728791681018</c:v>
                </c:pt>
                <c:pt idx="48">
                  <c:v>27.914363751237516</c:v>
                </c:pt>
                <c:pt idx="49">
                  <c:v>27.056517277619861</c:v>
                </c:pt>
                <c:pt idx="50">
                  <c:v>26.123827999367364</c:v>
                </c:pt>
                <c:pt idx="51">
                  <c:v>25.208212193527817</c:v>
                </c:pt>
                <c:pt idx="52">
                  <c:v>24.269629410673165</c:v>
                </c:pt>
                <c:pt idx="53">
                  <c:v>23.243006531562138</c:v>
                </c:pt>
                <c:pt idx="54">
                  <c:v>22.228586953536929</c:v>
                </c:pt>
                <c:pt idx="55">
                  <c:v>21.24527074691952</c:v>
                </c:pt>
                <c:pt idx="56">
                  <c:v>20.215947824136741</c:v>
                </c:pt>
                <c:pt idx="57">
                  <c:v>19.309798434347886</c:v>
                </c:pt>
                <c:pt idx="58">
                  <c:v>18.281816272851316</c:v>
                </c:pt>
                <c:pt idx="59">
                  <c:v>17.400428391454362</c:v>
                </c:pt>
                <c:pt idx="60">
                  <c:v>16.449581548191503</c:v>
                </c:pt>
                <c:pt idx="61">
                  <c:v>15.440464924755773</c:v>
                </c:pt>
                <c:pt idx="62">
                  <c:v>14.652290570128356</c:v>
                </c:pt>
                <c:pt idx="63">
                  <c:v>13.735444978010442</c:v>
                </c:pt>
                <c:pt idx="64">
                  <c:v>13.016998491181624</c:v>
                </c:pt>
                <c:pt idx="65">
                  <c:v>12.266001651016666</c:v>
                </c:pt>
                <c:pt idx="66">
                  <c:v>12.131849079064423</c:v>
                </c:pt>
                <c:pt idx="67">
                  <c:v>10.804103922184206</c:v>
                </c:pt>
                <c:pt idx="68">
                  <c:v>10.40924997327021</c:v>
                </c:pt>
                <c:pt idx="69">
                  <c:v>9.8247224953600902</c:v>
                </c:pt>
                <c:pt idx="70">
                  <c:v>8.7374635219940817</c:v>
                </c:pt>
              </c:numCache>
            </c:numRef>
          </c:yVal>
          <c:smooth val="0"/>
          <c:extLst>
            <c:ext xmlns:c16="http://schemas.microsoft.com/office/drawing/2014/chart" uri="{C3380CC4-5D6E-409C-BE32-E72D297353CC}">
              <c16:uniqueId val="{00000003-F788-47A4-A539-2E6EB3BEE3BF}"/>
            </c:ext>
          </c:extLst>
        </c:ser>
        <c:dLbls>
          <c:showLegendKey val="0"/>
          <c:showVal val="0"/>
          <c:showCatName val="0"/>
          <c:showSerName val="0"/>
          <c:showPercent val="0"/>
          <c:showBubbleSize val="0"/>
        </c:dLbls>
        <c:axId val="-2128940872"/>
        <c:axId val="-2129643912"/>
      </c:scatterChart>
      <c:valAx>
        <c:axId val="-2128940872"/>
        <c:scaling>
          <c:orientation val="minMax"/>
          <c:max val="24100"/>
          <c:min val="20400"/>
        </c:scaling>
        <c:delete val="0"/>
        <c:axPos val="b"/>
        <c:majorGridlines>
          <c:spPr>
            <a:ln w="6350">
              <a:solidFill>
                <a:srgbClr val="FFFFFF">
                  <a:alpha val="18000"/>
                </a:srgbClr>
              </a:solidFill>
            </a:ln>
          </c:spPr>
        </c:majorGridlines>
        <c:title>
          <c:tx>
            <c:rich>
              <a:bodyPr/>
              <a:lstStyle/>
              <a:p>
                <a:r>
                  <a:rPr lang="en-IN" sz="1200" b="0">
                    <a:solidFill>
                      <a:srgbClr val="E6E0F2"/>
                    </a:solidFill>
                  </a:rPr>
                  <a:t>Strike</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title>
          <c:tx>
            <c:rich>
              <a:bodyPr/>
              <a:lstStyle/>
              <a:p>
                <a:r>
                  <a:rPr lang="en-IN" sz="1200" b="0">
                    <a:solidFill>
                      <a:srgbClr val="E6E0F2"/>
                    </a:solidFill>
                  </a:rPr>
                  <a:t>Vega (₹ per vol point)</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CE, 24 days</c:v>
                </c:pt>
              </c:strCache>
            </c:strRef>
          </c:tx>
          <c:spPr>
            <a:ln w="28575">
              <a:solidFill>
                <a:srgbClr val="FFFFFF"/>
              </a:solidFill>
            </a:ln>
          </c:spPr>
          <c:marker>
            <c:symbol val="none"/>
          </c:marker>
          <c:xVal>
            <c:numRef>
              <c:f>Sheet1!$A$2:$A$72</c:f>
              <c:numCache>
                <c:formatCode>General</c:formatCode>
                <c:ptCount val="71"/>
                <c:pt idx="0">
                  <c:v>20500</c:v>
                </c:pt>
                <c:pt idx="1">
                  <c:v>20550</c:v>
                </c:pt>
                <c:pt idx="2">
                  <c:v>20600</c:v>
                </c:pt>
                <c:pt idx="3">
                  <c:v>20650</c:v>
                </c:pt>
                <c:pt idx="4">
                  <c:v>20700</c:v>
                </c:pt>
                <c:pt idx="5">
                  <c:v>20750</c:v>
                </c:pt>
                <c:pt idx="6">
                  <c:v>20800</c:v>
                </c:pt>
                <c:pt idx="7">
                  <c:v>20850</c:v>
                </c:pt>
                <c:pt idx="8">
                  <c:v>20900</c:v>
                </c:pt>
                <c:pt idx="9">
                  <c:v>20950</c:v>
                </c:pt>
                <c:pt idx="10">
                  <c:v>21000</c:v>
                </c:pt>
                <c:pt idx="11">
                  <c:v>21050</c:v>
                </c:pt>
                <c:pt idx="12">
                  <c:v>21100</c:v>
                </c:pt>
                <c:pt idx="13">
                  <c:v>21150</c:v>
                </c:pt>
                <c:pt idx="14">
                  <c:v>21200</c:v>
                </c:pt>
                <c:pt idx="15">
                  <c:v>21250</c:v>
                </c:pt>
                <c:pt idx="16">
                  <c:v>21300</c:v>
                </c:pt>
                <c:pt idx="17">
                  <c:v>21350</c:v>
                </c:pt>
                <c:pt idx="18">
                  <c:v>21400</c:v>
                </c:pt>
                <c:pt idx="19">
                  <c:v>21450</c:v>
                </c:pt>
                <c:pt idx="20">
                  <c:v>21500</c:v>
                </c:pt>
                <c:pt idx="21">
                  <c:v>21550</c:v>
                </c:pt>
                <c:pt idx="22">
                  <c:v>21600</c:v>
                </c:pt>
                <c:pt idx="23">
                  <c:v>21650</c:v>
                </c:pt>
                <c:pt idx="24">
                  <c:v>21700</c:v>
                </c:pt>
                <c:pt idx="25">
                  <c:v>21750</c:v>
                </c:pt>
                <c:pt idx="26">
                  <c:v>21800</c:v>
                </c:pt>
                <c:pt idx="27">
                  <c:v>21850</c:v>
                </c:pt>
                <c:pt idx="28">
                  <c:v>21900</c:v>
                </c:pt>
                <c:pt idx="29">
                  <c:v>21950</c:v>
                </c:pt>
                <c:pt idx="30">
                  <c:v>22000</c:v>
                </c:pt>
                <c:pt idx="31">
                  <c:v>22050</c:v>
                </c:pt>
                <c:pt idx="32">
                  <c:v>22100</c:v>
                </c:pt>
                <c:pt idx="33">
                  <c:v>22150</c:v>
                </c:pt>
                <c:pt idx="34">
                  <c:v>22200</c:v>
                </c:pt>
                <c:pt idx="35">
                  <c:v>22250</c:v>
                </c:pt>
                <c:pt idx="36">
                  <c:v>22300</c:v>
                </c:pt>
                <c:pt idx="37">
                  <c:v>22350</c:v>
                </c:pt>
                <c:pt idx="38">
                  <c:v>22400</c:v>
                </c:pt>
                <c:pt idx="39">
                  <c:v>22450</c:v>
                </c:pt>
                <c:pt idx="40">
                  <c:v>22500</c:v>
                </c:pt>
                <c:pt idx="41">
                  <c:v>22550</c:v>
                </c:pt>
                <c:pt idx="42">
                  <c:v>22600</c:v>
                </c:pt>
                <c:pt idx="43">
                  <c:v>22650</c:v>
                </c:pt>
                <c:pt idx="44">
                  <c:v>22700</c:v>
                </c:pt>
                <c:pt idx="45">
                  <c:v>22750</c:v>
                </c:pt>
                <c:pt idx="46">
                  <c:v>22800</c:v>
                </c:pt>
                <c:pt idx="47">
                  <c:v>22850</c:v>
                </c:pt>
                <c:pt idx="48">
                  <c:v>22900</c:v>
                </c:pt>
                <c:pt idx="49">
                  <c:v>22950</c:v>
                </c:pt>
                <c:pt idx="50">
                  <c:v>23000</c:v>
                </c:pt>
                <c:pt idx="51">
                  <c:v>23050</c:v>
                </c:pt>
                <c:pt idx="52">
                  <c:v>23100</c:v>
                </c:pt>
                <c:pt idx="53">
                  <c:v>23150</c:v>
                </c:pt>
                <c:pt idx="54">
                  <c:v>23200</c:v>
                </c:pt>
                <c:pt idx="55">
                  <c:v>23250</c:v>
                </c:pt>
                <c:pt idx="56">
                  <c:v>23300</c:v>
                </c:pt>
                <c:pt idx="57">
                  <c:v>23350</c:v>
                </c:pt>
                <c:pt idx="58">
                  <c:v>23400</c:v>
                </c:pt>
                <c:pt idx="59">
                  <c:v>23450</c:v>
                </c:pt>
                <c:pt idx="60">
                  <c:v>23500</c:v>
                </c:pt>
                <c:pt idx="61">
                  <c:v>23550</c:v>
                </c:pt>
                <c:pt idx="62">
                  <c:v>23600</c:v>
                </c:pt>
                <c:pt idx="63">
                  <c:v>23650</c:v>
                </c:pt>
                <c:pt idx="64">
                  <c:v>23700</c:v>
                </c:pt>
                <c:pt idx="65">
                  <c:v>23750</c:v>
                </c:pt>
                <c:pt idx="66">
                  <c:v>23800</c:v>
                </c:pt>
                <c:pt idx="67">
                  <c:v>23850</c:v>
                </c:pt>
                <c:pt idx="68">
                  <c:v>23900</c:v>
                </c:pt>
                <c:pt idx="69">
                  <c:v>23950</c:v>
                </c:pt>
                <c:pt idx="70">
                  <c:v>24000</c:v>
                </c:pt>
              </c:numCache>
            </c:numRef>
          </c:xVal>
          <c:yVal>
            <c:numRef>
              <c:f>Sheet1!$B$2:$B$72</c:f>
              <c:numCache>
                <c:formatCode>General</c:formatCode>
                <c:ptCount val="71"/>
                <c:pt idx="0">
                  <c:v>-1.1567665732803365</c:v>
                </c:pt>
                <c:pt idx="1">
                  <c:v>-1.1245840145574293</c:v>
                </c:pt>
                <c:pt idx="2">
                  <c:v>-1.0925000859715084</c:v>
                </c:pt>
                <c:pt idx="3">
                  <c:v>-1.0606462943718884</c:v>
                </c:pt>
                <c:pt idx="4">
                  <c:v>-1.0288911329092549</c:v>
                </c:pt>
                <c:pt idx="5">
                  <c:v>-0.99710309473429437</c:v>
                </c:pt>
                <c:pt idx="6">
                  <c:v>-0.96541368669631777</c:v>
                </c:pt>
                <c:pt idx="7">
                  <c:v>-0.93411879920628826</c:v>
                </c:pt>
                <c:pt idx="8">
                  <c:v>-0.9024622678806391</c:v>
                </c:pt>
                <c:pt idx="9">
                  <c:v>-0.871594777650881</c:v>
                </c:pt>
                <c:pt idx="10">
                  <c:v>-0.84089167098276907</c:v>
                </c:pt>
                <c:pt idx="11">
                  <c:v>-0.81002418075301341</c:v>
                </c:pt>
                <c:pt idx="12">
                  <c:v>-0.77941970422188567</c:v>
                </c:pt>
                <c:pt idx="13">
                  <c:v>-0.74904536467706329</c:v>
                </c:pt>
                <c:pt idx="14">
                  <c:v>-0.71890116211853428</c:v>
                </c:pt>
                <c:pt idx="15">
                  <c:v>-0.68938161709425771</c:v>
                </c:pt>
                <c:pt idx="16">
                  <c:v>-0.65959905837135069</c:v>
                </c:pt>
                <c:pt idx="17">
                  <c:v>-0.63080280101830555</c:v>
                </c:pt>
                <c:pt idx="18">
                  <c:v>-0.60217092722690657</c:v>
                </c:pt>
                <c:pt idx="19">
                  <c:v>-0.57360480686016457</c:v>
                </c:pt>
                <c:pt idx="20">
                  <c:v>-0.54553183717835108</c:v>
                </c:pt>
                <c:pt idx="21">
                  <c:v>-0.51828078530475841</c:v>
                </c:pt>
                <c:pt idx="22">
                  <c:v>-0.49125987041747116</c:v>
                </c:pt>
                <c:pt idx="23">
                  <c:v>-0.46496224320141077</c:v>
                </c:pt>
                <c:pt idx="24">
                  <c:v>-0.43886187625932727</c:v>
                </c:pt>
                <c:pt idx="25">
                  <c:v>-0.4135176737008015</c:v>
                </c:pt>
                <c:pt idx="26">
                  <c:v>-0.38860086840255104</c:v>
                </c:pt>
                <c:pt idx="27">
                  <c:v>-0.36447310420019263</c:v>
                </c:pt>
                <c:pt idx="28">
                  <c:v>-0.34093712081975081</c:v>
                </c:pt>
                <c:pt idx="29">
                  <c:v>-0.31838743880917092</c:v>
                </c:pt>
                <c:pt idx="30">
                  <c:v>-0.29646241433284198</c:v>
                </c:pt>
                <c:pt idx="31">
                  <c:v>-0.27545793780171329</c:v>
                </c:pt>
                <c:pt idx="32">
                  <c:v>-0.25438770784592879</c:v>
                </c:pt>
                <c:pt idx="33">
                  <c:v>-0.23561884775315797</c:v>
                </c:pt>
                <c:pt idx="34">
                  <c:v>-0.21619245341381249</c:v>
                </c:pt>
                <c:pt idx="35">
                  <c:v>-0.1986400316772079</c:v>
                </c:pt>
                <c:pt idx="36">
                  <c:v>-0.18167671232876792</c:v>
                </c:pt>
                <c:pt idx="37">
                  <c:v>-0.16500821917808181</c:v>
                </c:pt>
                <c:pt idx="38">
                  <c:v>-0.14968767123287707</c:v>
                </c:pt>
                <c:pt idx="39">
                  <c:v>-0.13545205479452099</c:v>
                </c:pt>
                <c:pt idx="40">
                  <c:v>-0.12272876712328877</c:v>
                </c:pt>
                <c:pt idx="41">
                  <c:v>-0.10941369863013767</c:v>
                </c:pt>
                <c:pt idx="42">
                  <c:v>-9.8301369863013605E-2</c:v>
                </c:pt>
                <c:pt idx="43">
                  <c:v>-8.7287671232876785E-2</c:v>
                </c:pt>
                <c:pt idx="44">
                  <c:v>-7.7391780821918901E-2</c:v>
                </c:pt>
                <c:pt idx="45">
                  <c:v>-6.8580821917807913E-2</c:v>
                </c:pt>
                <c:pt idx="46">
                  <c:v>-6.0197260273972111E-2</c:v>
                </c:pt>
                <c:pt idx="47">
                  <c:v>-5.3523287671231719E-2</c:v>
                </c:pt>
                <c:pt idx="48">
                  <c:v>-4.7013698630136783E-2</c:v>
                </c:pt>
                <c:pt idx="49">
                  <c:v>-4.099726027397254E-2</c:v>
                </c:pt>
                <c:pt idx="50">
                  <c:v>-3.6854794520547379E-2</c:v>
                </c:pt>
                <c:pt idx="51">
                  <c:v>-3.1660273972603833E-2</c:v>
                </c:pt>
                <c:pt idx="52">
                  <c:v>-2.7649315068492362E-2</c:v>
                </c:pt>
                <c:pt idx="53">
                  <c:v>-2.4328767123288197E-2</c:v>
                </c:pt>
                <c:pt idx="54">
                  <c:v>-2.1369863013698968E-2</c:v>
                </c:pt>
                <c:pt idx="55">
                  <c:v>-1.9035616438356644E-2</c:v>
                </c:pt>
                <c:pt idx="56">
                  <c:v>-1.699726027397256E-2</c:v>
                </c:pt>
                <c:pt idx="57">
                  <c:v>-1.5057534246575298E-2</c:v>
                </c:pt>
                <c:pt idx="58">
                  <c:v>-1.3380821917808079E-2</c:v>
                </c:pt>
                <c:pt idx="59">
                  <c:v>-1.2328767123287468E-2</c:v>
                </c:pt>
                <c:pt idx="60">
                  <c:v>-1.1210958904109272E-2</c:v>
                </c:pt>
                <c:pt idx="61">
                  <c:v>-1.0060273972603171E-2</c:v>
                </c:pt>
                <c:pt idx="62">
                  <c:v>-9.1068493150684923E-3</c:v>
                </c:pt>
                <c:pt idx="63">
                  <c:v>-8.3835616438355815E-3</c:v>
                </c:pt>
                <c:pt idx="64">
                  <c:v>-7.7260273972599583E-3</c:v>
                </c:pt>
                <c:pt idx="65">
                  <c:v>-7.0684931506850021E-3</c:v>
                </c:pt>
                <c:pt idx="66">
                  <c:v>-6.4767123287669641E-3</c:v>
                </c:pt>
                <c:pt idx="67">
                  <c:v>-6.016438356164242E-3</c:v>
                </c:pt>
                <c:pt idx="68">
                  <c:v>-5.3917808219177818E-3</c:v>
                </c:pt>
                <c:pt idx="69">
                  <c:v>-5.260273972602687E-3</c:v>
                </c:pt>
                <c:pt idx="70">
                  <c:v>-4.7999999999998174E-3</c:v>
                </c:pt>
              </c:numCache>
            </c:numRef>
          </c:yVal>
          <c:smooth val="0"/>
          <c:extLst>
            <c:ext xmlns:c16="http://schemas.microsoft.com/office/drawing/2014/chart" uri="{C3380CC4-5D6E-409C-BE32-E72D297353CC}">
              <c16:uniqueId val="{00000000-2515-40EB-ABD0-3A2332EA07F8}"/>
            </c:ext>
          </c:extLst>
        </c:ser>
        <c:ser>
          <c:idx val="1"/>
          <c:order val="1"/>
          <c:tx>
            <c:strRef>
              <c:f>Sheet1!$B$74</c:f>
              <c:strCache>
                <c:ptCount val="1"/>
                <c:pt idx="0">
                  <c:v>PE, 24 days</c:v>
                </c:pt>
              </c:strCache>
            </c:strRef>
          </c:tx>
          <c:spPr>
            <a:ln w="28575">
              <a:solidFill>
                <a:srgbClr val="FFFFFF"/>
              </a:solidFill>
              <a:prstDash val="dash"/>
            </a:ln>
          </c:spPr>
          <c:marker>
            <c:symbol val="none"/>
          </c:marker>
          <c:xVal>
            <c:numRef>
              <c:f>Sheet1!$A$75:$A$145</c:f>
              <c:numCache>
                <c:formatCode>General</c:formatCode>
                <c:ptCount val="71"/>
                <c:pt idx="0">
                  <c:v>20500</c:v>
                </c:pt>
                <c:pt idx="1">
                  <c:v>20550</c:v>
                </c:pt>
                <c:pt idx="2">
                  <c:v>20600</c:v>
                </c:pt>
                <c:pt idx="3">
                  <c:v>20650</c:v>
                </c:pt>
                <c:pt idx="4">
                  <c:v>20700</c:v>
                </c:pt>
                <c:pt idx="5">
                  <c:v>20750</c:v>
                </c:pt>
                <c:pt idx="6">
                  <c:v>20800</c:v>
                </c:pt>
                <c:pt idx="7">
                  <c:v>20850</c:v>
                </c:pt>
                <c:pt idx="8">
                  <c:v>20900</c:v>
                </c:pt>
                <c:pt idx="9">
                  <c:v>20950</c:v>
                </c:pt>
                <c:pt idx="10">
                  <c:v>21000</c:v>
                </c:pt>
                <c:pt idx="11">
                  <c:v>21050</c:v>
                </c:pt>
                <c:pt idx="12">
                  <c:v>21100</c:v>
                </c:pt>
                <c:pt idx="13">
                  <c:v>21150</c:v>
                </c:pt>
                <c:pt idx="14">
                  <c:v>21200</c:v>
                </c:pt>
                <c:pt idx="15">
                  <c:v>21250</c:v>
                </c:pt>
                <c:pt idx="16">
                  <c:v>21300</c:v>
                </c:pt>
                <c:pt idx="17">
                  <c:v>21350</c:v>
                </c:pt>
                <c:pt idx="18">
                  <c:v>21400</c:v>
                </c:pt>
                <c:pt idx="19">
                  <c:v>21450</c:v>
                </c:pt>
                <c:pt idx="20">
                  <c:v>21500</c:v>
                </c:pt>
                <c:pt idx="21">
                  <c:v>21550</c:v>
                </c:pt>
                <c:pt idx="22">
                  <c:v>21600</c:v>
                </c:pt>
                <c:pt idx="23">
                  <c:v>21650</c:v>
                </c:pt>
                <c:pt idx="24">
                  <c:v>21700</c:v>
                </c:pt>
                <c:pt idx="25">
                  <c:v>21750</c:v>
                </c:pt>
                <c:pt idx="26">
                  <c:v>21800</c:v>
                </c:pt>
                <c:pt idx="27">
                  <c:v>21850</c:v>
                </c:pt>
                <c:pt idx="28">
                  <c:v>21900</c:v>
                </c:pt>
                <c:pt idx="29">
                  <c:v>21950</c:v>
                </c:pt>
                <c:pt idx="30">
                  <c:v>22000</c:v>
                </c:pt>
                <c:pt idx="31">
                  <c:v>22050</c:v>
                </c:pt>
                <c:pt idx="32">
                  <c:v>22100</c:v>
                </c:pt>
                <c:pt idx="33">
                  <c:v>22150</c:v>
                </c:pt>
                <c:pt idx="34">
                  <c:v>22200</c:v>
                </c:pt>
                <c:pt idx="35">
                  <c:v>22250</c:v>
                </c:pt>
                <c:pt idx="36">
                  <c:v>22300</c:v>
                </c:pt>
                <c:pt idx="37">
                  <c:v>22350</c:v>
                </c:pt>
                <c:pt idx="38">
                  <c:v>22400</c:v>
                </c:pt>
                <c:pt idx="39">
                  <c:v>22450</c:v>
                </c:pt>
                <c:pt idx="40">
                  <c:v>22500</c:v>
                </c:pt>
                <c:pt idx="41">
                  <c:v>22550</c:v>
                </c:pt>
                <c:pt idx="42">
                  <c:v>22600</c:v>
                </c:pt>
                <c:pt idx="43">
                  <c:v>22650</c:v>
                </c:pt>
                <c:pt idx="44">
                  <c:v>22700</c:v>
                </c:pt>
                <c:pt idx="45">
                  <c:v>22750</c:v>
                </c:pt>
                <c:pt idx="46">
                  <c:v>22800</c:v>
                </c:pt>
                <c:pt idx="47">
                  <c:v>22850</c:v>
                </c:pt>
                <c:pt idx="48">
                  <c:v>22900</c:v>
                </c:pt>
                <c:pt idx="49">
                  <c:v>22950</c:v>
                </c:pt>
                <c:pt idx="50">
                  <c:v>23000</c:v>
                </c:pt>
                <c:pt idx="51">
                  <c:v>23050</c:v>
                </c:pt>
                <c:pt idx="52">
                  <c:v>23100</c:v>
                </c:pt>
                <c:pt idx="53">
                  <c:v>23150</c:v>
                </c:pt>
                <c:pt idx="54">
                  <c:v>23200</c:v>
                </c:pt>
                <c:pt idx="55">
                  <c:v>23250</c:v>
                </c:pt>
                <c:pt idx="56">
                  <c:v>23300</c:v>
                </c:pt>
                <c:pt idx="57">
                  <c:v>23350</c:v>
                </c:pt>
                <c:pt idx="58">
                  <c:v>23400</c:v>
                </c:pt>
                <c:pt idx="59">
                  <c:v>23450</c:v>
                </c:pt>
                <c:pt idx="60">
                  <c:v>23500</c:v>
                </c:pt>
                <c:pt idx="61">
                  <c:v>23550</c:v>
                </c:pt>
                <c:pt idx="62">
                  <c:v>23600</c:v>
                </c:pt>
                <c:pt idx="63">
                  <c:v>23650</c:v>
                </c:pt>
                <c:pt idx="64">
                  <c:v>23700</c:v>
                </c:pt>
                <c:pt idx="65">
                  <c:v>23750</c:v>
                </c:pt>
                <c:pt idx="66">
                  <c:v>23800</c:v>
                </c:pt>
                <c:pt idx="67">
                  <c:v>23850</c:v>
                </c:pt>
                <c:pt idx="68">
                  <c:v>23900</c:v>
                </c:pt>
                <c:pt idx="69">
                  <c:v>23950</c:v>
                </c:pt>
                <c:pt idx="70">
                  <c:v>24000</c:v>
                </c:pt>
              </c:numCache>
            </c:numRef>
          </c:xVal>
          <c:yVal>
            <c:numRef>
              <c:f>Sheet1!$B$75:$B$145</c:f>
              <c:numCache>
                <c:formatCode>General</c:formatCode>
                <c:ptCount val="71"/>
                <c:pt idx="0">
                  <c:v>-8.7780821917810142E-3</c:v>
                </c:pt>
                <c:pt idx="1">
                  <c:v>-9.2054794520546462E-3</c:v>
                </c:pt>
                <c:pt idx="2">
                  <c:v>-9.7315068493150272E-3</c:v>
                </c:pt>
                <c:pt idx="3">
                  <c:v>-1.04876712328771E-2</c:v>
                </c:pt>
                <c:pt idx="4">
                  <c:v>-1.1342465753424812E-2</c:v>
                </c:pt>
                <c:pt idx="5">
                  <c:v>-1.2164383561643953E-2</c:v>
                </c:pt>
                <c:pt idx="6">
                  <c:v>-1.3084931506849393E-2</c:v>
                </c:pt>
                <c:pt idx="7">
                  <c:v>-1.4400000000000046E-2</c:v>
                </c:pt>
                <c:pt idx="8">
                  <c:v>-1.5353424657533985E-2</c:v>
                </c:pt>
                <c:pt idx="9">
                  <c:v>-1.7095890410958343E-2</c:v>
                </c:pt>
                <c:pt idx="10">
                  <c:v>-1.9002739726027406E-2</c:v>
                </c:pt>
                <c:pt idx="11">
                  <c:v>-2.0745205479452064E-2</c:v>
                </c:pt>
                <c:pt idx="12">
                  <c:v>-2.2750684931506761E-2</c:v>
                </c:pt>
                <c:pt idx="13">
                  <c:v>-2.4986301369863448E-2</c:v>
                </c:pt>
                <c:pt idx="14">
                  <c:v>-2.7452054794519315E-2</c:v>
                </c:pt>
                <c:pt idx="15">
                  <c:v>-3.0542465753424303E-2</c:v>
                </c:pt>
                <c:pt idx="16">
                  <c:v>-3.3369863013697772E-2</c:v>
                </c:pt>
                <c:pt idx="17">
                  <c:v>-3.7183561643835301E-2</c:v>
                </c:pt>
                <c:pt idx="18">
                  <c:v>-4.1161643835615908E-2</c:v>
                </c:pt>
                <c:pt idx="19">
                  <c:v>-4.5205479452054387E-2</c:v>
                </c:pt>
                <c:pt idx="20">
                  <c:v>-4.974246575342417E-2</c:v>
                </c:pt>
                <c:pt idx="21">
                  <c:v>-5.5101369863013748E-2</c:v>
                </c:pt>
                <c:pt idx="22">
                  <c:v>-6.0690410958903103E-2</c:v>
                </c:pt>
                <c:pt idx="23">
                  <c:v>-6.7002739726026467E-2</c:v>
                </c:pt>
                <c:pt idx="24">
                  <c:v>-7.3512328767123783E-2</c:v>
                </c:pt>
                <c:pt idx="25">
                  <c:v>-8.0778082191780648E-2</c:v>
                </c:pt>
                <c:pt idx="26">
                  <c:v>-8.8471232876711534E-2</c:v>
                </c:pt>
                <c:pt idx="27">
                  <c:v>-9.6953424657534593E-2</c:v>
                </c:pt>
                <c:pt idx="28">
                  <c:v>-0.10602739726027355</c:v>
                </c:pt>
                <c:pt idx="29">
                  <c:v>-0.11608767123287628</c:v>
                </c:pt>
                <c:pt idx="30">
                  <c:v>-0.12677260273972754</c:v>
                </c:pt>
                <c:pt idx="31">
                  <c:v>-0.13837808219178085</c:v>
                </c:pt>
                <c:pt idx="32">
                  <c:v>-0.14991780821917891</c:v>
                </c:pt>
                <c:pt idx="33">
                  <c:v>-0.16375890410958949</c:v>
                </c:pt>
                <c:pt idx="34">
                  <c:v>-0.17694246575342426</c:v>
                </c:pt>
                <c:pt idx="35">
                  <c:v>-0.192000000000001</c:v>
                </c:pt>
                <c:pt idx="36">
                  <c:v>-0.20764663663474248</c:v>
                </c:pt>
                <c:pt idx="37">
                  <c:v>-0.22358809946723895</c:v>
                </c:pt>
                <c:pt idx="38">
                  <c:v>-0.24087750750521442</c:v>
                </c:pt>
                <c:pt idx="39">
                  <c:v>-0.25925184705004212</c:v>
                </c:pt>
                <c:pt idx="40">
                  <c:v>-0.27913851536198886</c:v>
                </c:pt>
                <c:pt idx="41">
                  <c:v>-0.29843340285201803</c:v>
                </c:pt>
                <c:pt idx="42">
                  <c:v>-0.31993103006807533</c:v>
                </c:pt>
                <c:pt idx="43">
                  <c:v>-0.34152728742112176</c:v>
                </c:pt>
                <c:pt idx="44">
                  <c:v>-0.36424135299334526</c:v>
                </c:pt>
                <c:pt idx="45">
                  <c:v>-0.38804035007241622</c:v>
                </c:pt>
                <c:pt idx="46">
                  <c:v>-0.41226674441176125</c:v>
                </c:pt>
                <c:pt idx="47">
                  <c:v>-0.43820272779220226</c:v>
                </c:pt>
                <c:pt idx="48">
                  <c:v>-0.46430309473428927</c:v>
                </c:pt>
                <c:pt idx="49">
                  <c:v>-0.49089661236130738</c:v>
                </c:pt>
                <c:pt idx="50">
                  <c:v>-0.5193641025910628</c:v>
                </c:pt>
                <c:pt idx="51">
                  <c:v>-0.54677953802630141</c:v>
                </c:pt>
                <c:pt idx="52">
                  <c:v>-0.5753785351053684</c:v>
                </c:pt>
                <c:pt idx="53">
                  <c:v>-0.60466794314334682</c:v>
                </c:pt>
                <c:pt idx="54">
                  <c:v>-0.63431899501693756</c:v>
                </c:pt>
                <c:pt idx="55">
                  <c:v>-0.66459470442477797</c:v>
                </c:pt>
                <c:pt idx="56">
                  <c:v>-0.69516630424357606</c:v>
                </c:pt>
                <c:pt idx="57">
                  <c:v>-0.72583653419936067</c:v>
                </c:pt>
                <c:pt idx="58">
                  <c:v>-0.75676977785377353</c:v>
                </c:pt>
                <c:pt idx="59">
                  <c:v>-0.78832767904243339</c:v>
                </c:pt>
                <c:pt idx="60">
                  <c:v>-0.81981982680643883</c:v>
                </c:pt>
                <c:pt idx="61">
                  <c:v>-0.85127909785811229</c:v>
                </c:pt>
                <c:pt idx="62">
                  <c:v>-0.88293562918375901</c:v>
                </c:pt>
                <c:pt idx="63">
                  <c:v>-0.9148222974957062</c:v>
                </c:pt>
                <c:pt idx="64">
                  <c:v>-0.94677471923231316</c:v>
                </c:pt>
                <c:pt idx="65">
                  <c:v>-0.97872714096891988</c:v>
                </c:pt>
                <c:pt idx="66">
                  <c:v>-1.0107453161301836</c:v>
                </c:pt>
                <c:pt idx="67">
                  <c:v>-1.0428949981407611</c:v>
                </c:pt>
                <c:pt idx="68">
                  <c:v>-1.0748802965896953</c:v>
                </c:pt>
                <c:pt idx="69">
                  <c:v>-1.1073587457235627</c:v>
                </c:pt>
                <c:pt idx="70">
                  <c:v>-1.1395084277341427</c:v>
                </c:pt>
              </c:numCache>
            </c:numRef>
          </c:yVal>
          <c:smooth val="0"/>
          <c:extLst>
            <c:ext xmlns:c16="http://schemas.microsoft.com/office/drawing/2014/chart" uri="{C3380CC4-5D6E-409C-BE32-E72D297353CC}">
              <c16:uniqueId val="{00000001-2515-40EB-ABD0-3A2332EA07F8}"/>
            </c:ext>
          </c:extLst>
        </c:ser>
        <c:ser>
          <c:idx val="2"/>
          <c:order val="2"/>
          <c:tx>
            <c:strRef>
              <c:f>Sheet1!$B$147</c:f>
              <c:strCache>
                <c:ptCount val="1"/>
                <c:pt idx="0">
                  <c:v>CE, 52 days</c:v>
                </c:pt>
              </c:strCache>
            </c:strRef>
          </c:tx>
          <c:spPr>
            <a:ln w="28575">
              <a:solidFill>
                <a:srgbClr val="FFD166"/>
              </a:solidFill>
            </a:ln>
          </c:spPr>
          <c:marker>
            <c:symbol val="none"/>
          </c:marker>
          <c:xVal>
            <c:numRef>
              <c:f>Sheet1!$A$148:$A$218</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Sheet1!$B$148:$B$218</c:f>
              <c:numCache>
                <c:formatCode>General</c:formatCode>
                <c:ptCount val="71"/>
                <c:pt idx="0">
                  <c:v>-2.5475955166587316</c:v>
                </c:pt>
                <c:pt idx="1">
                  <c:v>-2.4792473445332583</c:v>
                </c:pt>
                <c:pt idx="2">
                  <c:v>-2.4342635559694346</c:v>
                </c:pt>
                <c:pt idx="3">
                  <c:v>-2.3478222331590342</c:v>
                </c:pt>
                <c:pt idx="4">
                  <c:v>-2.2905151569239734</c:v>
                </c:pt>
                <c:pt idx="5">
                  <c:v>-2.2222382176752111</c:v>
                </c:pt>
                <c:pt idx="6">
                  <c:v>-2.1588763469196013</c:v>
                </c:pt>
                <c:pt idx="7">
                  <c:v>-2.0975802295886532</c:v>
                </c:pt>
                <c:pt idx="8">
                  <c:v>-2.0353580848604405</c:v>
                </c:pt>
                <c:pt idx="9">
                  <c:v>-1.9723523784883947</c:v>
                </c:pt>
                <c:pt idx="10">
                  <c:v>-1.918108315951967</c:v>
                </c:pt>
                <c:pt idx="11">
                  <c:v>-1.8500450753333368</c:v>
                </c:pt>
                <c:pt idx="12">
                  <c:v>-1.7908859443037568</c:v>
                </c:pt>
                <c:pt idx="13">
                  <c:v>-1.7304446214933529</c:v>
                </c:pt>
                <c:pt idx="14">
                  <c:v>-1.6725676822445916</c:v>
                </c:pt>
                <c:pt idx="15">
                  <c:v>-1.6158304690232377</c:v>
                </c:pt>
                <c:pt idx="16">
                  <c:v>-1.5570275023772109</c:v>
                </c:pt>
                <c:pt idx="17">
                  <c:v>-1.4993642617585921</c:v>
                </c:pt>
                <c:pt idx="18">
                  <c:v>-1.4436243088111957</c:v>
                </c:pt>
                <c:pt idx="19">
                  <c:v>-1.3880268216172311</c:v>
                </c:pt>
                <c:pt idx="20">
                  <c:v>-1.3343526220945068</c:v>
                </c:pt>
                <c:pt idx="21">
                  <c:v>-1.2796099294210814</c:v>
                </c:pt>
                <c:pt idx="22">
                  <c:v>-1.2271466888024603</c:v>
                </c:pt>
                <c:pt idx="23">
                  <c:v>-1.1741135851701403</c:v>
                </c:pt>
                <c:pt idx="24">
                  <c:v>-1.1244996596200147</c:v>
                </c:pt>
                <c:pt idx="25">
                  <c:v>-1.0743158710561878</c:v>
                </c:pt>
                <c:pt idx="26">
                  <c:v>-1.0250581098896154</c:v>
                </c:pt>
                <c:pt idx="27">
                  <c:v>-0.97929075968195312</c:v>
                </c:pt>
                <c:pt idx="28">
                  <c:v>-0.93081656015921954</c:v>
                </c:pt>
                <c:pt idx="29">
                  <c:v>-0.88690126474607933</c:v>
                </c:pt>
                <c:pt idx="30">
                  <c:v>-0.84141884604525996</c:v>
                </c:pt>
                <c:pt idx="31">
                  <c:v>-0.79251724926225919</c:v>
                </c:pt>
                <c:pt idx="32">
                  <c:v>-0.7525197620682933</c:v>
                </c:pt>
                <c:pt idx="33">
                  <c:v>-0.70945926117569491</c:v>
                </c:pt>
                <c:pt idx="34">
                  <c:v>-0.67024533562556732</c:v>
                </c:pt>
                <c:pt idx="35">
                  <c:v>-0.63117387582886131</c:v>
                </c:pt>
                <c:pt idx="36">
                  <c:v>-0.59301369863013742</c:v>
                </c:pt>
                <c:pt idx="37">
                  <c:v>-0.555117808219176</c:v>
                </c:pt>
                <c:pt idx="38">
                  <c:v>-0.51943013698630314</c:v>
                </c:pt>
                <c:pt idx="39">
                  <c:v>-0.48737534246575404</c:v>
                </c:pt>
                <c:pt idx="40">
                  <c:v>-0.45304109589041064</c:v>
                </c:pt>
                <c:pt idx="41">
                  <c:v>-0.4231232876712343</c:v>
                </c:pt>
                <c:pt idx="42">
                  <c:v>-0.39256438356164358</c:v>
                </c:pt>
                <c:pt idx="43">
                  <c:v>-0.36179178082191438</c:v>
                </c:pt>
                <c:pt idx="44">
                  <c:v>-0.33522191780822008</c:v>
                </c:pt>
                <c:pt idx="45">
                  <c:v>-0.3110027397260256</c:v>
                </c:pt>
                <c:pt idx="46">
                  <c:v>-0.28614246575342445</c:v>
                </c:pt>
                <c:pt idx="47">
                  <c:v>-0.26270684931507104</c:v>
                </c:pt>
                <c:pt idx="48">
                  <c:v>-0.24162191780821748</c:v>
                </c:pt>
                <c:pt idx="49">
                  <c:v>-0.22124931506849418</c:v>
                </c:pt>
                <c:pt idx="50">
                  <c:v>-0.20123287671232831</c:v>
                </c:pt>
                <c:pt idx="51">
                  <c:v>-0.1844219178082179</c:v>
                </c:pt>
                <c:pt idx="52">
                  <c:v>-0.16889315068492988</c:v>
                </c:pt>
                <c:pt idx="53">
                  <c:v>-0.15293698630136859</c:v>
                </c:pt>
                <c:pt idx="54">
                  <c:v>-0.13890410958904603</c:v>
                </c:pt>
                <c:pt idx="55">
                  <c:v>-0.12672328767123303</c:v>
                </c:pt>
                <c:pt idx="56">
                  <c:v>-0.11475616438356237</c:v>
                </c:pt>
                <c:pt idx="57">
                  <c:v>-0.1055671232876713</c:v>
                </c:pt>
                <c:pt idx="58">
                  <c:v>-9.5238356164384988E-2</c:v>
                </c:pt>
                <c:pt idx="59">
                  <c:v>-8.7473972602736552E-2</c:v>
                </c:pt>
                <c:pt idx="60">
                  <c:v>-7.928219178082116E-2</c:v>
                </c:pt>
                <c:pt idx="61">
                  <c:v>-7.0947945205479229E-2</c:v>
                </c:pt>
                <c:pt idx="62">
                  <c:v>-6.5320547945206781E-2</c:v>
                </c:pt>
                <c:pt idx="63">
                  <c:v>-5.8695890410957692E-2</c:v>
                </c:pt>
                <c:pt idx="64">
                  <c:v>-5.4136986301368796E-2</c:v>
                </c:pt>
                <c:pt idx="65">
                  <c:v>-4.9435616438354632E-2</c:v>
                </c:pt>
                <c:pt idx="66">
                  <c:v>-4.9863013698630783E-2</c:v>
                </c:pt>
                <c:pt idx="67">
                  <c:v>-4.0816438356163415E-2</c:v>
                </c:pt>
                <c:pt idx="68">
                  <c:v>-3.9106849315068963E-2</c:v>
                </c:pt>
                <c:pt idx="69">
                  <c:v>-3.6043835616438827E-2</c:v>
                </c:pt>
                <c:pt idx="70">
                  <c:v>-3.0630136986302708E-2</c:v>
                </c:pt>
              </c:numCache>
            </c:numRef>
          </c:yVal>
          <c:smooth val="0"/>
          <c:extLst>
            <c:ext xmlns:c16="http://schemas.microsoft.com/office/drawing/2014/chart" uri="{C3380CC4-5D6E-409C-BE32-E72D297353CC}">
              <c16:uniqueId val="{00000002-2515-40EB-ABD0-3A2332EA07F8}"/>
            </c:ext>
          </c:extLst>
        </c:ser>
        <c:ser>
          <c:idx val="3"/>
          <c:order val="3"/>
          <c:tx>
            <c:strRef>
              <c:f>Sheet1!$B$220</c:f>
              <c:strCache>
                <c:ptCount val="1"/>
                <c:pt idx="0">
                  <c:v>PE, 52 days</c:v>
                </c:pt>
              </c:strCache>
            </c:strRef>
          </c:tx>
          <c:spPr>
            <a:ln w="28575">
              <a:solidFill>
                <a:srgbClr val="FFD166"/>
              </a:solidFill>
              <a:prstDash val="dash"/>
            </a:ln>
          </c:spPr>
          <c:marker>
            <c:symbol val="none"/>
          </c:marker>
          <c:xVal>
            <c:numRef>
              <c:f>Sheet1!$A$221:$A$291</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Sheet1!$B$221:$B$291</c:f>
              <c:numCache>
                <c:formatCode>General</c:formatCode>
                <c:ptCount val="71"/>
                <c:pt idx="0">
                  <c:v>-7.6219178082191016E-2</c:v>
                </c:pt>
                <c:pt idx="1">
                  <c:v>-7.78575342465741E-2</c:v>
                </c:pt>
                <c:pt idx="2">
                  <c:v>-0.10286027397260117</c:v>
                </c:pt>
                <c:pt idx="3">
                  <c:v>-8.640547945205522E-2</c:v>
                </c:pt>
                <c:pt idx="4">
                  <c:v>-9.9084931506850368E-2</c:v>
                </c:pt>
                <c:pt idx="5">
                  <c:v>-0.10079452054794417</c:v>
                </c:pt>
                <c:pt idx="6">
                  <c:v>-0.10741917808218973</c:v>
                </c:pt>
                <c:pt idx="7">
                  <c:v>-0.11610958904109678</c:v>
                </c:pt>
                <c:pt idx="8">
                  <c:v>-0.12387397260274079</c:v>
                </c:pt>
                <c:pt idx="9">
                  <c:v>-0.13085479452054766</c:v>
                </c:pt>
                <c:pt idx="10">
                  <c:v>-0.1465972602739723</c:v>
                </c:pt>
                <c:pt idx="11">
                  <c:v>-0.14852054794520467</c:v>
                </c:pt>
                <c:pt idx="12">
                  <c:v>-0.1593479452054801</c:v>
                </c:pt>
                <c:pt idx="13">
                  <c:v>-0.1688931506849318</c:v>
                </c:pt>
                <c:pt idx="14">
                  <c:v>-0.18100273972602648</c:v>
                </c:pt>
                <c:pt idx="15">
                  <c:v>-0.19425205479452273</c:v>
                </c:pt>
                <c:pt idx="16">
                  <c:v>-0.20543561643835559</c:v>
                </c:pt>
                <c:pt idx="17">
                  <c:v>-0.2177589041095882</c:v>
                </c:pt>
                <c:pt idx="18">
                  <c:v>-0.23200547945205505</c:v>
                </c:pt>
                <c:pt idx="19">
                  <c:v>-0.24639452054794334</c:v>
                </c:pt>
                <c:pt idx="20">
                  <c:v>-0.26270684931507227</c:v>
                </c:pt>
                <c:pt idx="21">
                  <c:v>-0.27795068493150593</c:v>
                </c:pt>
                <c:pt idx="22">
                  <c:v>-0.29547397260273889</c:v>
                </c:pt>
                <c:pt idx="23">
                  <c:v>-0.31242739726027335</c:v>
                </c:pt>
                <c:pt idx="24">
                  <c:v>-0.33279999999999915</c:v>
                </c:pt>
                <c:pt idx="25">
                  <c:v>-0.35260273972602901</c:v>
                </c:pt>
                <c:pt idx="26">
                  <c:v>-0.37333150684931488</c:v>
                </c:pt>
                <c:pt idx="27">
                  <c:v>-0.3975506849315068</c:v>
                </c:pt>
                <c:pt idx="28">
                  <c:v>-0.41906301369863108</c:v>
                </c:pt>
                <c:pt idx="29">
                  <c:v>-0.44513424657534134</c:v>
                </c:pt>
                <c:pt idx="30">
                  <c:v>-0.46963835616438249</c:v>
                </c:pt>
                <c:pt idx="31">
                  <c:v>-0.49072328767123474</c:v>
                </c:pt>
                <c:pt idx="32">
                  <c:v>-0.52071232876712437</c:v>
                </c:pt>
                <c:pt idx="33">
                  <c:v>-0.54763835616438383</c:v>
                </c:pt>
                <c:pt idx="34">
                  <c:v>-0.57841095890410921</c:v>
                </c:pt>
                <c:pt idx="35">
                  <c:v>-0.60932602739726127</c:v>
                </c:pt>
                <c:pt idx="36">
                  <c:v>-0.64115237848839013</c:v>
                </c:pt>
                <c:pt idx="37">
                  <c:v>-0.67324301636728423</c:v>
                </c:pt>
                <c:pt idx="38">
                  <c:v>-0.70754187342426444</c:v>
                </c:pt>
                <c:pt idx="39">
                  <c:v>-0.74547360719357325</c:v>
                </c:pt>
                <c:pt idx="40">
                  <c:v>-0.78112588890808288</c:v>
                </c:pt>
                <c:pt idx="41">
                  <c:v>-0.82119460897876206</c:v>
                </c:pt>
                <c:pt idx="42">
                  <c:v>-0.86062223315902942</c:v>
                </c:pt>
                <c:pt idx="43">
                  <c:v>-0.8998361587091569</c:v>
                </c:pt>
                <c:pt idx="44">
                  <c:v>-0.94325282398531674</c:v>
                </c:pt>
                <c:pt idx="45">
                  <c:v>-0.98902017419297905</c:v>
                </c:pt>
                <c:pt idx="46">
                  <c:v>-1.0341464285102346</c:v>
                </c:pt>
                <c:pt idx="47">
                  <c:v>-1.0806973403617328</c:v>
                </c:pt>
                <c:pt idx="48">
                  <c:v>-1.1295989371447361</c:v>
                </c:pt>
                <c:pt idx="49">
                  <c:v>-1.179212862694867</c:v>
                </c:pt>
                <c:pt idx="50">
                  <c:v>-1.229182952628554</c:v>
                </c:pt>
                <c:pt idx="51">
                  <c:v>-1.2823585220142955</c:v>
                </c:pt>
                <c:pt idx="52">
                  <c:v>-1.3368162831808754</c:v>
                </c:pt>
                <c:pt idx="53">
                  <c:v>-1.390846647087171</c:v>
                </c:pt>
                <c:pt idx="54">
                  <c:v>-1.4468002986646968</c:v>
                </c:pt>
                <c:pt idx="55">
                  <c:v>-1.5046060050367427</c:v>
                </c:pt>
                <c:pt idx="56">
                  <c:v>-1.5626254100389303</c:v>
                </c:pt>
                <c:pt idx="57">
                  <c:v>-1.623422897232893</c:v>
                </c:pt>
                <c:pt idx="58">
                  <c:v>-1.6830806583994584</c:v>
                </c:pt>
                <c:pt idx="59">
                  <c:v>-1.7453028031276663</c:v>
                </c:pt>
                <c:pt idx="60">
                  <c:v>-1.8070975505956093</c:v>
                </c:pt>
                <c:pt idx="61">
                  <c:v>-1.8687498323101213</c:v>
                </c:pt>
                <c:pt idx="62">
                  <c:v>-1.9331089633397065</c:v>
                </c:pt>
                <c:pt idx="63">
                  <c:v>-1.9964708340953061</c:v>
                </c:pt>
                <c:pt idx="64">
                  <c:v>-2.0618984582755733</c:v>
                </c:pt>
                <c:pt idx="65">
                  <c:v>-2.1271836167024136</c:v>
                </c:pt>
                <c:pt idx="66">
                  <c:v>-2.1975975422525487</c:v>
                </c:pt>
                <c:pt idx="67">
                  <c:v>-2.2585374951999375</c:v>
                </c:pt>
                <c:pt idx="68">
                  <c:v>-2.326814434448695</c:v>
                </c:pt>
                <c:pt idx="69">
                  <c:v>-2.3937379490399229</c:v>
                </c:pt>
                <c:pt idx="70">
                  <c:v>-2.5282973069894958</c:v>
                </c:pt>
              </c:numCache>
            </c:numRef>
          </c:yVal>
          <c:smooth val="0"/>
          <c:extLst>
            <c:ext xmlns:c16="http://schemas.microsoft.com/office/drawing/2014/chart" uri="{C3380CC4-5D6E-409C-BE32-E72D297353CC}">
              <c16:uniqueId val="{00000003-2515-40EB-ABD0-3A2332EA07F8}"/>
            </c:ext>
          </c:extLst>
        </c:ser>
        <c:dLbls>
          <c:showLegendKey val="0"/>
          <c:showVal val="0"/>
          <c:showCatName val="0"/>
          <c:showSerName val="0"/>
          <c:showPercent val="0"/>
          <c:showBubbleSize val="0"/>
        </c:dLbls>
        <c:axId val="-2128940872"/>
        <c:axId val="-2129643912"/>
      </c:scatterChart>
      <c:valAx>
        <c:axId val="-2128940872"/>
        <c:scaling>
          <c:orientation val="minMax"/>
          <c:max val="24100"/>
          <c:min val="20400"/>
        </c:scaling>
        <c:delete val="0"/>
        <c:axPos val="b"/>
        <c:majorGridlines>
          <c:spPr>
            <a:ln w="6350">
              <a:solidFill>
                <a:srgbClr val="FFFFFF">
                  <a:alpha val="18000"/>
                </a:srgbClr>
              </a:solidFill>
            </a:ln>
          </c:spPr>
        </c:majorGridlines>
        <c:title>
          <c:tx>
            <c:rich>
              <a:bodyPr/>
              <a:lstStyle/>
              <a:p>
                <a:r>
                  <a:rPr lang="en-IN" sz="1200" b="0">
                    <a:solidFill>
                      <a:srgbClr val="E6E0F2"/>
                    </a:solidFill>
                  </a:rPr>
                  <a:t>Strike</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title>
          <c:tx>
            <c:rich>
              <a:bodyPr/>
              <a:lstStyle/>
              <a:p>
                <a:r>
                  <a:rPr lang="en-IN" sz="1200" b="0">
                    <a:solidFill>
                      <a:srgbClr val="E6E0F2"/>
                    </a:solidFill>
                  </a:rPr>
                  <a:t>Rho (₹ per 1% rate)</a:t>
                </a:r>
              </a:p>
            </c:rich>
          </c:tx>
          <c:layout/>
          <c:overlay val="0"/>
        </c:title>
        <c:numFmt formatCode="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400" b="1">
                <a:solidFill>
                  <a:srgbClr val="FFFFFF"/>
                </a:solidFill>
              </a:rPr>
              <a:t>Vanna ∂</a:t>
            </a:r>
            <a:r>
              <a:rPr lang="el-GR" sz="1400" b="1">
                <a:solidFill>
                  <a:srgbClr val="FFFFFF"/>
                </a:solidFill>
              </a:rPr>
              <a:t>Δ/∂σ (</a:t>
            </a:r>
            <a:r>
              <a:rPr lang="en-IN" sz="1400" b="1">
                <a:solidFill>
                  <a:srgbClr val="FFFFFF"/>
                </a:solidFill>
              </a:rPr>
              <a:t>per vol pt)</a:t>
            </a:r>
          </a:p>
        </c:rich>
      </c:tx>
      <c:layout/>
      <c:overlay val="0"/>
    </c:title>
    <c:autoTitleDeleted val="0"/>
    <c:plotArea>
      <c:layout/>
      <c:scatterChart>
        <c:scatterStyle val="lineMarker"/>
        <c:varyColors val="0"/>
        <c:ser>
          <c:idx val="0"/>
          <c:order val="0"/>
          <c:tx>
            <c:strRef>
              <c:f>Sheet1!$B$1</c:f>
              <c:strCache>
                <c:ptCount val="1"/>
                <c:pt idx="0">
                  <c:v>10 days</c:v>
                </c:pt>
              </c:strCache>
            </c:strRef>
          </c:tx>
          <c:spPr>
            <a:ln w="28575">
              <a:solidFill>
                <a:srgbClr val="FFFFFF"/>
              </a:solidFill>
            </a:ln>
          </c:spPr>
          <c:marker>
            <c:symbol val="none"/>
          </c:marker>
          <c:xVal>
            <c:numRef>
              <c:f>Sheet1!$A$2:$A$72</c:f>
              <c:numCache>
                <c:formatCode>General</c:formatCode>
                <c:ptCount val="71"/>
                <c:pt idx="0">
                  <c:v>20450</c:v>
                </c:pt>
                <c:pt idx="1">
                  <c:v>20500</c:v>
                </c:pt>
                <c:pt idx="2">
                  <c:v>20550</c:v>
                </c:pt>
                <c:pt idx="3">
                  <c:v>20600</c:v>
                </c:pt>
                <c:pt idx="4">
                  <c:v>20650</c:v>
                </c:pt>
                <c:pt idx="5">
                  <c:v>20700</c:v>
                </c:pt>
                <c:pt idx="6">
                  <c:v>20750</c:v>
                </c:pt>
                <c:pt idx="7">
                  <c:v>20800</c:v>
                </c:pt>
                <c:pt idx="8">
                  <c:v>20850</c:v>
                </c:pt>
                <c:pt idx="9">
                  <c:v>20900</c:v>
                </c:pt>
                <c:pt idx="10">
                  <c:v>20950</c:v>
                </c:pt>
                <c:pt idx="11">
                  <c:v>21000</c:v>
                </c:pt>
                <c:pt idx="12">
                  <c:v>21050</c:v>
                </c:pt>
                <c:pt idx="13">
                  <c:v>21100</c:v>
                </c:pt>
                <c:pt idx="14">
                  <c:v>21150</c:v>
                </c:pt>
                <c:pt idx="15">
                  <c:v>21200</c:v>
                </c:pt>
                <c:pt idx="16">
                  <c:v>21250</c:v>
                </c:pt>
                <c:pt idx="17">
                  <c:v>21300</c:v>
                </c:pt>
                <c:pt idx="18">
                  <c:v>21350</c:v>
                </c:pt>
                <c:pt idx="19">
                  <c:v>21400</c:v>
                </c:pt>
                <c:pt idx="20">
                  <c:v>21450</c:v>
                </c:pt>
                <c:pt idx="21">
                  <c:v>21500</c:v>
                </c:pt>
                <c:pt idx="22">
                  <c:v>21550</c:v>
                </c:pt>
                <c:pt idx="23">
                  <c:v>21600</c:v>
                </c:pt>
                <c:pt idx="24">
                  <c:v>21650</c:v>
                </c:pt>
                <c:pt idx="25">
                  <c:v>21700</c:v>
                </c:pt>
                <c:pt idx="26">
                  <c:v>21750</c:v>
                </c:pt>
                <c:pt idx="27">
                  <c:v>21800</c:v>
                </c:pt>
                <c:pt idx="28">
                  <c:v>21850</c:v>
                </c:pt>
                <c:pt idx="29">
                  <c:v>21900</c:v>
                </c:pt>
                <c:pt idx="30">
                  <c:v>21950</c:v>
                </c:pt>
                <c:pt idx="31">
                  <c:v>22000</c:v>
                </c:pt>
                <c:pt idx="32">
                  <c:v>22050</c:v>
                </c:pt>
                <c:pt idx="33">
                  <c:v>22100</c:v>
                </c:pt>
                <c:pt idx="34">
                  <c:v>22150</c:v>
                </c:pt>
                <c:pt idx="35">
                  <c:v>22200</c:v>
                </c:pt>
                <c:pt idx="36">
                  <c:v>22250</c:v>
                </c:pt>
                <c:pt idx="37">
                  <c:v>22300</c:v>
                </c:pt>
                <c:pt idx="38">
                  <c:v>22350</c:v>
                </c:pt>
                <c:pt idx="39">
                  <c:v>22400</c:v>
                </c:pt>
                <c:pt idx="40">
                  <c:v>22450</c:v>
                </c:pt>
                <c:pt idx="41">
                  <c:v>22500</c:v>
                </c:pt>
                <c:pt idx="42">
                  <c:v>22550</c:v>
                </c:pt>
                <c:pt idx="43">
                  <c:v>22600</c:v>
                </c:pt>
                <c:pt idx="44">
                  <c:v>22650</c:v>
                </c:pt>
                <c:pt idx="45">
                  <c:v>22700</c:v>
                </c:pt>
                <c:pt idx="46">
                  <c:v>22750</c:v>
                </c:pt>
                <c:pt idx="47">
                  <c:v>22800</c:v>
                </c:pt>
                <c:pt idx="48">
                  <c:v>22850</c:v>
                </c:pt>
                <c:pt idx="49">
                  <c:v>22900</c:v>
                </c:pt>
                <c:pt idx="50">
                  <c:v>22950</c:v>
                </c:pt>
                <c:pt idx="51">
                  <c:v>23000</c:v>
                </c:pt>
                <c:pt idx="52">
                  <c:v>23050</c:v>
                </c:pt>
                <c:pt idx="53">
                  <c:v>23100</c:v>
                </c:pt>
                <c:pt idx="54">
                  <c:v>23150</c:v>
                </c:pt>
                <c:pt idx="55">
                  <c:v>23200</c:v>
                </c:pt>
                <c:pt idx="56">
                  <c:v>23250</c:v>
                </c:pt>
                <c:pt idx="57">
                  <c:v>23300</c:v>
                </c:pt>
                <c:pt idx="58">
                  <c:v>23350</c:v>
                </c:pt>
                <c:pt idx="59">
                  <c:v>23400</c:v>
                </c:pt>
                <c:pt idx="60">
                  <c:v>23450</c:v>
                </c:pt>
                <c:pt idx="61">
                  <c:v>23500</c:v>
                </c:pt>
                <c:pt idx="62">
                  <c:v>23550</c:v>
                </c:pt>
                <c:pt idx="63">
                  <c:v>23600</c:v>
                </c:pt>
                <c:pt idx="64">
                  <c:v>23650</c:v>
                </c:pt>
                <c:pt idx="65">
                  <c:v>23700</c:v>
                </c:pt>
                <c:pt idx="66">
                  <c:v>23750</c:v>
                </c:pt>
                <c:pt idx="67">
                  <c:v>23800</c:v>
                </c:pt>
                <c:pt idx="68">
                  <c:v>23850</c:v>
                </c:pt>
                <c:pt idx="69">
                  <c:v>23900</c:v>
                </c:pt>
                <c:pt idx="70">
                  <c:v>23950</c:v>
                </c:pt>
              </c:numCache>
            </c:numRef>
          </c:xVal>
          <c:yVal>
            <c:numRef>
              <c:f>Sheet1!$B$2:$B$72</c:f>
              <c:numCache>
                <c:formatCode>General</c:formatCode>
                <c:ptCount val="71"/>
                <c:pt idx="0">
                  <c:v>-2.9972663338759136E-3</c:v>
                </c:pt>
                <c:pt idx="1">
                  <c:v>-3.2332047960187396E-3</c:v>
                </c:pt>
                <c:pt idx="2">
                  <c:v>-3.4011498335988657E-3</c:v>
                </c:pt>
                <c:pt idx="3">
                  <c:v>-3.6422775890364578E-3</c:v>
                </c:pt>
                <c:pt idx="4">
                  <c:v>-3.9558059038379547E-3</c:v>
                </c:pt>
                <c:pt idx="5">
                  <c:v>-4.2268371948232086E-3</c:v>
                </c:pt>
                <c:pt idx="6">
                  <c:v>-4.5889756485696159E-3</c:v>
                </c:pt>
                <c:pt idx="7">
                  <c:v>-4.9329215178945014E-3</c:v>
                </c:pt>
                <c:pt idx="8">
                  <c:v>-5.3970153554476997E-3</c:v>
                </c:pt>
                <c:pt idx="9">
                  <c:v>-5.890023755313549E-3</c:v>
                </c:pt>
                <c:pt idx="10">
                  <c:v>-6.3996861537504047E-3</c:v>
                </c:pt>
                <c:pt idx="11">
                  <c:v>-7.0025153035245561E-3</c:v>
                </c:pt>
                <c:pt idx="12">
                  <c:v>-7.5652551514797566E-3</c:v>
                </c:pt>
                <c:pt idx="13">
                  <c:v>-8.1868554901453512E-3</c:v>
                </c:pt>
                <c:pt idx="14">
                  <c:v>-8.8789126752963562E-3</c:v>
                </c:pt>
                <c:pt idx="15">
                  <c:v>-9.6343535924007292E-3</c:v>
                </c:pt>
                <c:pt idx="16">
                  <c:v>-1.0406244113996566E-2</c:v>
                </c:pt>
                <c:pt idx="17">
                  <c:v>-1.123745071305321E-2</c:v>
                </c:pt>
                <c:pt idx="18">
                  <c:v>-1.2100500911624089E-2</c:v>
                </c:pt>
                <c:pt idx="19">
                  <c:v>-1.2935253912200958E-2</c:v>
                </c:pt>
                <c:pt idx="20">
                  <c:v>-1.3753327042177337E-2</c:v>
                </c:pt>
                <c:pt idx="21">
                  <c:v>-1.4488478612641492E-2</c:v>
                </c:pt>
                <c:pt idx="22">
                  <c:v>-1.5144091348894747E-2</c:v>
                </c:pt>
                <c:pt idx="23">
                  <c:v>-1.565338331453707E-2</c:v>
                </c:pt>
                <c:pt idx="24">
                  <c:v>-1.5929711179022678E-2</c:v>
                </c:pt>
                <c:pt idx="25">
                  <c:v>-1.5997974099774395E-2</c:v>
                </c:pt>
                <c:pt idx="26">
                  <c:v>-1.5798725589515422E-2</c:v>
                </c:pt>
                <c:pt idx="27">
                  <c:v>-1.5370456181084298E-2</c:v>
                </c:pt>
                <c:pt idx="28">
                  <c:v>-1.4470658146224532E-2</c:v>
                </c:pt>
                <c:pt idx="29">
                  <c:v>-1.3348201655339486E-2</c:v>
                </c:pt>
                <c:pt idx="30">
                  <c:v>-1.1751831098608166E-2</c:v>
                </c:pt>
                <c:pt idx="31">
                  <c:v>-9.8662421716930199E-3</c:v>
                </c:pt>
                <c:pt idx="32">
                  <c:v>-7.6398005271798028E-3</c:v>
                </c:pt>
                <c:pt idx="33">
                  <c:v>-5.0983612353080777E-3</c:v>
                </c:pt>
                <c:pt idx="34">
                  <c:v>-2.2790526950993237E-3</c:v>
                </c:pt>
                <c:pt idx="35">
                  <c:v>7.1365290406204078E-4</c:v>
                </c:pt>
                <c:pt idx="36">
                  <c:v>3.8185177707247909E-3</c:v>
                </c:pt>
                <c:pt idx="37">
                  <c:v>6.9054564669138322E-3</c:v>
                </c:pt>
                <c:pt idx="38">
                  <c:v>9.9334911414343148E-3</c:v>
                </c:pt>
                <c:pt idx="39">
                  <c:v>1.265494434352721E-2</c:v>
                </c:pt>
                <c:pt idx="40">
                  <c:v>1.5052688421732246E-2</c:v>
                </c:pt>
                <c:pt idx="41">
                  <c:v>1.7048067309023134E-2</c:v>
                </c:pt>
                <c:pt idx="42">
                  <c:v>1.8544489670046748E-2</c:v>
                </c:pt>
                <c:pt idx="43">
                  <c:v>1.944934042573947E-2</c:v>
                </c:pt>
                <c:pt idx="44">
                  <c:v>1.9782316613081809E-2</c:v>
                </c:pt>
                <c:pt idx="45">
                  <c:v>1.9620841252257295E-2</c:v>
                </c:pt>
                <c:pt idx="46">
                  <c:v>1.8993795077975394E-2</c:v>
                </c:pt>
                <c:pt idx="47">
                  <c:v>1.8079194278311384E-2</c:v>
                </c:pt>
                <c:pt idx="48">
                  <c:v>1.6978696058286443E-2</c:v>
                </c:pt>
                <c:pt idx="49">
                  <c:v>1.5731887944907291E-2</c:v>
                </c:pt>
                <c:pt idx="50">
                  <c:v>1.4460321769864885E-2</c:v>
                </c:pt>
                <c:pt idx="51">
                  <c:v>1.3216180771264187E-2</c:v>
                </c:pt>
                <c:pt idx="52">
                  <c:v>1.1966185604056209E-2</c:v>
                </c:pt>
                <c:pt idx="53">
                  <c:v>1.0747712695343855E-2</c:v>
                </c:pt>
                <c:pt idx="54">
                  <c:v>9.7599745702879881E-3</c:v>
                </c:pt>
                <c:pt idx="55">
                  <c:v>8.8475664322174453E-3</c:v>
                </c:pt>
                <c:pt idx="56">
                  <c:v>7.9865891230779459E-3</c:v>
                </c:pt>
                <c:pt idx="57">
                  <c:v>7.2315964214089076E-3</c:v>
                </c:pt>
                <c:pt idx="58">
                  <c:v>6.5955355044818474E-3</c:v>
                </c:pt>
                <c:pt idx="59">
                  <c:v>6.087693357324511E-3</c:v>
                </c:pt>
                <c:pt idx="60">
                  <c:v>5.5113345646180378E-3</c:v>
                </c:pt>
                <c:pt idx="61">
                  <c:v>5.1662737330204567E-3</c:v>
                </c:pt>
                <c:pt idx="62">
                  <c:v>4.7789391617284746E-3</c:v>
                </c:pt>
                <c:pt idx="63">
                  <c:v>4.44956222538448E-3</c:v>
                </c:pt>
                <c:pt idx="64">
                  <c:v>4.1050158569003008E-3</c:v>
                </c:pt>
                <c:pt idx="65">
                  <c:v>3.8504934154329645E-3</c:v>
                </c:pt>
                <c:pt idx="66">
                  <c:v>3.6830871302265152E-3</c:v>
                </c:pt>
                <c:pt idx="67">
                  <c:v>3.4247025995954574E-3</c:v>
                </c:pt>
                <c:pt idx="68">
                  <c:v>3.2146069119352179E-3</c:v>
                </c:pt>
                <c:pt idx="69">
                  <c:v>3.15280914682926E-3</c:v>
                </c:pt>
                <c:pt idx="70">
                  <c:v>2.8986097944383405E-3</c:v>
                </c:pt>
              </c:numCache>
            </c:numRef>
          </c:yVal>
          <c:smooth val="0"/>
          <c:extLst>
            <c:ext xmlns:c16="http://schemas.microsoft.com/office/drawing/2014/chart" uri="{C3380CC4-5D6E-409C-BE32-E72D297353CC}">
              <c16:uniqueId val="{00000000-54AB-4D91-B49C-399C0229EC4F}"/>
            </c:ext>
          </c:extLst>
        </c:ser>
        <c:ser>
          <c:idx val="1"/>
          <c:order val="1"/>
          <c:tx>
            <c:strRef>
              <c:f>Sheet1!$B$74</c:f>
              <c:strCache>
                <c:ptCount val="1"/>
                <c:pt idx="0">
                  <c:v>52 days</c:v>
                </c:pt>
              </c:strCache>
            </c:strRef>
          </c:tx>
          <c:spPr>
            <a:ln w="28575">
              <a:solidFill>
                <a:srgbClr val="FFD166"/>
              </a:solidFill>
            </a:ln>
          </c:spPr>
          <c:marker>
            <c:symbol val="none"/>
          </c:marker>
          <c:xVal>
            <c:numRef>
              <c:f>Sheet1!$A$75:$A$145</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Sheet1!$B$75:$B$145</c:f>
              <c:numCache>
                <c:formatCode>General</c:formatCode>
                <c:ptCount val="71"/>
                <c:pt idx="0">
                  <c:v>-1.2376486882967606E-2</c:v>
                </c:pt>
                <c:pt idx="1">
                  <c:v>-1.2733433929834215E-2</c:v>
                </c:pt>
                <c:pt idx="2">
                  <c:v>-1.2691595368078377E-2</c:v>
                </c:pt>
                <c:pt idx="3">
                  <c:v>-1.3392982123585495E-2</c:v>
                </c:pt>
                <c:pt idx="4">
                  <c:v>-1.3536015814190862E-2</c:v>
                </c:pt>
                <c:pt idx="5">
                  <c:v>-1.3907646686165752E-2</c:v>
                </c:pt>
                <c:pt idx="6">
                  <c:v>-1.4157167429696445E-2</c:v>
                </c:pt>
                <c:pt idx="7">
                  <c:v>-1.4333267525167444E-2</c:v>
                </c:pt>
                <c:pt idx="8">
                  <c:v>-1.4520022790325875E-2</c:v>
                </c:pt>
                <c:pt idx="9">
                  <c:v>-1.4719891209043288E-2</c:v>
                </c:pt>
                <c:pt idx="10">
                  <c:v>-1.4589515137965426E-2</c:v>
                </c:pt>
                <c:pt idx="11">
                  <c:v>-1.4945083353488261E-2</c:v>
                </c:pt>
                <c:pt idx="12">
                  <c:v>-1.495253898022368E-2</c:v>
                </c:pt>
                <c:pt idx="13">
                  <c:v>-1.4990181421043998E-2</c:v>
                </c:pt>
                <c:pt idx="14">
                  <c:v>-1.4900943795173021E-2</c:v>
                </c:pt>
                <c:pt idx="15">
                  <c:v>-1.4739261865875824E-2</c:v>
                </c:pt>
                <c:pt idx="16">
                  <c:v>-1.4640022358125448E-2</c:v>
                </c:pt>
                <c:pt idx="17">
                  <c:v>-1.4466936320505377E-2</c:v>
                </c:pt>
                <c:pt idx="18">
                  <c:v>-1.4184032651480381E-2</c:v>
                </c:pt>
                <c:pt idx="19">
                  <c:v>-1.3866406777896479E-2</c:v>
                </c:pt>
                <c:pt idx="20">
                  <c:v>-1.3437864871128616E-2</c:v>
                </c:pt>
                <c:pt idx="21">
                  <c:v>-1.3022601055993432E-2</c:v>
                </c:pt>
                <c:pt idx="22">
                  <c:v>-1.2481651520296714E-2</c:v>
                </c:pt>
                <c:pt idx="23">
                  <c:v>-1.1929086250232047E-2</c:v>
                </c:pt>
                <c:pt idx="24">
                  <c:v>-1.1212557848084045E-2</c:v>
                </c:pt>
                <c:pt idx="25">
                  <c:v>-1.0484283410613544E-2</c:v>
                </c:pt>
                <c:pt idx="26">
                  <c:v>-9.6880951652644227E-3</c:v>
                </c:pt>
                <c:pt idx="27">
                  <c:v>-8.7496133884427153E-3</c:v>
                </c:pt>
                <c:pt idx="28">
                  <c:v>-7.8564670938211009E-3</c:v>
                </c:pt>
                <c:pt idx="29">
                  <c:v>-6.8075771716394539E-3</c:v>
                </c:pt>
                <c:pt idx="30">
                  <c:v>-5.7636152735201117E-3</c:v>
                </c:pt>
                <c:pt idx="31">
                  <c:v>-4.7347104989964254E-3</c:v>
                </c:pt>
                <c:pt idx="32">
                  <c:v>-3.508082119476836E-3</c:v>
                </c:pt>
                <c:pt idx="33">
                  <c:v>-2.2911487931171612E-3</c:v>
                </c:pt>
                <c:pt idx="34">
                  <c:v>-1.0004437946192449E-3</c:v>
                </c:pt>
                <c:pt idx="35">
                  <c:v>3.2007526038277254E-4</c:v>
                </c:pt>
                <c:pt idx="36">
                  <c:v>1.6750663752521894E-3</c:v>
                </c:pt>
                <c:pt idx="37">
                  <c:v>3.0665945808448507E-3</c:v>
                </c:pt>
                <c:pt idx="38">
                  <c:v>4.4769642612381326E-3</c:v>
                </c:pt>
                <c:pt idx="39">
                  <c:v>5.8606246225081284E-3</c:v>
                </c:pt>
                <c:pt idx="40">
                  <c:v>7.3033046162590933E-3</c:v>
                </c:pt>
                <c:pt idx="41">
                  <c:v>8.6694408111108855E-3</c:v>
                </c:pt>
                <c:pt idx="42">
                  <c:v>1.0062441062561935E-2</c:v>
                </c:pt>
                <c:pt idx="43">
                  <c:v>1.1484624053285897E-2</c:v>
                </c:pt>
                <c:pt idx="44">
                  <c:v>1.2766793580637283E-2</c:v>
                </c:pt>
                <c:pt idx="45">
                  <c:v>1.3942841851943546E-2</c:v>
                </c:pt>
                <c:pt idx="46">
                  <c:v>1.5135524727868182E-2</c:v>
                </c:pt>
                <c:pt idx="47">
                  <c:v>1.6249062369600453E-2</c:v>
                </c:pt>
                <c:pt idx="48">
                  <c:v>1.7219783111757078E-2</c:v>
                </c:pt>
                <c:pt idx="49">
                  <c:v>1.8124195826752891E-2</c:v>
                </c:pt>
                <c:pt idx="50">
                  <c:v>1.897965132221683E-2</c:v>
                </c:pt>
                <c:pt idx="51">
                  <c:v>1.9604598801206671E-2</c:v>
                </c:pt>
                <c:pt idx="52">
                  <c:v>2.0106729847205726E-2</c:v>
                </c:pt>
                <c:pt idx="53">
                  <c:v>2.0590047317103871E-2</c:v>
                </c:pt>
                <c:pt idx="54">
                  <c:v>2.0903154838995422E-2</c:v>
                </c:pt>
                <c:pt idx="55">
                  <c:v>2.1050463585098753E-2</c:v>
                </c:pt>
                <c:pt idx="56">
                  <c:v>2.1132563980990251E-2</c:v>
                </c:pt>
                <c:pt idx="57">
                  <c:v>2.100591399428204E-2</c:v>
                </c:pt>
                <c:pt idx="58">
                  <c:v>2.0891677726981809E-2</c:v>
                </c:pt>
                <c:pt idx="59">
                  <c:v>2.060322160062715E-2</c:v>
                </c:pt>
                <c:pt idx="60">
                  <c:v>2.0290421726806458E-2</c:v>
                </c:pt>
                <c:pt idx="61">
                  <c:v>1.9928323400235277E-2</c:v>
                </c:pt>
                <c:pt idx="62">
                  <c:v>1.9442082216726636E-2</c:v>
                </c:pt>
                <c:pt idx="63">
                  <c:v>1.8939620982242285E-2</c:v>
                </c:pt>
                <c:pt idx="64">
                  <c:v>1.8377047245977277E-2</c:v>
                </c:pt>
                <c:pt idx="65">
                  <c:v>1.7792274742533358E-2</c:v>
                </c:pt>
                <c:pt idx="66">
                  <c:v>1.7247423252566549E-2</c:v>
                </c:pt>
                <c:pt idx="67">
                  <c:v>1.6549030620546152E-2</c:v>
                </c:pt>
                <c:pt idx="68">
                  <c:v>1.5984559455400442E-2</c:v>
                </c:pt>
                <c:pt idx="69">
                  <c:v>1.5372524890044393E-2</c:v>
                </c:pt>
                <c:pt idx="70">
                  <c:v>1.4157487100095414E-2</c:v>
                </c:pt>
              </c:numCache>
            </c:numRef>
          </c:yVal>
          <c:smooth val="0"/>
          <c:extLst>
            <c:ext xmlns:c16="http://schemas.microsoft.com/office/drawing/2014/chart" uri="{C3380CC4-5D6E-409C-BE32-E72D297353CC}">
              <c16:uniqueId val="{00000001-54AB-4D91-B49C-399C0229EC4F}"/>
            </c:ext>
          </c:extLst>
        </c:ser>
        <c:dLbls>
          <c:showLegendKey val="0"/>
          <c:showVal val="0"/>
          <c:showCatName val="0"/>
          <c:showSerName val="0"/>
          <c:showPercent val="0"/>
          <c:showBubbleSize val="0"/>
        </c:dLbls>
        <c:axId val="-2128940872"/>
        <c:axId val="-2129643912"/>
      </c:scatterChart>
      <c:valAx>
        <c:axId val="-2128940872"/>
        <c:scaling>
          <c:orientation val="minMax"/>
          <c:max val="24100"/>
          <c:min val="20400"/>
        </c:scaling>
        <c:delete val="0"/>
        <c:axPos val="b"/>
        <c:majorGridlines>
          <c:spPr>
            <a:ln w="6350">
              <a:solidFill>
                <a:srgbClr val="FFFFFF">
                  <a:alpha val="18000"/>
                </a:srgbClr>
              </a:solidFill>
            </a:ln>
          </c:spPr>
        </c:majorGridlines>
        <c:title>
          <c:tx>
            <c:rich>
              <a:bodyPr/>
              <a:lstStyle/>
              <a:p>
                <a:r>
                  <a:rPr lang="en-IN" sz="1200" b="0">
                    <a:solidFill>
                      <a:srgbClr val="E6E0F2"/>
                    </a:solidFill>
                  </a:rPr>
                  <a:t>Strike</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numFmt formatCode="0.0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400" b="1">
                <a:solidFill>
                  <a:srgbClr val="FFFFFF"/>
                </a:solidFill>
              </a:rPr>
              <a:t>Vomma ∂Vega/∂</a:t>
            </a:r>
            <a:r>
              <a:rPr lang="el-GR" sz="1400" b="1">
                <a:solidFill>
                  <a:srgbClr val="FFFFFF"/>
                </a:solidFill>
              </a:rPr>
              <a:t>σ (</a:t>
            </a:r>
            <a:r>
              <a:rPr lang="en-IN" sz="1400" b="1">
                <a:solidFill>
                  <a:srgbClr val="FFFFFF"/>
                </a:solidFill>
              </a:rPr>
              <a:t>₹ per vol pt²)</a:t>
            </a:r>
          </a:p>
        </c:rich>
      </c:tx>
      <c:layout/>
      <c:overlay val="0"/>
    </c:title>
    <c:autoTitleDeleted val="0"/>
    <c:plotArea>
      <c:layout/>
      <c:scatterChart>
        <c:scatterStyle val="lineMarker"/>
        <c:varyColors val="0"/>
        <c:ser>
          <c:idx val="0"/>
          <c:order val="0"/>
          <c:tx>
            <c:strRef>
              <c:f>Sheet1!$B$1</c:f>
              <c:strCache>
                <c:ptCount val="1"/>
                <c:pt idx="0">
                  <c:v>10 days</c:v>
                </c:pt>
              </c:strCache>
            </c:strRef>
          </c:tx>
          <c:spPr>
            <a:ln w="28575">
              <a:solidFill>
                <a:srgbClr val="FFFFFF"/>
              </a:solidFill>
            </a:ln>
          </c:spPr>
          <c:marker>
            <c:symbol val="none"/>
          </c:marker>
          <c:xVal>
            <c:numRef>
              <c:f>Sheet1!$A$2:$A$72</c:f>
              <c:numCache>
                <c:formatCode>General</c:formatCode>
                <c:ptCount val="71"/>
                <c:pt idx="0">
                  <c:v>20450</c:v>
                </c:pt>
                <c:pt idx="1">
                  <c:v>20500</c:v>
                </c:pt>
                <c:pt idx="2">
                  <c:v>20550</c:v>
                </c:pt>
                <c:pt idx="3">
                  <c:v>20600</c:v>
                </c:pt>
                <c:pt idx="4">
                  <c:v>20650</c:v>
                </c:pt>
                <c:pt idx="5">
                  <c:v>20700</c:v>
                </c:pt>
                <c:pt idx="6">
                  <c:v>20750</c:v>
                </c:pt>
                <c:pt idx="7">
                  <c:v>20800</c:v>
                </c:pt>
                <c:pt idx="8">
                  <c:v>20850</c:v>
                </c:pt>
                <c:pt idx="9">
                  <c:v>20900</c:v>
                </c:pt>
                <c:pt idx="10">
                  <c:v>20950</c:v>
                </c:pt>
                <c:pt idx="11">
                  <c:v>21000</c:v>
                </c:pt>
                <c:pt idx="12">
                  <c:v>21050</c:v>
                </c:pt>
                <c:pt idx="13">
                  <c:v>21100</c:v>
                </c:pt>
                <c:pt idx="14">
                  <c:v>21150</c:v>
                </c:pt>
                <c:pt idx="15">
                  <c:v>21200</c:v>
                </c:pt>
                <c:pt idx="16">
                  <c:v>21250</c:v>
                </c:pt>
                <c:pt idx="17">
                  <c:v>21300</c:v>
                </c:pt>
                <c:pt idx="18">
                  <c:v>21350</c:v>
                </c:pt>
                <c:pt idx="19">
                  <c:v>21400</c:v>
                </c:pt>
                <c:pt idx="20">
                  <c:v>21450</c:v>
                </c:pt>
                <c:pt idx="21">
                  <c:v>21500</c:v>
                </c:pt>
                <c:pt idx="22">
                  <c:v>21550</c:v>
                </c:pt>
                <c:pt idx="23">
                  <c:v>21600</c:v>
                </c:pt>
                <c:pt idx="24">
                  <c:v>21650</c:v>
                </c:pt>
                <c:pt idx="25">
                  <c:v>21700</c:v>
                </c:pt>
                <c:pt idx="26">
                  <c:v>21750</c:v>
                </c:pt>
                <c:pt idx="27">
                  <c:v>21800</c:v>
                </c:pt>
                <c:pt idx="28">
                  <c:v>21850</c:v>
                </c:pt>
                <c:pt idx="29">
                  <c:v>21900</c:v>
                </c:pt>
                <c:pt idx="30">
                  <c:v>21950</c:v>
                </c:pt>
                <c:pt idx="31">
                  <c:v>22000</c:v>
                </c:pt>
                <c:pt idx="32">
                  <c:v>22050</c:v>
                </c:pt>
                <c:pt idx="33">
                  <c:v>22100</c:v>
                </c:pt>
                <c:pt idx="34">
                  <c:v>22150</c:v>
                </c:pt>
                <c:pt idx="35">
                  <c:v>22200</c:v>
                </c:pt>
                <c:pt idx="36">
                  <c:v>22250</c:v>
                </c:pt>
                <c:pt idx="37">
                  <c:v>22300</c:v>
                </c:pt>
                <c:pt idx="38">
                  <c:v>22350</c:v>
                </c:pt>
                <c:pt idx="39">
                  <c:v>22400</c:v>
                </c:pt>
                <c:pt idx="40">
                  <c:v>22450</c:v>
                </c:pt>
                <c:pt idx="41">
                  <c:v>22500</c:v>
                </c:pt>
                <c:pt idx="42">
                  <c:v>22550</c:v>
                </c:pt>
                <c:pt idx="43">
                  <c:v>22600</c:v>
                </c:pt>
                <c:pt idx="44">
                  <c:v>22650</c:v>
                </c:pt>
                <c:pt idx="45">
                  <c:v>22700</c:v>
                </c:pt>
                <c:pt idx="46">
                  <c:v>22750</c:v>
                </c:pt>
                <c:pt idx="47">
                  <c:v>22800</c:v>
                </c:pt>
                <c:pt idx="48">
                  <c:v>22850</c:v>
                </c:pt>
                <c:pt idx="49">
                  <c:v>22900</c:v>
                </c:pt>
                <c:pt idx="50">
                  <c:v>22950</c:v>
                </c:pt>
                <c:pt idx="51">
                  <c:v>23000</c:v>
                </c:pt>
                <c:pt idx="52">
                  <c:v>23050</c:v>
                </c:pt>
                <c:pt idx="53">
                  <c:v>23100</c:v>
                </c:pt>
                <c:pt idx="54">
                  <c:v>23150</c:v>
                </c:pt>
                <c:pt idx="55">
                  <c:v>23200</c:v>
                </c:pt>
                <c:pt idx="56">
                  <c:v>23250</c:v>
                </c:pt>
                <c:pt idx="57">
                  <c:v>23300</c:v>
                </c:pt>
                <c:pt idx="58">
                  <c:v>23350</c:v>
                </c:pt>
                <c:pt idx="59">
                  <c:v>23400</c:v>
                </c:pt>
                <c:pt idx="60">
                  <c:v>23450</c:v>
                </c:pt>
                <c:pt idx="61">
                  <c:v>23500</c:v>
                </c:pt>
                <c:pt idx="62">
                  <c:v>23550</c:v>
                </c:pt>
                <c:pt idx="63">
                  <c:v>23600</c:v>
                </c:pt>
                <c:pt idx="64">
                  <c:v>23650</c:v>
                </c:pt>
                <c:pt idx="65">
                  <c:v>23700</c:v>
                </c:pt>
                <c:pt idx="66">
                  <c:v>23750</c:v>
                </c:pt>
                <c:pt idx="67">
                  <c:v>23800</c:v>
                </c:pt>
                <c:pt idx="68">
                  <c:v>23850</c:v>
                </c:pt>
                <c:pt idx="69">
                  <c:v>23900</c:v>
                </c:pt>
                <c:pt idx="70">
                  <c:v>23950</c:v>
                </c:pt>
              </c:numCache>
            </c:numRef>
          </c:xVal>
          <c:yVal>
            <c:numRef>
              <c:f>Sheet1!$B$2:$B$72</c:f>
              <c:numCache>
                <c:formatCode>General</c:formatCode>
                <c:ptCount val="71"/>
                <c:pt idx="0">
                  <c:v>0.25201159085365882</c:v>
                </c:pt>
                <c:pt idx="1">
                  <c:v>0.26797358100874408</c:v>
                </c:pt>
                <c:pt idx="2">
                  <c:v>0.28014525201246754</c:v>
                </c:pt>
                <c:pt idx="3">
                  <c:v>0.29636531617148887</c:v>
                </c:pt>
                <c:pt idx="4">
                  <c:v>0.31627213445264341</c:v>
                </c:pt>
                <c:pt idx="5">
                  <c:v>0.33394300746700895</c:v>
                </c:pt>
                <c:pt idx="6">
                  <c:v>0.35590841618584829</c:v>
                </c:pt>
                <c:pt idx="7">
                  <c:v>0.37691754523578608</c:v>
                </c:pt>
                <c:pt idx="8">
                  <c:v>0.40278252407967341</c:v>
                </c:pt>
                <c:pt idx="9">
                  <c:v>0.42919688544917145</c:v>
                </c:pt>
                <c:pt idx="10">
                  <c:v>0.45571305337588086</c:v>
                </c:pt>
                <c:pt idx="11">
                  <c:v>0.48428416273242358</c:v>
                </c:pt>
                <c:pt idx="12">
                  <c:v>0.51141782202593622</c:v>
                </c:pt>
                <c:pt idx="13">
                  <c:v>0.53949378860160857</c:v>
                </c:pt>
                <c:pt idx="14">
                  <c:v>0.56793449947208374</c:v>
                </c:pt>
                <c:pt idx="15">
                  <c:v>0.59552059833949378</c:v>
                </c:pt>
                <c:pt idx="16">
                  <c:v>0.62215161374089689</c:v>
                </c:pt>
                <c:pt idx="17">
                  <c:v>0.6454246407743609</c:v>
                </c:pt>
                <c:pt idx="18">
                  <c:v>0.66091274069135686</c:v>
                </c:pt>
                <c:pt idx="19">
                  <c:v>0.67751276005390626</c:v>
                </c:pt>
                <c:pt idx="20">
                  <c:v>0.68316681303460647</c:v>
                </c:pt>
                <c:pt idx="21">
                  <c:v>0.67686087111345228</c:v>
                </c:pt>
                <c:pt idx="22">
                  <c:v>0.6644337660450369</c:v>
                </c:pt>
                <c:pt idx="23">
                  <c:v>0.64020579901575558</c:v>
                </c:pt>
                <c:pt idx="24">
                  <c:v>0.60097704178522593</c:v>
                </c:pt>
                <c:pt idx="25">
                  <c:v>0.55297295583055239</c:v>
                </c:pt>
                <c:pt idx="26">
                  <c:v>0.49527108773350914</c:v>
                </c:pt>
                <c:pt idx="27">
                  <c:v>0.43294224759171407</c:v>
                </c:pt>
                <c:pt idx="28">
                  <c:v>0.35829449595311008</c:v>
                </c:pt>
                <c:pt idx="29">
                  <c:v>0.28613518874015759</c:v>
                </c:pt>
                <c:pt idx="30">
                  <c:v>0.21101076522830323</c:v>
                </c:pt>
                <c:pt idx="31">
                  <c:v>0.14284766163903007</c:v>
                </c:pt>
                <c:pt idx="32">
                  <c:v>8.3594156159460462E-2</c:v>
                </c:pt>
                <c:pt idx="33">
                  <c:v>3.7421270173311823E-2</c:v>
                </c:pt>
                <c:pt idx="34">
                  <c:v>8.3495992153081733E-3</c:v>
                </c:pt>
                <c:pt idx="35">
                  <c:v>4.8668054996610533E-5</c:v>
                </c:pt>
                <c:pt idx="36">
                  <c:v>1.4775740238020203E-2</c:v>
                </c:pt>
                <c:pt idx="37">
                  <c:v>5.3329858370330455E-2</c:v>
                </c:pt>
                <c:pt idx="38">
                  <c:v>0.11596163940458362</c:v>
                </c:pt>
                <c:pt idx="39">
                  <c:v>0.19777121283617019</c:v>
                </c:pt>
                <c:pt idx="40">
                  <c:v>0.29563696586067617</c:v>
                </c:pt>
                <c:pt idx="41">
                  <c:v>0.40435652359986235</c:v>
                </c:pt>
                <c:pt idx="42">
                  <c:v>0.51622684160246446</c:v>
                </c:pt>
                <c:pt idx="43">
                  <c:v>0.62074141427546747</c:v>
                </c:pt>
                <c:pt idx="44">
                  <c:v>0.71068671208249479</c:v>
                </c:pt>
                <c:pt idx="45">
                  <c:v>0.78246626790833729</c:v>
                </c:pt>
                <c:pt idx="46">
                  <c:v>0.8274462708211785</c:v>
                </c:pt>
                <c:pt idx="47">
                  <c:v>0.85173576935800488</c:v>
                </c:pt>
                <c:pt idx="48">
                  <c:v>0.86395448943880204</c:v>
                </c:pt>
                <c:pt idx="49">
                  <c:v>0.85241239816279546</c:v>
                </c:pt>
                <c:pt idx="50">
                  <c:v>0.82712745552530387</c:v>
                </c:pt>
                <c:pt idx="51">
                  <c:v>0.79340037068925684</c:v>
                </c:pt>
                <c:pt idx="52">
                  <c:v>0.75447493111011399</c:v>
                </c:pt>
                <c:pt idx="53">
                  <c:v>0.71017628568804392</c:v>
                </c:pt>
                <c:pt idx="54">
                  <c:v>0.6661781004124212</c:v>
                </c:pt>
                <c:pt idx="55">
                  <c:v>0.62278426644379925</c:v>
                </c:pt>
                <c:pt idx="56">
                  <c:v>0.57966796461087178</c:v>
                </c:pt>
                <c:pt idx="57">
                  <c:v>0.53915672529345149</c:v>
                </c:pt>
                <c:pt idx="58">
                  <c:v>0.50273414960896423</c:v>
                </c:pt>
                <c:pt idx="59">
                  <c:v>0.47170455021602398</c:v>
                </c:pt>
                <c:pt idx="60">
                  <c:v>0.43715882232056968</c:v>
                </c:pt>
                <c:pt idx="61">
                  <c:v>0.41389570115736807</c:v>
                </c:pt>
                <c:pt idx="62">
                  <c:v>0.38853611406078675</c:v>
                </c:pt>
                <c:pt idx="63">
                  <c:v>0.36624330070537608</c:v>
                </c:pt>
                <c:pt idx="64">
                  <c:v>0.34302763020791693</c:v>
                </c:pt>
                <c:pt idx="65">
                  <c:v>0.32492236634667943</c:v>
                </c:pt>
                <c:pt idx="66">
                  <c:v>0.31205121732783286</c:v>
                </c:pt>
                <c:pt idx="67">
                  <c:v>0.29380513640874778</c:v>
                </c:pt>
                <c:pt idx="68">
                  <c:v>0.2784607048810388</c:v>
                </c:pt>
                <c:pt idx="69">
                  <c:v>0.27244434896194775</c:v>
                </c:pt>
                <c:pt idx="70">
                  <c:v>0.2543952327091612</c:v>
                </c:pt>
              </c:numCache>
            </c:numRef>
          </c:yVal>
          <c:smooth val="0"/>
          <c:extLst>
            <c:ext xmlns:c16="http://schemas.microsoft.com/office/drawing/2014/chart" uri="{C3380CC4-5D6E-409C-BE32-E72D297353CC}">
              <c16:uniqueId val="{00000000-9ECB-46AF-B5C1-4646DFD78A87}"/>
            </c:ext>
          </c:extLst>
        </c:ser>
        <c:ser>
          <c:idx val="1"/>
          <c:order val="1"/>
          <c:tx>
            <c:strRef>
              <c:f>Sheet1!$B$74</c:f>
              <c:strCache>
                <c:ptCount val="1"/>
                <c:pt idx="0">
                  <c:v>52 days</c:v>
                </c:pt>
              </c:strCache>
            </c:strRef>
          </c:tx>
          <c:spPr>
            <a:ln w="28575">
              <a:solidFill>
                <a:srgbClr val="FFD166"/>
              </a:solidFill>
            </a:ln>
          </c:spPr>
          <c:marker>
            <c:symbol val="none"/>
          </c:marker>
          <c:xVal>
            <c:numRef>
              <c:f>Sheet1!$A$75:$A$145</c:f>
              <c:numCache>
                <c:formatCode>General</c:formatCode>
                <c:ptCount val="71"/>
                <c:pt idx="0">
                  <c:v>20650</c:v>
                </c:pt>
                <c:pt idx="1">
                  <c:v>20700</c:v>
                </c:pt>
                <c:pt idx="2">
                  <c:v>20750</c:v>
                </c:pt>
                <c:pt idx="3">
                  <c:v>20800</c:v>
                </c:pt>
                <c:pt idx="4">
                  <c:v>20850</c:v>
                </c:pt>
                <c:pt idx="5">
                  <c:v>20900</c:v>
                </c:pt>
                <c:pt idx="6">
                  <c:v>20950</c:v>
                </c:pt>
                <c:pt idx="7">
                  <c:v>21000</c:v>
                </c:pt>
                <c:pt idx="8">
                  <c:v>21050</c:v>
                </c:pt>
                <c:pt idx="9">
                  <c:v>21100</c:v>
                </c:pt>
                <c:pt idx="10">
                  <c:v>21150</c:v>
                </c:pt>
                <c:pt idx="11">
                  <c:v>21200</c:v>
                </c:pt>
                <c:pt idx="12">
                  <c:v>21250</c:v>
                </c:pt>
                <c:pt idx="13">
                  <c:v>21300</c:v>
                </c:pt>
                <c:pt idx="14">
                  <c:v>21350</c:v>
                </c:pt>
                <c:pt idx="15">
                  <c:v>21400</c:v>
                </c:pt>
                <c:pt idx="16">
                  <c:v>21450</c:v>
                </c:pt>
                <c:pt idx="17">
                  <c:v>21500</c:v>
                </c:pt>
                <c:pt idx="18">
                  <c:v>21550</c:v>
                </c:pt>
                <c:pt idx="19">
                  <c:v>21600</c:v>
                </c:pt>
                <c:pt idx="20">
                  <c:v>21650</c:v>
                </c:pt>
                <c:pt idx="21">
                  <c:v>21700</c:v>
                </c:pt>
                <c:pt idx="22">
                  <c:v>21750</c:v>
                </c:pt>
                <c:pt idx="23">
                  <c:v>21800</c:v>
                </c:pt>
                <c:pt idx="24">
                  <c:v>21850</c:v>
                </c:pt>
                <c:pt idx="25">
                  <c:v>21900</c:v>
                </c:pt>
                <c:pt idx="26">
                  <c:v>21950</c:v>
                </c:pt>
                <c:pt idx="27">
                  <c:v>22000</c:v>
                </c:pt>
                <c:pt idx="28">
                  <c:v>22050</c:v>
                </c:pt>
                <c:pt idx="29">
                  <c:v>22100</c:v>
                </c:pt>
                <c:pt idx="30">
                  <c:v>22150</c:v>
                </c:pt>
                <c:pt idx="31">
                  <c:v>22200</c:v>
                </c:pt>
                <c:pt idx="32">
                  <c:v>22250</c:v>
                </c:pt>
                <c:pt idx="33">
                  <c:v>22300</c:v>
                </c:pt>
                <c:pt idx="34">
                  <c:v>22350</c:v>
                </c:pt>
                <c:pt idx="35">
                  <c:v>22400</c:v>
                </c:pt>
                <c:pt idx="36">
                  <c:v>22450</c:v>
                </c:pt>
                <c:pt idx="37">
                  <c:v>22500</c:v>
                </c:pt>
                <c:pt idx="38">
                  <c:v>22550</c:v>
                </c:pt>
                <c:pt idx="39">
                  <c:v>22600</c:v>
                </c:pt>
                <c:pt idx="40">
                  <c:v>22650</c:v>
                </c:pt>
                <c:pt idx="41">
                  <c:v>22700</c:v>
                </c:pt>
                <c:pt idx="42">
                  <c:v>22750</c:v>
                </c:pt>
                <c:pt idx="43">
                  <c:v>22800</c:v>
                </c:pt>
                <c:pt idx="44">
                  <c:v>22850</c:v>
                </c:pt>
                <c:pt idx="45">
                  <c:v>22900</c:v>
                </c:pt>
                <c:pt idx="46">
                  <c:v>22950</c:v>
                </c:pt>
                <c:pt idx="47">
                  <c:v>23000</c:v>
                </c:pt>
                <c:pt idx="48">
                  <c:v>23050</c:v>
                </c:pt>
                <c:pt idx="49">
                  <c:v>23100</c:v>
                </c:pt>
                <c:pt idx="50">
                  <c:v>23150</c:v>
                </c:pt>
                <c:pt idx="51">
                  <c:v>23200</c:v>
                </c:pt>
                <c:pt idx="52">
                  <c:v>23250</c:v>
                </c:pt>
                <c:pt idx="53">
                  <c:v>23300</c:v>
                </c:pt>
                <c:pt idx="54">
                  <c:v>23350</c:v>
                </c:pt>
                <c:pt idx="55">
                  <c:v>23400</c:v>
                </c:pt>
                <c:pt idx="56">
                  <c:v>23450</c:v>
                </c:pt>
                <c:pt idx="57">
                  <c:v>23500</c:v>
                </c:pt>
                <c:pt idx="58">
                  <c:v>23550</c:v>
                </c:pt>
                <c:pt idx="59">
                  <c:v>23600</c:v>
                </c:pt>
                <c:pt idx="60">
                  <c:v>23650</c:v>
                </c:pt>
                <c:pt idx="61">
                  <c:v>23700</c:v>
                </c:pt>
                <c:pt idx="62">
                  <c:v>23750</c:v>
                </c:pt>
                <c:pt idx="63">
                  <c:v>23800</c:v>
                </c:pt>
                <c:pt idx="64">
                  <c:v>23850</c:v>
                </c:pt>
                <c:pt idx="65">
                  <c:v>23900</c:v>
                </c:pt>
                <c:pt idx="66">
                  <c:v>23950</c:v>
                </c:pt>
                <c:pt idx="67">
                  <c:v>24000</c:v>
                </c:pt>
                <c:pt idx="68">
                  <c:v>24050</c:v>
                </c:pt>
                <c:pt idx="69">
                  <c:v>24100</c:v>
                </c:pt>
                <c:pt idx="70">
                  <c:v>24200</c:v>
                </c:pt>
              </c:numCache>
            </c:numRef>
          </c:xVal>
          <c:yVal>
            <c:numRef>
              <c:f>Sheet1!$B$75:$B$145</c:f>
              <c:numCache>
                <c:formatCode>General</c:formatCode>
                <c:ptCount val="71"/>
                <c:pt idx="0">
                  <c:v>1.4389401621107163</c:v>
                </c:pt>
                <c:pt idx="1">
                  <c:v>1.4613342850045672</c:v>
                </c:pt>
                <c:pt idx="2">
                  <c:v>1.3438911007959455</c:v>
                </c:pt>
                <c:pt idx="3">
                  <c:v>1.4721379171163398</c:v>
                </c:pt>
                <c:pt idx="4">
                  <c:v>1.4215800104437051</c:v>
                </c:pt>
                <c:pt idx="5">
                  <c:v>1.4397276884040993</c:v>
                </c:pt>
                <c:pt idx="6">
                  <c:v>1.4249777716570697</c:v>
                </c:pt>
                <c:pt idx="7">
                  <c:v>1.3953387628197644</c:v>
                </c:pt>
                <c:pt idx="8">
                  <c:v>1.3704673296026646</c:v>
                </c:pt>
                <c:pt idx="9">
                  <c:v>1.3493237612668685</c:v>
                </c:pt>
                <c:pt idx="10">
                  <c:v>1.272872327810997</c:v>
                </c:pt>
                <c:pt idx="11">
                  <c:v>1.2798631678354322</c:v>
                </c:pt>
                <c:pt idx="12">
                  <c:v>1.2316371500945655</c:v>
                </c:pt>
                <c:pt idx="13">
                  <c:v>1.1903234799063049</c:v>
                </c:pt>
                <c:pt idx="14">
                  <c:v>1.1339217821914949</c:v>
                </c:pt>
                <c:pt idx="15">
                  <c:v>1.0717535858817027</c:v>
                </c:pt>
                <c:pt idx="16">
                  <c:v>1.0203262303986014</c:v>
                </c:pt>
                <c:pt idx="17">
                  <c:v>0.96306304464559311</c:v>
                </c:pt>
                <c:pt idx="18">
                  <c:v>0.89739669922880805</c:v>
                </c:pt>
                <c:pt idx="19">
                  <c:v>0.83212618942675198</c:v>
                </c:pt>
                <c:pt idx="20">
                  <c:v>0.76073604093868308</c:v>
                </c:pt>
                <c:pt idx="21">
                  <c:v>0.69495557589651014</c:v>
                </c:pt>
                <c:pt idx="22">
                  <c:v>0.62358005077844814</c:v>
                </c:pt>
                <c:pt idx="23">
                  <c:v>0.55635059145638277</c:v>
                </c:pt>
                <c:pt idx="24">
                  <c:v>0.48332092935153509</c:v>
                </c:pt>
                <c:pt idx="25">
                  <c:v>0.41573268106670652</c:v>
                </c:pt>
                <c:pt idx="26">
                  <c:v>0.35043366494748085</c:v>
                </c:pt>
                <c:pt idx="27">
                  <c:v>0.28472718195795543</c:v>
                </c:pt>
                <c:pt idx="28">
                  <c:v>0.22830995070932736</c:v>
                </c:pt>
                <c:pt idx="29">
                  <c:v>0.17297737130708613</c:v>
                </c:pt>
                <c:pt idx="30">
                  <c:v>0.12579580421434311</c:v>
                </c:pt>
                <c:pt idx="31">
                  <c:v>8.6662581493111873E-2</c:v>
                </c:pt>
                <c:pt idx="32">
                  <c:v>5.1070908965324992E-2</c:v>
                </c:pt>
                <c:pt idx="33">
                  <c:v>2.4867919809558908E-2</c:v>
                </c:pt>
                <c:pt idx="34">
                  <c:v>7.0857519039941863E-3</c:v>
                </c:pt>
                <c:pt idx="35">
                  <c:v>-1.0517322535116642E-3</c:v>
                </c:pt>
                <c:pt idx="36">
                  <c:v>9.229312022101837E-4</c:v>
                </c:pt>
                <c:pt idx="37">
                  <c:v>1.3629241279186665E-2</c:v>
                </c:pt>
                <c:pt idx="38">
                  <c:v>3.7496219848863796E-2</c:v>
                </c:pt>
                <c:pt idx="39">
                  <c:v>7.2014488819808195E-2</c:v>
                </c:pt>
                <c:pt idx="40">
                  <c:v>0.11931940835949359</c:v>
                </c:pt>
                <c:pt idx="41">
                  <c:v>0.17619062493759574</c:v>
                </c:pt>
                <c:pt idx="42">
                  <c:v>0.24578876492958093</c:v>
                </c:pt>
                <c:pt idx="43">
                  <c:v>0.32927884932824958</c:v>
                </c:pt>
                <c:pt idx="44">
                  <c:v>0.4187791715429503</c:v>
                </c:pt>
                <c:pt idx="45">
                  <c:v>0.51426273395941291</c:v>
                </c:pt>
                <c:pt idx="46">
                  <c:v>0.62273556469265867</c:v>
                </c:pt>
                <c:pt idx="47">
                  <c:v>0.73836039364322503</c:v>
                </c:pt>
                <c:pt idx="48">
                  <c:v>0.85520683891974114</c:v>
                </c:pt>
                <c:pt idx="49">
                  <c:v>0.97827112853862475</c:v>
                </c:pt>
                <c:pt idx="50">
                  <c:v>1.1092359936709006</c:v>
                </c:pt>
                <c:pt idx="51">
                  <c:v>1.2284475186022981</c:v>
                </c:pt>
                <c:pt idx="52">
                  <c:v>1.3442453572069033</c:v>
                </c:pt>
                <c:pt idx="53">
                  <c:v>1.4687566097809903</c:v>
                </c:pt>
                <c:pt idx="54">
                  <c:v>1.5819319689451761</c:v>
                </c:pt>
                <c:pt idx="55">
                  <c:v>1.6807554298624947</c:v>
                </c:pt>
                <c:pt idx="56">
                  <c:v>1.7789153872446333</c:v>
                </c:pt>
                <c:pt idx="57">
                  <c:v>1.8483571199948463</c:v>
                </c:pt>
                <c:pt idx="58">
                  <c:v>1.9290424155262051</c:v>
                </c:pt>
                <c:pt idx="59">
                  <c:v>1.9797595612377805</c:v>
                </c:pt>
                <c:pt idx="60">
                  <c:v>2.0328706219528203</c:v>
                </c:pt>
                <c:pt idx="61">
                  <c:v>2.0847861363397637</c:v>
                </c:pt>
                <c:pt idx="62">
                  <c:v>2.1024665544348138</c:v>
                </c:pt>
                <c:pt idx="63">
                  <c:v>2.127599491049549</c:v>
                </c:pt>
                <c:pt idx="64">
                  <c:v>2.1263838791714007</c:v>
                </c:pt>
                <c:pt idx="65">
                  <c:v>2.1231233062286043</c:v>
                </c:pt>
                <c:pt idx="66">
                  <c:v>2.0694539887525991</c:v>
                </c:pt>
                <c:pt idx="67">
                  <c:v>2.0969731932268796</c:v>
                </c:pt>
                <c:pt idx="68">
                  <c:v>2.0587931250514138</c:v>
                </c:pt>
                <c:pt idx="69">
                  <c:v>2.028739374739307</c:v>
                </c:pt>
                <c:pt idx="70">
                  <c:v>1.9563800372865789</c:v>
                </c:pt>
              </c:numCache>
            </c:numRef>
          </c:yVal>
          <c:smooth val="0"/>
          <c:extLst>
            <c:ext xmlns:c16="http://schemas.microsoft.com/office/drawing/2014/chart" uri="{C3380CC4-5D6E-409C-BE32-E72D297353CC}">
              <c16:uniqueId val="{00000001-9ECB-46AF-B5C1-4646DFD78A87}"/>
            </c:ext>
          </c:extLst>
        </c:ser>
        <c:dLbls>
          <c:showLegendKey val="0"/>
          <c:showVal val="0"/>
          <c:showCatName val="0"/>
          <c:showSerName val="0"/>
          <c:showPercent val="0"/>
          <c:showBubbleSize val="0"/>
        </c:dLbls>
        <c:axId val="-2128940872"/>
        <c:axId val="-2129643912"/>
      </c:scatterChart>
      <c:valAx>
        <c:axId val="-2128940872"/>
        <c:scaling>
          <c:orientation val="minMax"/>
          <c:max val="24100"/>
          <c:min val="20400"/>
        </c:scaling>
        <c:delete val="0"/>
        <c:axPos val="b"/>
        <c:majorGridlines>
          <c:spPr>
            <a:ln w="6350">
              <a:solidFill>
                <a:srgbClr val="FFFFFF">
                  <a:alpha val="18000"/>
                </a:srgbClr>
              </a:solidFill>
            </a:ln>
          </c:spPr>
        </c:majorGridlines>
        <c:title>
          <c:tx>
            <c:rich>
              <a:bodyPr/>
              <a:lstStyle/>
              <a:p>
                <a:r>
                  <a:rPr lang="en-IN" sz="1200" b="0">
                    <a:solidFill>
                      <a:srgbClr val="E6E0F2"/>
                    </a:solidFill>
                  </a:rPr>
                  <a:t>Strike</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numFmt formatCode="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400" b="1">
                <a:solidFill>
                  <a:srgbClr val="FFFFFF"/>
                </a:solidFill>
              </a:rPr>
              <a:t>ATM gamma (×10⁻⁴)</a:t>
            </a:r>
          </a:p>
        </c:rich>
      </c:tx>
      <c:layout/>
      <c:overlay val="0"/>
    </c:title>
    <c:autoTitleDeleted val="0"/>
    <c:plotArea>
      <c:layout/>
      <c:scatterChart>
        <c:scatterStyle val="lineMarker"/>
        <c:varyColors val="0"/>
        <c:ser>
          <c:idx val="0"/>
          <c:order val="0"/>
          <c:tx>
            <c:strRef>
              <c:f>Sheet1!$B$1</c:f>
              <c:strCache>
                <c:ptCount val="1"/>
                <c:pt idx="0">
                  <c:v>ATM gamma</c:v>
                </c:pt>
              </c:strCache>
            </c:strRef>
          </c:tx>
          <c:spPr>
            <a:ln w="28575">
              <a:solidFill>
                <a:srgbClr val="FFFFFF"/>
              </a:solidFill>
            </a:ln>
          </c:spPr>
          <c:marker>
            <c:symbol val="none"/>
          </c:marker>
          <c:xVal>
            <c:numRef>
              <c:f>Sheet1!$A$2:$A$60</c:f>
              <c:numCache>
                <c:formatCode>General</c:formatCode>
                <c:ptCount val="59"/>
                <c:pt idx="0">
                  <c:v>-85</c:v>
                </c:pt>
                <c:pt idx="1">
                  <c:v>-84</c:v>
                </c:pt>
                <c:pt idx="2">
                  <c:v>-83</c:v>
                </c:pt>
                <c:pt idx="3">
                  <c:v>-80</c:v>
                </c:pt>
                <c:pt idx="4">
                  <c:v>-79</c:v>
                </c:pt>
                <c:pt idx="5">
                  <c:v>-78</c:v>
                </c:pt>
                <c:pt idx="6">
                  <c:v>-77</c:v>
                </c:pt>
                <c:pt idx="7">
                  <c:v>-76</c:v>
                </c:pt>
                <c:pt idx="8">
                  <c:v>-73</c:v>
                </c:pt>
                <c:pt idx="9">
                  <c:v>-72</c:v>
                </c:pt>
                <c:pt idx="10">
                  <c:v>-71</c:v>
                </c:pt>
                <c:pt idx="11">
                  <c:v>-70</c:v>
                </c:pt>
                <c:pt idx="12">
                  <c:v>-69</c:v>
                </c:pt>
                <c:pt idx="13">
                  <c:v>-66</c:v>
                </c:pt>
                <c:pt idx="14">
                  <c:v>-65</c:v>
                </c:pt>
                <c:pt idx="15">
                  <c:v>-64</c:v>
                </c:pt>
                <c:pt idx="16">
                  <c:v>-63</c:v>
                </c:pt>
                <c:pt idx="17">
                  <c:v>-62</c:v>
                </c:pt>
                <c:pt idx="18">
                  <c:v>-59</c:v>
                </c:pt>
                <c:pt idx="19">
                  <c:v>-58</c:v>
                </c:pt>
                <c:pt idx="20">
                  <c:v>-57</c:v>
                </c:pt>
                <c:pt idx="21">
                  <c:v>-56</c:v>
                </c:pt>
                <c:pt idx="22">
                  <c:v>-55</c:v>
                </c:pt>
                <c:pt idx="23">
                  <c:v>-52</c:v>
                </c:pt>
                <c:pt idx="24">
                  <c:v>-51</c:v>
                </c:pt>
                <c:pt idx="25">
                  <c:v>-50</c:v>
                </c:pt>
                <c:pt idx="26">
                  <c:v>-49</c:v>
                </c:pt>
                <c:pt idx="27">
                  <c:v>-48</c:v>
                </c:pt>
                <c:pt idx="28">
                  <c:v>-45</c:v>
                </c:pt>
                <c:pt idx="29">
                  <c:v>-44</c:v>
                </c:pt>
                <c:pt idx="30">
                  <c:v>-43</c:v>
                </c:pt>
                <c:pt idx="31">
                  <c:v>-42</c:v>
                </c:pt>
                <c:pt idx="32">
                  <c:v>-41</c:v>
                </c:pt>
                <c:pt idx="33">
                  <c:v>-38</c:v>
                </c:pt>
                <c:pt idx="34">
                  <c:v>-37</c:v>
                </c:pt>
                <c:pt idx="35">
                  <c:v>-36</c:v>
                </c:pt>
                <c:pt idx="36">
                  <c:v>-35</c:v>
                </c:pt>
                <c:pt idx="37">
                  <c:v>-34</c:v>
                </c:pt>
                <c:pt idx="38">
                  <c:v>-31</c:v>
                </c:pt>
                <c:pt idx="39">
                  <c:v>-30</c:v>
                </c:pt>
                <c:pt idx="40">
                  <c:v>-28</c:v>
                </c:pt>
                <c:pt idx="41">
                  <c:v>-27</c:v>
                </c:pt>
                <c:pt idx="42">
                  <c:v>-24</c:v>
                </c:pt>
                <c:pt idx="43">
                  <c:v>-23</c:v>
                </c:pt>
                <c:pt idx="44">
                  <c:v>-22</c:v>
                </c:pt>
                <c:pt idx="45">
                  <c:v>-21</c:v>
                </c:pt>
                <c:pt idx="46">
                  <c:v>-20</c:v>
                </c:pt>
                <c:pt idx="47">
                  <c:v>-17</c:v>
                </c:pt>
                <c:pt idx="48">
                  <c:v>-16</c:v>
                </c:pt>
                <c:pt idx="49">
                  <c:v>-15</c:v>
                </c:pt>
                <c:pt idx="50">
                  <c:v>-14</c:v>
                </c:pt>
                <c:pt idx="51">
                  <c:v>-10</c:v>
                </c:pt>
                <c:pt idx="52">
                  <c:v>-9</c:v>
                </c:pt>
                <c:pt idx="53">
                  <c:v>-8</c:v>
                </c:pt>
                <c:pt idx="54">
                  <c:v>-7</c:v>
                </c:pt>
                <c:pt idx="55">
                  <c:v>-6</c:v>
                </c:pt>
                <c:pt idx="56">
                  <c:v>-3</c:v>
                </c:pt>
                <c:pt idx="57">
                  <c:v>-2</c:v>
                </c:pt>
                <c:pt idx="58">
                  <c:v>-1</c:v>
                </c:pt>
              </c:numCache>
            </c:numRef>
          </c:xVal>
          <c:yVal>
            <c:numRef>
              <c:f>Sheet1!$B$2:$B$60</c:f>
              <c:numCache>
                <c:formatCode>General</c:formatCode>
                <c:ptCount val="59"/>
                <c:pt idx="0">
                  <c:v>2.2781749801633868</c:v>
                </c:pt>
                <c:pt idx="1">
                  <c:v>2.5586661890701587</c:v>
                </c:pt>
                <c:pt idx="2">
                  <c:v>2.5114771471836606</c:v>
                </c:pt>
                <c:pt idx="3">
                  <c:v>2.4355895588309586</c:v>
                </c:pt>
                <c:pt idx="4">
                  <c:v>2.5242616406780729</c:v>
                </c:pt>
                <c:pt idx="5">
                  <c:v>2.3858938654506407</c:v>
                </c:pt>
                <c:pt idx="6">
                  <c:v>2.4990920743309966</c:v>
                </c:pt>
                <c:pt idx="7">
                  <c:v>2.6018421570641452</c:v>
                </c:pt>
                <c:pt idx="8">
                  <c:v>2.4783491912801647</c:v>
                </c:pt>
                <c:pt idx="9">
                  <c:v>2.4795170533984998</c:v>
                </c:pt>
                <c:pt idx="10">
                  <c:v>2.44655112962697</c:v>
                </c:pt>
                <c:pt idx="11">
                  <c:v>2.510910710525053</c:v>
                </c:pt>
                <c:pt idx="12">
                  <c:v>2.616755357103365</c:v>
                </c:pt>
                <c:pt idx="13">
                  <c:v>2.5427881137353796</c:v>
                </c:pt>
                <c:pt idx="14">
                  <c:v>2.5294219548222485</c:v>
                </c:pt>
                <c:pt idx="15">
                  <c:v>2.5027645939486867</c:v>
                </c:pt>
                <c:pt idx="16">
                  <c:v>2.5554910748399911</c:v>
                </c:pt>
                <c:pt idx="17">
                  <c:v>2.5684691163172024</c:v>
                </c:pt>
                <c:pt idx="18">
                  <c:v>2.4885492264984581</c:v>
                </c:pt>
                <c:pt idx="19">
                  <c:v>2.5478986610408341</c:v>
                </c:pt>
                <c:pt idx="20">
                  <c:v>2.5017804979807652</c:v>
                </c:pt>
                <c:pt idx="21">
                  <c:v>2.8220435546346936</c:v>
                </c:pt>
                <c:pt idx="22">
                  <c:v>2.9634690727937922</c:v>
                </c:pt>
                <c:pt idx="23">
                  <c:v>3.2160090641372565</c:v>
                </c:pt>
                <c:pt idx="24">
                  <c:v>3.393929544529025</c:v>
                </c:pt>
                <c:pt idx="25">
                  <c:v>3.421859038443845</c:v>
                </c:pt>
                <c:pt idx="26">
                  <c:v>3.4194034843791425</c:v>
                </c:pt>
                <c:pt idx="27">
                  <c:v>3.5543712160142271</c:v>
                </c:pt>
                <c:pt idx="28">
                  <c:v>3.5040525529022633</c:v>
                </c:pt>
                <c:pt idx="29">
                  <c:v>3.4671888274001543</c:v>
                </c:pt>
                <c:pt idx="30">
                  <c:v>3.5749160206244786</c:v>
                </c:pt>
                <c:pt idx="31">
                  <c:v>3.6009441660586443</c:v>
                </c:pt>
                <c:pt idx="32">
                  <c:v>3.6076686142479217</c:v>
                </c:pt>
                <c:pt idx="33">
                  <c:v>3.588820523598673</c:v>
                </c:pt>
                <c:pt idx="34">
                  <c:v>3.6961044667812</c:v>
                </c:pt>
                <c:pt idx="35">
                  <c:v>3.8066884151543872</c:v>
                </c:pt>
                <c:pt idx="36">
                  <c:v>4.0254620816136706</c:v>
                </c:pt>
                <c:pt idx="37">
                  <c:v>4.1522292407261654</c:v>
                </c:pt>
                <c:pt idx="38">
                  <c:v>4.4449605319352292</c:v>
                </c:pt>
                <c:pt idx="39">
                  <c:v>4.6904040958148885</c:v>
                </c:pt>
                <c:pt idx="40">
                  <c:v>4.9680104442605773</c:v>
                </c:pt>
                <c:pt idx="41">
                  <c:v>4.9861945020944578</c:v>
                </c:pt>
                <c:pt idx="42">
                  <c:v>5.2709542394761835</c:v>
                </c:pt>
                <c:pt idx="43">
                  <c:v>5.4138715332722382</c:v>
                </c:pt>
                <c:pt idx="44">
                  <c:v>5.6225659335163369</c:v>
                </c:pt>
                <c:pt idx="45">
                  <c:v>5.7028987990194437</c:v>
                </c:pt>
                <c:pt idx="46">
                  <c:v>6.038242966756572</c:v>
                </c:pt>
                <c:pt idx="47">
                  <c:v>6.184113385979626</c:v>
                </c:pt>
                <c:pt idx="48">
                  <c:v>6.2726908174358451</c:v>
                </c:pt>
                <c:pt idx="49">
                  <c:v>6.9076797018473721</c:v>
                </c:pt>
                <c:pt idx="50">
                  <c:v>7.5995588891404129</c:v>
                </c:pt>
                <c:pt idx="51">
                  <c:v>8.4953116029791538</c:v>
                </c:pt>
                <c:pt idx="52">
                  <c:v>9.2119987063330306</c:v>
                </c:pt>
                <c:pt idx="53">
                  <c:v>9.520944234141627</c:v>
                </c:pt>
                <c:pt idx="54">
                  <c:v>11.658010427965436</c:v>
                </c:pt>
                <c:pt idx="55">
                  <c:v>12.486071018242773</c:v>
                </c:pt>
                <c:pt idx="56">
                  <c:v>11.817342815368761</c:v>
                </c:pt>
                <c:pt idx="57">
                  <c:v>14.931667236878239</c:v>
                </c:pt>
                <c:pt idx="58">
                  <c:v>19.775925999171278</c:v>
                </c:pt>
              </c:numCache>
            </c:numRef>
          </c:yVal>
          <c:smooth val="0"/>
          <c:extLst>
            <c:ext xmlns:c16="http://schemas.microsoft.com/office/drawing/2014/chart" uri="{C3380CC4-5D6E-409C-BE32-E72D297353CC}">
              <c16:uniqueId val="{00000000-BCCC-407A-86A8-A70C1DC44DC8}"/>
            </c:ext>
          </c:extLst>
        </c:ser>
        <c:dLbls>
          <c:showLegendKey val="0"/>
          <c:showVal val="0"/>
          <c:showCatName val="0"/>
          <c:showSerName val="0"/>
          <c:showPercent val="0"/>
          <c:showBubbleSize val="0"/>
        </c:dLbls>
        <c:axId val="-2128940872"/>
        <c:axId val="-2129643912"/>
      </c:scatterChart>
      <c:valAx>
        <c:axId val="-2128940872"/>
        <c:scaling>
          <c:orientation val="minMax"/>
          <c:max val="0"/>
          <c:min val="-90"/>
        </c:scaling>
        <c:delete val="0"/>
        <c:axPos val="b"/>
        <c:majorGridlines>
          <c:spPr>
            <a:ln w="6350">
              <a:solidFill>
                <a:srgbClr val="FFFFFF">
                  <a:alpha val="18000"/>
                </a:srgbClr>
              </a:solidFill>
            </a:ln>
          </c:spPr>
        </c:majorGridlines>
        <c:title>
          <c:tx>
            <c:rich>
              <a:bodyPr/>
              <a:lstStyle/>
              <a:p>
                <a:r>
                  <a:rPr lang="en-IN" sz="1200" b="0">
                    <a:solidFill>
                      <a:srgbClr val="E6E0F2"/>
                    </a:solidFill>
                  </a:rPr>
                  <a:t>Days to expiry</a:t>
                </a:r>
              </a:p>
            </c:rich>
          </c:tx>
          <c:layout/>
          <c:overlay val="0"/>
        </c:title>
        <c:numFmt formatCode="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400" b="1">
                <a:solidFill>
                  <a:srgbClr val="FFFFFF"/>
                </a:solidFill>
              </a:rPr>
              <a:t>ATM theta (₹ per day)</a:t>
            </a:r>
          </a:p>
        </c:rich>
      </c:tx>
      <c:layout/>
      <c:overlay val="0"/>
    </c:title>
    <c:autoTitleDeleted val="0"/>
    <c:plotArea>
      <c:layout/>
      <c:scatterChart>
        <c:scatterStyle val="lineMarker"/>
        <c:varyColors val="0"/>
        <c:ser>
          <c:idx val="0"/>
          <c:order val="0"/>
          <c:tx>
            <c:strRef>
              <c:f>Sheet1!$B$1</c:f>
              <c:strCache>
                <c:ptCount val="1"/>
                <c:pt idx="0">
                  <c:v>ATM theta</c:v>
                </c:pt>
              </c:strCache>
            </c:strRef>
          </c:tx>
          <c:spPr>
            <a:ln w="28575">
              <a:solidFill>
                <a:srgbClr val="FFD166"/>
              </a:solidFill>
            </a:ln>
          </c:spPr>
          <c:marker>
            <c:symbol val="none"/>
          </c:marker>
          <c:xVal>
            <c:numRef>
              <c:f>Sheet1!$A$2:$A$60</c:f>
              <c:numCache>
                <c:formatCode>General</c:formatCode>
                <c:ptCount val="59"/>
                <c:pt idx="0">
                  <c:v>-85</c:v>
                </c:pt>
                <c:pt idx="1">
                  <c:v>-84</c:v>
                </c:pt>
                <c:pt idx="2">
                  <c:v>-83</c:v>
                </c:pt>
                <c:pt idx="3">
                  <c:v>-80</c:v>
                </c:pt>
                <c:pt idx="4">
                  <c:v>-79</c:v>
                </c:pt>
                <c:pt idx="5">
                  <c:v>-78</c:v>
                </c:pt>
                <c:pt idx="6">
                  <c:v>-77</c:v>
                </c:pt>
                <c:pt idx="7">
                  <c:v>-76</c:v>
                </c:pt>
                <c:pt idx="8">
                  <c:v>-73</c:v>
                </c:pt>
                <c:pt idx="9">
                  <c:v>-72</c:v>
                </c:pt>
                <c:pt idx="10">
                  <c:v>-71</c:v>
                </c:pt>
                <c:pt idx="11">
                  <c:v>-70</c:v>
                </c:pt>
                <c:pt idx="12">
                  <c:v>-69</c:v>
                </c:pt>
                <c:pt idx="13">
                  <c:v>-66</c:v>
                </c:pt>
                <c:pt idx="14">
                  <c:v>-65</c:v>
                </c:pt>
                <c:pt idx="15">
                  <c:v>-64</c:v>
                </c:pt>
                <c:pt idx="16">
                  <c:v>-63</c:v>
                </c:pt>
                <c:pt idx="17">
                  <c:v>-62</c:v>
                </c:pt>
                <c:pt idx="18">
                  <c:v>-59</c:v>
                </c:pt>
                <c:pt idx="19">
                  <c:v>-58</c:v>
                </c:pt>
                <c:pt idx="20">
                  <c:v>-57</c:v>
                </c:pt>
                <c:pt idx="21">
                  <c:v>-56</c:v>
                </c:pt>
                <c:pt idx="22">
                  <c:v>-55</c:v>
                </c:pt>
                <c:pt idx="23">
                  <c:v>-52</c:v>
                </c:pt>
                <c:pt idx="24">
                  <c:v>-51</c:v>
                </c:pt>
                <c:pt idx="25">
                  <c:v>-50</c:v>
                </c:pt>
                <c:pt idx="26">
                  <c:v>-49</c:v>
                </c:pt>
                <c:pt idx="27">
                  <c:v>-48</c:v>
                </c:pt>
                <c:pt idx="28">
                  <c:v>-45</c:v>
                </c:pt>
                <c:pt idx="29">
                  <c:v>-44</c:v>
                </c:pt>
                <c:pt idx="30">
                  <c:v>-43</c:v>
                </c:pt>
                <c:pt idx="31">
                  <c:v>-42</c:v>
                </c:pt>
                <c:pt idx="32">
                  <c:v>-41</c:v>
                </c:pt>
                <c:pt idx="33">
                  <c:v>-38</c:v>
                </c:pt>
                <c:pt idx="34">
                  <c:v>-37</c:v>
                </c:pt>
                <c:pt idx="35">
                  <c:v>-36</c:v>
                </c:pt>
                <c:pt idx="36">
                  <c:v>-35</c:v>
                </c:pt>
                <c:pt idx="37">
                  <c:v>-34</c:v>
                </c:pt>
                <c:pt idx="38">
                  <c:v>-31</c:v>
                </c:pt>
                <c:pt idx="39">
                  <c:v>-30</c:v>
                </c:pt>
                <c:pt idx="40">
                  <c:v>-28</c:v>
                </c:pt>
                <c:pt idx="41">
                  <c:v>-27</c:v>
                </c:pt>
                <c:pt idx="42">
                  <c:v>-24</c:v>
                </c:pt>
                <c:pt idx="43">
                  <c:v>-23</c:v>
                </c:pt>
                <c:pt idx="44">
                  <c:v>-22</c:v>
                </c:pt>
                <c:pt idx="45">
                  <c:v>-21</c:v>
                </c:pt>
                <c:pt idx="46">
                  <c:v>-20</c:v>
                </c:pt>
                <c:pt idx="47">
                  <c:v>-17</c:v>
                </c:pt>
                <c:pt idx="48">
                  <c:v>-16</c:v>
                </c:pt>
                <c:pt idx="49">
                  <c:v>-15</c:v>
                </c:pt>
                <c:pt idx="50">
                  <c:v>-14</c:v>
                </c:pt>
                <c:pt idx="51">
                  <c:v>-10</c:v>
                </c:pt>
                <c:pt idx="52">
                  <c:v>-9</c:v>
                </c:pt>
                <c:pt idx="53">
                  <c:v>-8</c:v>
                </c:pt>
                <c:pt idx="54">
                  <c:v>-7</c:v>
                </c:pt>
                <c:pt idx="55">
                  <c:v>-6</c:v>
                </c:pt>
                <c:pt idx="56">
                  <c:v>-3</c:v>
                </c:pt>
                <c:pt idx="57">
                  <c:v>-2</c:v>
                </c:pt>
                <c:pt idx="58">
                  <c:v>-1</c:v>
                </c:pt>
              </c:numCache>
            </c:numRef>
          </c:xVal>
          <c:yVal>
            <c:numRef>
              <c:f>Sheet1!$B$2:$B$60</c:f>
              <c:numCache>
                <c:formatCode>General</c:formatCode>
                <c:ptCount val="59"/>
                <c:pt idx="0">
                  <c:v>-3.9099183466960694</c:v>
                </c:pt>
                <c:pt idx="1">
                  <c:v>-3.339389900209992</c:v>
                </c:pt>
                <c:pt idx="2">
                  <c:v>-3.3657203791447232</c:v>
                </c:pt>
                <c:pt idx="3">
                  <c:v>-3.7653012395432004</c:v>
                </c:pt>
                <c:pt idx="4">
                  <c:v>-3.7365928665783112</c:v>
                </c:pt>
                <c:pt idx="5">
                  <c:v>-3.8633016319576927</c:v>
                </c:pt>
                <c:pt idx="6">
                  <c:v>-3.8180698253104315</c:v>
                </c:pt>
                <c:pt idx="7">
                  <c:v>-3.8123342754864775</c:v>
                </c:pt>
                <c:pt idx="8">
                  <c:v>-4.0880500229253105</c:v>
                </c:pt>
                <c:pt idx="9">
                  <c:v>-3.9130987126315206</c:v>
                </c:pt>
                <c:pt idx="10">
                  <c:v>-4.104673230976819</c:v>
                </c:pt>
                <c:pt idx="11">
                  <c:v>-4.1287227575444891</c:v>
                </c:pt>
                <c:pt idx="12">
                  <c:v>-4.2796010949393759</c:v>
                </c:pt>
                <c:pt idx="13">
                  <c:v>-4.4127619303722767</c:v>
                </c:pt>
                <c:pt idx="14">
                  <c:v>-4.5877974380210444</c:v>
                </c:pt>
                <c:pt idx="15">
                  <c:v>-4.4522737158548837</c:v>
                </c:pt>
                <c:pt idx="16">
                  <c:v>-4.4984956773659368</c:v>
                </c:pt>
                <c:pt idx="17">
                  <c:v>-4.6558478014861393</c:v>
                </c:pt>
                <c:pt idx="18">
                  <c:v>-4.948895539412371</c:v>
                </c:pt>
                <c:pt idx="19">
                  <c:v>-4.9770480664739978</c:v>
                </c:pt>
                <c:pt idx="20">
                  <c:v>-5.136755575277431</c:v>
                </c:pt>
                <c:pt idx="21">
                  <c:v>-4.9759641641338908</c:v>
                </c:pt>
                <c:pt idx="22">
                  <c:v>-4.568158059415687</c:v>
                </c:pt>
                <c:pt idx="23">
                  <c:v>-4.413612701937093</c:v>
                </c:pt>
                <c:pt idx="24">
                  <c:v>-4.3665766558316008</c:v>
                </c:pt>
                <c:pt idx="25">
                  <c:v>-4.5047979556404405</c:v>
                </c:pt>
                <c:pt idx="26">
                  <c:v>-4.5453005174936223</c:v>
                </c:pt>
                <c:pt idx="27">
                  <c:v>-4.4449195059989943</c:v>
                </c:pt>
                <c:pt idx="28">
                  <c:v>-4.8044277748963022</c:v>
                </c:pt>
                <c:pt idx="29">
                  <c:v>-4.8371535228252247</c:v>
                </c:pt>
                <c:pt idx="30">
                  <c:v>-4.8652082348070573</c:v>
                </c:pt>
                <c:pt idx="31">
                  <c:v>-5.0187892722066128</c:v>
                </c:pt>
                <c:pt idx="32">
                  <c:v>-5.0780593832538008</c:v>
                </c:pt>
                <c:pt idx="33">
                  <c:v>-5.4873377572386284</c:v>
                </c:pt>
                <c:pt idx="34">
                  <c:v>-5.6106074978214204</c:v>
                </c:pt>
                <c:pt idx="35">
                  <c:v>-5.6522914626499672</c:v>
                </c:pt>
                <c:pt idx="36">
                  <c:v>-5.3571656731790398</c:v>
                </c:pt>
                <c:pt idx="37">
                  <c:v>-5.4801465040259361</c:v>
                </c:pt>
                <c:pt idx="38">
                  <c:v>-5.5553806687758334</c:v>
                </c:pt>
                <c:pt idx="39">
                  <c:v>-5.3848948080521053</c:v>
                </c:pt>
                <c:pt idx="40">
                  <c:v>-5.4656984822242851</c:v>
                </c:pt>
                <c:pt idx="41">
                  <c:v>-5.771241899652594</c:v>
                </c:pt>
                <c:pt idx="42">
                  <c:v>-6.0806813900238152</c:v>
                </c:pt>
                <c:pt idx="43">
                  <c:v>-6.1801602828888251</c:v>
                </c:pt>
                <c:pt idx="44">
                  <c:v>-6.2824367779856027</c:v>
                </c:pt>
                <c:pt idx="45">
                  <c:v>-6.4746560487641309</c:v>
                </c:pt>
                <c:pt idx="46">
                  <c:v>-6.4663409930440965</c:v>
                </c:pt>
                <c:pt idx="47">
                  <c:v>-7.326635458988477</c:v>
                </c:pt>
                <c:pt idx="48">
                  <c:v>-7.684962636331405</c:v>
                </c:pt>
                <c:pt idx="49">
                  <c:v>-7.4658495939489411</c:v>
                </c:pt>
                <c:pt idx="50">
                  <c:v>-7.3341044857906317</c:v>
                </c:pt>
                <c:pt idx="51">
                  <c:v>-9.2759605980483144</c:v>
                </c:pt>
                <c:pt idx="52">
                  <c:v>-9.5387054232593194</c:v>
                </c:pt>
                <c:pt idx="53">
                  <c:v>-10.274861287844089</c:v>
                </c:pt>
                <c:pt idx="54">
                  <c:v>-9.6652763148220231</c:v>
                </c:pt>
                <c:pt idx="55">
                  <c:v>-10.492303054179553</c:v>
                </c:pt>
                <c:pt idx="56">
                  <c:v>-22.325183972178699</c:v>
                </c:pt>
                <c:pt idx="57">
                  <c:v>-26.546142089144617</c:v>
                </c:pt>
                <c:pt idx="58">
                  <c:v>-39.780513940732469</c:v>
                </c:pt>
              </c:numCache>
            </c:numRef>
          </c:yVal>
          <c:smooth val="0"/>
          <c:extLst>
            <c:ext xmlns:c16="http://schemas.microsoft.com/office/drawing/2014/chart" uri="{C3380CC4-5D6E-409C-BE32-E72D297353CC}">
              <c16:uniqueId val="{00000000-1999-4445-B4D6-F084E00EFE69}"/>
            </c:ext>
          </c:extLst>
        </c:ser>
        <c:dLbls>
          <c:showLegendKey val="0"/>
          <c:showVal val="0"/>
          <c:showCatName val="0"/>
          <c:showSerName val="0"/>
          <c:showPercent val="0"/>
          <c:showBubbleSize val="0"/>
        </c:dLbls>
        <c:axId val="-2128940872"/>
        <c:axId val="-2129643912"/>
      </c:scatterChart>
      <c:valAx>
        <c:axId val="-2128940872"/>
        <c:scaling>
          <c:orientation val="minMax"/>
          <c:max val="0"/>
          <c:min val="-90"/>
        </c:scaling>
        <c:delete val="0"/>
        <c:axPos val="b"/>
        <c:majorGridlines>
          <c:spPr>
            <a:ln w="6350">
              <a:solidFill>
                <a:srgbClr val="FFFFFF">
                  <a:alpha val="18000"/>
                </a:srgbClr>
              </a:solidFill>
            </a:ln>
          </c:spPr>
        </c:majorGridlines>
        <c:title>
          <c:tx>
            <c:rich>
              <a:bodyPr/>
              <a:lstStyle/>
              <a:p>
                <a:r>
                  <a:rPr lang="en-IN" sz="1200" b="0">
                    <a:solidFill>
                      <a:srgbClr val="E6E0F2"/>
                    </a:solidFill>
                  </a:rPr>
                  <a:t>Days to expiry</a:t>
                </a:r>
              </a:p>
            </c:rich>
          </c:tx>
          <c:layout/>
          <c:overlay val="0"/>
        </c:title>
        <c:numFmt formatCode="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3 days</c:v>
                </c:pt>
              </c:strCache>
            </c:strRef>
          </c:tx>
          <c:spPr>
            <a:ln w="28575">
              <a:solidFill>
                <a:srgbClr val="FFFFFF"/>
              </a:solidFill>
            </a:ln>
          </c:spPr>
          <c:marker>
            <c:symbol val="none"/>
          </c:marker>
          <c:xVal>
            <c:numRef>
              <c:f>Sheet1!$A$2:$A$86</c:f>
              <c:numCache>
                <c:formatCode>General</c:formatCode>
                <c:ptCount val="85"/>
                <c:pt idx="0">
                  <c:v>0.91867576543005625</c:v>
                </c:pt>
                <c:pt idx="1">
                  <c:v>0.92093295404290654</c:v>
                </c:pt>
                <c:pt idx="2">
                  <c:v>0.92319014265575683</c:v>
                </c:pt>
                <c:pt idx="3">
                  <c:v>0.92544733126860701</c:v>
                </c:pt>
                <c:pt idx="4">
                  <c:v>0.9277045198814573</c:v>
                </c:pt>
                <c:pt idx="5">
                  <c:v>0.92996170849430759</c:v>
                </c:pt>
                <c:pt idx="6">
                  <c:v>0.93221889710715788</c:v>
                </c:pt>
                <c:pt idx="7">
                  <c:v>0.93447608572000807</c:v>
                </c:pt>
                <c:pt idx="8">
                  <c:v>0.93673327433285836</c:v>
                </c:pt>
                <c:pt idx="9">
                  <c:v>0.93899046294570865</c:v>
                </c:pt>
                <c:pt idx="10">
                  <c:v>0.94124765155855883</c:v>
                </c:pt>
                <c:pt idx="11">
                  <c:v>0.94350484017140912</c:v>
                </c:pt>
                <c:pt idx="12">
                  <c:v>0.94576202878425941</c:v>
                </c:pt>
                <c:pt idx="13">
                  <c:v>0.9480192173971097</c:v>
                </c:pt>
                <c:pt idx="14">
                  <c:v>0.95027640600995988</c:v>
                </c:pt>
                <c:pt idx="15">
                  <c:v>0.95253359462281018</c:v>
                </c:pt>
                <c:pt idx="16">
                  <c:v>0.95479078323566047</c:v>
                </c:pt>
                <c:pt idx="17">
                  <c:v>0.95704797184851065</c:v>
                </c:pt>
                <c:pt idx="18">
                  <c:v>0.95930516046136094</c:v>
                </c:pt>
                <c:pt idx="19">
                  <c:v>0.96156234907421123</c:v>
                </c:pt>
                <c:pt idx="20">
                  <c:v>0.96381953768706152</c:v>
                </c:pt>
                <c:pt idx="21">
                  <c:v>0.9660767262999117</c:v>
                </c:pt>
                <c:pt idx="22">
                  <c:v>0.96833391491276199</c:v>
                </c:pt>
                <c:pt idx="23">
                  <c:v>0.97059110352561229</c:v>
                </c:pt>
                <c:pt idx="24">
                  <c:v>0.97284829213846258</c:v>
                </c:pt>
                <c:pt idx="25">
                  <c:v>0.97510548075131276</c:v>
                </c:pt>
                <c:pt idx="26">
                  <c:v>0.97736266936416305</c:v>
                </c:pt>
                <c:pt idx="27">
                  <c:v>0.97961985797701334</c:v>
                </c:pt>
                <c:pt idx="28">
                  <c:v>0.98187704658986352</c:v>
                </c:pt>
                <c:pt idx="29">
                  <c:v>0.98413423520271381</c:v>
                </c:pt>
                <c:pt idx="30">
                  <c:v>0.98639142381556411</c:v>
                </c:pt>
                <c:pt idx="31">
                  <c:v>0.9886486124284144</c:v>
                </c:pt>
                <c:pt idx="32">
                  <c:v>0.99090580104126458</c:v>
                </c:pt>
                <c:pt idx="33">
                  <c:v>0.99316298965411487</c:v>
                </c:pt>
                <c:pt idx="34">
                  <c:v>0.99542017826696516</c:v>
                </c:pt>
                <c:pt idx="35">
                  <c:v>0.99767736687981545</c:v>
                </c:pt>
                <c:pt idx="36">
                  <c:v>0.99993455549266563</c:v>
                </c:pt>
                <c:pt idx="37">
                  <c:v>1.0021917441055159</c:v>
                </c:pt>
                <c:pt idx="38">
                  <c:v>1.0044489327183661</c:v>
                </c:pt>
                <c:pt idx="39">
                  <c:v>1.0067061213312165</c:v>
                </c:pt>
                <c:pt idx="40">
                  <c:v>1.0089633099440667</c:v>
                </c:pt>
                <c:pt idx="41">
                  <c:v>1.0112204985569169</c:v>
                </c:pt>
                <c:pt idx="42">
                  <c:v>1.0134776871697673</c:v>
                </c:pt>
                <c:pt idx="43">
                  <c:v>1.0157348757826175</c:v>
                </c:pt>
                <c:pt idx="44">
                  <c:v>1.0179920643954679</c:v>
                </c:pt>
                <c:pt idx="45">
                  <c:v>1.020249253008318</c:v>
                </c:pt>
                <c:pt idx="46">
                  <c:v>1.0225064416211682</c:v>
                </c:pt>
                <c:pt idx="47">
                  <c:v>1.0247636302340186</c:v>
                </c:pt>
                <c:pt idx="48">
                  <c:v>1.0270208188468688</c:v>
                </c:pt>
                <c:pt idx="49">
                  <c:v>1.029278007459719</c:v>
                </c:pt>
                <c:pt idx="50">
                  <c:v>1.0315351960725694</c:v>
                </c:pt>
                <c:pt idx="51">
                  <c:v>1.0337923846854196</c:v>
                </c:pt>
                <c:pt idx="52">
                  <c:v>1.0360495732982697</c:v>
                </c:pt>
                <c:pt idx="53">
                  <c:v>1.0383067619111201</c:v>
                </c:pt>
                <c:pt idx="54">
                  <c:v>1.0405639505239703</c:v>
                </c:pt>
                <c:pt idx="55">
                  <c:v>1.0428211391368207</c:v>
                </c:pt>
                <c:pt idx="56">
                  <c:v>1.0450783277496709</c:v>
                </c:pt>
                <c:pt idx="57">
                  <c:v>1.0473355163625211</c:v>
                </c:pt>
                <c:pt idx="58">
                  <c:v>1.0495927049753715</c:v>
                </c:pt>
                <c:pt idx="59">
                  <c:v>1.0518498935882217</c:v>
                </c:pt>
                <c:pt idx="60">
                  <c:v>1.0541070822010719</c:v>
                </c:pt>
                <c:pt idx="61">
                  <c:v>1.0563642708139223</c:v>
                </c:pt>
                <c:pt idx="62">
                  <c:v>1.0586214594267724</c:v>
                </c:pt>
                <c:pt idx="63">
                  <c:v>1.0608786480396226</c:v>
                </c:pt>
                <c:pt idx="64">
                  <c:v>1.063135836652473</c:v>
                </c:pt>
                <c:pt idx="65">
                  <c:v>1.0653930252653232</c:v>
                </c:pt>
                <c:pt idx="66">
                  <c:v>1.0676502138781736</c:v>
                </c:pt>
                <c:pt idx="67">
                  <c:v>1.0699074024910238</c:v>
                </c:pt>
                <c:pt idx="68">
                  <c:v>1.072164591103874</c:v>
                </c:pt>
                <c:pt idx="69">
                  <c:v>1.0744217797167244</c:v>
                </c:pt>
                <c:pt idx="70">
                  <c:v>1.0766789683295745</c:v>
                </c:pt>
                <c:pt idx="71">
                  <c:v>1.0789361569424247</c:v>
                </c:pt>
                <c:pt idx="72">
                  <c:v>1.0811933455552751</c:v>
                </c:pt>
                <c:pt idx="73">
                  <c:v>1.0834505341681253</c:v>
                </c:pt>
                <c:pt idx="74">
                  <c:v>1.0857077227809755</c:v>
                </c:pt>
                <c:pt idx="75">
                  <c:v>1.0879649113938259</c:v>
                </c:pt>
                <c:pt idx="76">
                  <c:v>1.0902221000066761</c:v>
                </c:pt>
                <c:pt idx="77">
                  <c:v>1.0924792886195263</c:v>
                </c:pt>
                <c:pt idx="78">
                  <c:v>1.0947364772323767</c:v>
                </c:pt>
                <c:pt idx="79">
                  <c:v>1.0969936658452268</c:v>
                </c:pt>
                <c:pt idx="80">
                  <c:v>1.0992508544580772</c:v>
                </c:pt>
                <c:pt idx="81">
                  <c:v>1.0992508544580772</c:v>
                </c:pt>
                <c:pt idx="82">
                  <c:v>1.0992508544580772</c:v>
                </c:pt>
                <c:pt idx="83">
                  <c:v>1.0992508544580772</c:v>
                </c:pt>
                <c:pt idx="84">
                  <c:v>1.0992508544580772</c:v>
                </c:pt>
              </c:numCache>
            </c:numRef>
          </c:xVal>
          <c:yVal>
            <c:numRef>
              <c:f>Sheet1!$B$2:$B$86</c:f>
              <c:numCache>
                <c:formatCode>General</c:formatCode>
                <c:ptCount val="85"/>
                <c:pt idx="0">
                  <c:v>34.08905900643542</c:v>
                </c:pt>
                <c:pt idx="1">
                  <c:v>33.195502469659885</c:v>
                </c:pt>
                <c:pt idx="2">
                  <c:v>32.563519930992747</c:v>
                </c:pt>
                <c:pt idx="3">
                  <c:v>31.664221090682197</c:v>
                </c:pt>
                <c:pt idx="4">
                  <c:v>30.76493281758038</c:v>
                </c:pt>
                <c:pt idx="5">
                  <c:v>30.095302958716317</c:v>
                </c:pt>
                <c:pt idx="6">
                  <c:v>29.40252439560852</c:v>
                </c:pt>
                <c:pt idx="7">
                  <c:v>28.491487834817587</c:v>
                </c:pt>
                <c:pt idx="8">
                  <c:v>27.955408552716186</c:v>
                </c:pt>
                <c:pt idx="9">
                  <c:v>27.033186472229154</c:v>
                </c:pt>
                <c:pt idx="10">
                  <c:v>26.436096032018487</c:v>
                </c:pt>
                <c:pt idx="11">
                  <c:v>25.796219183911319</c:v>
                </c:pt>
                <c:pt idx="12">
                  <c:v>25.369138297387796</c:v>
                </c:pt>
                <c:pt idx="13">
                  <c:v>24.96052098088002</c:v>
                </c:pt>
                <c:pt idx="14">
                  <c:v>24.177655152289091</c:v>
                </c:pt>
                <c:pt idx="15">
                  <c:v>23.631776151157723</c:v>
                </c:pt>
                <c:pt idx="16">
                  <c:v>23.016353404849838</c:v>
                </c:pt>
                <c:pt idx="17">
                  <c:v>22.408662378650547</c:v>
                </c:pt>
                <c:pt idx="18">
                  <c:v>21.617138771671542</c:v>
                </c:pt>
                <c:pt idx="19">
                  <c:v>21.060789144177122</c:v>
                </c:pt>
                <c:pt idx="20">
                  <c:v>20.418338498217402</c:v>
                </c:pt>
                <c:pt idx="21">
                  <c:v>19.784801418173696</c:v>
                </c:pt>
                <c:pt idx="22">
                  <c:v>19.24670691138834</c:v>
                </c:pt>
                <c:pt idx="23">
                  <c:v>18.747084905197163</c:v>
                </c:pt>
                <c:pt idx="24">
                  <c:v>18.116966338972063</c:v>
                </c:pt>
                <c:pt idx="25">
                  <c:v>17.580241585244011</c:v>
                </c:pt>
                <c:pt idx="26">
                  <c:v>17.203730397002325</c:v>
                </c:pt>
                <c:pt idx="27">
                  <c:v>16.819982967326201</c:v>
                </c:pt>
                <c:pt idx="28">
                  <c:v>16.522952339730544</c:v>
                </c:pt>
                <c:pt idx="29">
                  <c:v>16.276772655101375</c:v>
                </c:pt>
                <c:pt idx="30">
                  <c:v>15.983705150925765</c:v>
                </c:pt>
                <c:pt idx="31">
                  <c:v>15.689785620708207</c:v>
                </c:pt>
                <c:pt idx="32">
                  <c:v>15.556794842775407</c:v>
                </c:pt>
                <c:pt idx="33">
                  <c:v>15.368478827619214</c:v>
                </c:pt>
                <c:pt idx="34">
                  <c:v>15.157113650132425</c:v>
                </c:pt>
                <c:pt idx="35">
                  <c:v>14.941171399359259</c:v>
                </c:pt>
                <c:pt idx="36">
                  <c:v>14.740587476510525</c:v>
                </c:pt>
                <c:pt idx="37">
                  <c:v>14.482881696260341</c:v>
                </c:pt>
                <c:pt idx="38">
                  <c:v>14.255175287212523</c:v>
                </c:pt>
                <c:pt idx="39">
                  <c:v>14.098234497924828</c:v>
                </c:pt>
                <c:pt idx="40">
                  <c:v>13.991822973436241</c:v>
                </c:pt>
                <c:pt idx="41">
                  <c:v>13.941819807657913</c:v>
                </c:pt>
                <c:pt idx="42">
                  <c:v>14.064611240334891</c:v>
                </c:pt>
                <c:pt idx="43">
                  <c:v>14.292348107040286</c:v>
                </c:pt>
                <c:pt idx="44">
                  <c:v>14.442149696600653</c:v>
                </c:pt>
                <c:pt idx="45">
                  <c:v>14.72074831953466</c:v>
                </c:pt>
                <c:pt idx="46">
                  <c:v>14.88890852462778</c:v>
                </c:pt>
                <c:pt idx="47">
                  <c:v>15.23564230978956</c:v>
                </c:pt>
                <c:pt idx="48">
                  <c:v>15.605016249272651</c:v>
                </c:pt>
                <c:pt idx="49">
                  <c:v>16.093024796323995</c:v>
                </c:pt>
                <c:pt idx="50">
                  <c:v>16.629493803053148</c:v>
                </c:pt>
                <c:pt idx="51">
                  <c:v>17.222908728566853</c:v>
                </c:pt>
                <c:pt idx="52">
                  <c:v>17.928921361025985</c:v>
                </c:pt>
                <c:pt idx="53">
                  <c:v>18.659639110190945</c:v>
                </c:pt>
                <c:pt idx="54">
                  <c:v>19.189957591218743</c:v>
                </c:pt>
                <c:pt idx="55">
                  <c:v>20.006514213735748</c:v>
                </c:pt>
                <c:pt idx="56">
                  <c:v>20.515295617042046</c:v>
                </c:pt>
                <c:pt idx="57">
                  <c:v>21.174135628140871</c:v>
                </c:pt>
                <c:pt idx="58">
                  <c:v>21.919396476485737</c:v>
                </c:pt>
                <c:pt idx="59">
                  <c:v>22.647867178253041</c:v>
                </c:pt>
                <c:pt idx="60">
                  <c:v>23.359181287032406</c:v>
                </c:pt>
                <c:pt idx="61">
                  <c:v>24.052856567812864</c:v>
                </c:pt>
                <c:pt idx="62">
                  <c:v>24.878591307005365</c:v>
                </c:pt>
                <c:pt idx="63">
                  <c:v>25.545300823253424</c:v>
                </c:pt>
                <c:pt idx="64">
                  <c:v>26.516010394674183</c:v>
                </c:pt>
                <c:pt idx="65">
                  <c:v>27.327987064799153</c:v>
                </c:pt>
                <c:pt idx="66">
                  <c:v>28.135652232713671</c:v>
                </c:pt>
                <c:pt idx="67">
                  <c:v>28.93912707771613</c:v>
                </c:pt>
                <c:pt idx="68">
                  <c:v>29.384175617195663</c:v>
                </c:pt>
                <c:pt idx="69">
                  <c:v>29.979130123045049</c:v>
                </c:pt>
                <c:pt idx="70">
                  <c:v>30.759024889804444</c:v>
                </c:pt>
                <c:pt idx="71">
                  <c:v>31.535242419016786</c:v>
                </c:pt>
                <c:pt idx="72">
                  <c:v>32.307867043260444</c:v>
                </c:pt>
                <c:pt idx="73">
                  <c:v>32.628449833515205</c:v>
                </c:pt>
                <c:pt idx="74">
                  <c:v>33.619799664139549</c:v>
                </c:pt>
                <c:pt idx="75">
                  <c:v>34.378011388592277</c:v>
                </c:pt>
                <c:pt idx="76">
                  <c:v>34.890201189642681</c:v>
                </c:pt>
                <c:pt idx="77">
                  <c:v>35.884695429265989</c:v>
                </c:pt>
                <c:pt idx="78">
                  <c:v>36.633291241529243</c:v>
                </c:pt>
                <c:pt idx="79">
                  <c:v>37.37880035679629</c:v>
                </c:pt>
                <c:pt idx="80">
                  <c:v>38.121277513314979</c:v>
                </c:pt>
                <c:pt idx="81">
                  <c:v>38.121277513314979</c:v>
                </c:pt>
                <c:pt idx="82">
                  <c:v>38.121277513314979</c:v>
                </c:pt>
                <c:pt idx="83">
                  <c:v>38.121277513314979</c:v>
                </c:pt>
                <c:pt idx="84">
                  <c:v>38.121277513314979</c:v>
                </c:pt>
              </c:numCache>
            </c:numRef>
          </c:yVal>
          <c:smooth val="0"/>
          <c:extLst>
            <c:ext xmlns:c16="http://schemas.microsoft.com/office/drawing/2014/chart" uri="{C3380CC4-5D6E-409C-BE32-E72D297353CC}">
              <c16:uniqueId val="{00000000-087B-4521-AFD0-D3B6BA18D5E6}"/>
            </c:ext>
          </c:extLst>
        </c:ser>
        <c:ser>
          <c:idx val="1"/>
          <c:order val="1"/>
          <c:tx>
            <c:strRef>
              <c:f>Sheet1!$B$88</c:f>
              <c:strCache>
                <c:ptCount val="1"/>
                <c:pt idx="0">
                  <c:v>10 days</c:v>
                </c:pt>
              </c:strCache>
            </c:strRef>
          </c:tx>
          <c:spPr>
            <a:ln w="28575">
              <a:solidFill>
                <a:srgbClr val="FFD166"/>
              </a:solidFill>
            </a:ln>
          </c:spPr>
          <c:marker>
            <c:symbol val="none"/>
          </c:marker>
          <c:xVal>
            <c:numRef>
              <c:f>Sheet1!$A$89:$A$173</c:f>
              <c:numCache>
                <c:formatCode>General</c:formatCode>
                <c:ptCount val="85"/>
                <c:pt idx="0">
                  <c:v>0.91692574596175058</c:v>
                </c:pt>
                <c:pt idx="1">
                  <c:v>0.91917863477246742</c:v>
                </c:pt>
                <c:pt idx="2">
                  <c:v>0.92143152358318425</c:v>
                </c:pt>
                <c:pt idx="3">
                  <c:v>0.92368441239390109</c:v>
                </c:pt>
                <c:pt idx="4">
                  <c:v>0.92593730120461792</c:v>
                </c:pt>
                <c:pt idx="5">
                  <c:v>0.92819019001533476</c:v>
                </c:pt>
                <c:pt idx="6">
                  <c:v>0.93044307882605159</c:v>
                </c:pt>
                <c:pt idx="7">
                  <c:v>0.93269596763676843</c:v>
                </c:pt>
                <c:pt idx="8">
                  <c:v>0.93494885644748515</c:v>
                </c:pt>
                <c:pt idx="9">
                  <c:v>0.93720174525820199</c:v>
                </c:pt>
                <c:pt idx="10">
                  <c:v>0.93945463406891883</c:v>
                </c:pt>
                <c:pt idx="11">
                  <c:v>0.94170752287963566</c:v>
                </c:pt>
                <c:pt idx="12">
                  <c:v>0.9439604116903525</c:v>
                </c:pt>
                <c:pt idx="13">
                  <c:v>0.94621330050106933</c:v>
                </c:pt>
                <c:pt idx="14">
                  <c:v>0.94846618931178617</c:v>
                </c:pt>
                <c:pt idx="15">
                  <c:v>0.950719078122503</c:v>
                </c:pt>
                <c:pt idx="16">
                  <c:v>0.95297196693321984</c:v>
                </c:pt>
                <c:pt idx="17">
                  <c:v>0.95522485574393667</c:v>
                </c:pt>
                <c:pt idx="18">
                  <c:v>0.95747774455465351</c:v>
                </c:pt>
                <c:pt idx="19">
                  <c:v>0.95973063336537034</c:v>
                </c:pt>
                <c:pt idx="20">
                  <c:v>0.96198352217608718</c:v>
                </c:pt>
                <c:pt idx="21">
                  <c:v>0.96423641098680402</c:v>
                </c:pt>
                <c:pt idx="22">
                  <c:v>0.96648929979752085</c:v>
                </c:pt>
                <c:pt idx="23">
                  <c:v>0.96874218860823769</c:v>
                </c:pt>
                <c:pt idx="24">
                  <c:v>0.97099507741895452</c:v>
                </c:pt>
                <c:pt idx="25">
                  <c:v>0.97324796622967136</c:v>
                </c:pt>
                <c:pt idx="26">
                  <c:v>0.97550085504038819</c:v>
                </c:pt>
                <c:pt idx="27">
                  <c:v>0.97775374385110503</c:v>
                </c:pt>
                <c:pt idx="28">
                  <c:v>0.98000663266182186</c:v>
                </c:pt>
                <c:pt idx="29">
                  <c:v>0.9822595214725387</c:v>
                </c:pt>
                <c:pt idx="30">
                  <c:v>0.98451241028325553</c:v>
                </c:pt>
                <c:pt idx="31">
                  <c:v>0.98676529909397237</c:v>
                </c:pt>
                <c:pt idx="32">
                  <c:v>0.98901818790468921</c:v>
                </c:pt>
                <c:pt idx="33">
                  <c:v>0.99127107671540604</c:v>
                </c:pt>
                <c:pt idx="34">
                  <c:v>0.99352396552612288</c:v>
                </c:pt>
                <c:pt idx="35">
                  <c:v>0.99577685433683971</c:v>
                </c:pt>
                <c:pt idx="36">
                  <c:v>0.99802974314755655</c:v>
                </c:pt>
                <c:pt idx="37">
                  <c:v>1.0002826319582734</c:v>
                </c:pt>
                <c:pt idx="38">
                  <c:v>1.0025355207689901</c:v>
                </c:pt>
                <c:pt idx="39">
                  <c:v>1.0047884095797071</c:v>
                </c:pt>
                <c:pt idx="40">
                  <c:v>1.0070412983904238</c:v>
                </c:pt>
                <c:pt idx="41">
                  <c:v>1.0092941872011407</c:v>
                </c:pt>
                <c:pt idx="42">
                  <c:v>1.0115470760118574</c:v>
                </c:pt>
                <c:pt idx="43">
                  <c:v>1.0137999648225744</c:v>
                </c:pt>
                <c:pt idx="44">
                  <c:v>1.0160528536332911</c:v>
                </c:pt>
                <c:pt idx="45">
                  <c:v>1.0183057424440081</c:v>
                </c:pt>
                <c:pt idx="46">
                  <c:v>1.0205586312547248</c:v>
                </c:pt>
                <c:pt idx="47">
                  <c:v>1.0228115200654417</c:v>
                </c:pt>
                <c:pt idx="48">
                  <c:v>1.0250644088761585</c:v>
                </c:pt>
                <c:pt idx="49">
                  <c:v>1.0273172976868754</c:v>
                </c:pt>
                <c:pt idx="50">
                  <c:v>1.0295701864975921</c:v>
                </c:pt>
                <c:pt idx="51">
                  <c:v>1.0318230753083091</c:v>
                </c:pt>
                <c:pt idx="52">
                  <c:v>1.0340759641190258</c:v>
                </c:pt>
                <c:pt idx="53">
                  <c:v>1.0363288529297427</c:v>
                </c:pt>
                <c:pt idx="54">
                  <c:v>1.0385817417404595</c:v>
                </c:pt>
                <c:pt idx="55">
                  <c:v>1.0408346305511762</c:v>
                </c:pt>
                <c:pt idx="56">
                  <c:v>1.0430875193618931</c:v>
                </c:pt>
                <c:pt idx="57">
                  <c:v>1.0453404081726099</c:v>
                </c:pt>
                <c:pt idx="58">
                  <c:v>1.0475932969833268</c:v>
                </c:pt>
                <c:pt idx="59">
                  <c:v>1.0498461857940435</c:v>
                </c:pt>
                <c:pt idx="60">
                  <c:v>1.0520990746047605</c:v>
                </c:pt>
                <c:pt idx="61">
                  <c:v>1.0543519634154772</c:v>
                </c:pt>
                <c:pt idx="62">
                  <c:v>1.0566048522261942</c:v>
                </c:pt>
                <c:pt idx="63">
                  <c:v>1.0588577410369109</c:v>
                </c:pt>
                <c:pt idx="64">
                  <c:v>1.0611106298476278</c:v>
                </c:pt>
                <c:pt idx="65">
                  <c:v>1.0633635186583446</c:v>
                </c:pt>
                <c:pt idx="66">
                  <c:v>1.0656164074690615</c:v>
                </c:pt>
                <c:pt idx="67">
                  <c:v>1.0678692962797782</c:v>
                </c:pt>
                <c:pt idx="68">
                  <c:v>1.0701221850904952</c:v>
                </c:pt>
                <c:pt idx="69">
                  <c:v>1.0723750739012119</c:v>
                </c:pt>
                <c:pt idx="70">
                  <c:v>1.0746279627119288</c:v>
                </c:pt>
                <c:pt idx="71">
                  <c:v>1.0768808515226456</c:v>
                </c:pt>
                <c:pt idx="72">
                  <c:v>1.0791337403333625</c:v>
                </c:pt>
                <c:pt idx="73">
                  <c:v>1.0813866291440792</c:v>
                </c:pt>
                <c:pt idx="74">
                  <c:v>1.0836395179547962</c:v>
                </c:pt>
                <c:pt idx="75">
                  <c:v>1.0858924067655129</c:v>
                </c:pt>
                <c:pt idx="76">
                  <c:v>1.0881452955762299</c:v>
                </c:pt>
                <c:pt idx="77">
                  <c:v>1.0903981843869466</c:v>
                </c:pt>
                <c:pt idx="78">
                  <c:v>1.0926510731976635</c:v>
                </c:pt>
                <c:pt idx="79">
                  <c:v>1.0949039620083802</c:v>
                </c:pt>
                <c:pt idx="80">
                  <c:v>1.0971568508190972</c:v>
                </c:pt>
                <c:pt idx="81">
                  <c:v>1.0994097396298139</c:v>
                </c:pt>
                <c:pt idx="82">
                  <c:v>1.0994097396298139</c:v>
                </c:pt>
                <c:pt idx="83">
                  <c:v>1.0994097396298139</c:v>
                </c:pt>
                <c:pt idx="84">
                  <c:v>1.0994097396298139</c:v>
                </c:pt>
              </c:numCache>
            </c:numRef>
          </c:xVal>
          <c:yVal>
            <c:numRef>
              <c:f>Sheet1!$B$89:$B$173</c:f>
              <c:numCache>
                <c:formatCode>General</c:formatCode>
                <c:ptCount val="85"/>
                <c:pt idx="0">
                  <c:v>22.654819633434382</c:v>
                </c:pt>
                <c:pt idx="1">
                  <c:v>22.040515093432212</c:v>
                </c:pt>
                <c:pt idx="2">
                  <c:v>21.770225334862879</c:v>
                </c:pt>
                <c:pt idx="3">
                  <c:v>21.425730185994713</c:v>
                </c:pt>
                <c:pt idx="4">
                  <c:v>20.894729850339459</c:v>
                </c:pt>
                <c:pt idx="5">
                  <c:v>20.482225747013484</c:v>
                </c:pt>
                <c:pt idx="6">
                  <c:v>20.167360637776731</c:v>
                </c:pt>
                <c:pt idx="7">
                  <c:v>19.722650172852102</c:v>
                </c:pt>
                <c:pt idx="8">
                  <c:v>19.395520955042183</c:v>
                </c:pt>
                <c:pt idx="9">
                  <c:v>18.981719351727101</c:v>
                </c:pt>
                <c:pt idx="10">
                  <c:v>18.715850956013519</c:v>
                </c:pt>
                <c:pt idx="11">
                  <c:v>18.434576249888003</c:v>
                </c:pt>
                <c:pt idx="12">
                  <c:v>18.114534871004871</c:v>
                </c:pt>
                <c:pt idx="13">
                  <c:v>17.88285043419549</c:v>
                </c:pt>
                <c:pt idx="14">
                  <c:v>17.508213120114625</c:v>
                </c:pt>
                <c:pt idx="15">
                  <c:v>17.156100788198497</c:v>
                </c:pt>
                <c:pt idx="16">
                  <c:v>16.848389805943587</c:v>
                </c:pt>
                <c:pt idx="17">
                  <c:v>16.582843702485171</c:v>
                </c:pt>
                <c:pt idx="18">
                  <c:v>16.264952219077678</c:v>
                </c:pt>
                <c:pt idx="19">
                  <c:v>16.018438632686184</c:v>
                </c:pt>
                <c:pt idx="20">
                  <c:v>15.889439261047416</c:v>
                </c:pt>
                <c:pt idx="21">
                  <c:v>15.572434147250897</c:v>
                </c:pt>
                <c:pt idx="22">
                  <c:v>15.373794760424641</c:v>
                </c:pt>
                <c:pt idx="23">
                  <c:v>15.237647116289915</c:v>
                </c:pt>
                <c:pt idx="24">
                  <c:v>15.045999353316668</c:v>
                </c:pt>
                <c:pt idx="25">
                  <c:v>14.879245488785608</c:v>
                </c:pt>
                <c:pt idx="26">
                  <c:v>14.767450586741765</c:v>
                </c:pt>
                <c:pt idx="27">
                  <c:v>14.63357884370301</c:v>
                </c:pt>
                <c:pt idx="28">
                  <c:v>14.50189283395677</c:v>
                </c:pt>
                <c:pt idx="29">
                  <c:v>14.325208545169509</c:v>
                </c:pt>
                <c:pt idx="30">
                  <c:v>14.239934627275247</c:v>
                </c:pt>
                <c:pt idx="31">
                  <c:v>14.074816939321682</c:v>
                </c:pt>
                <c:pt idx="32">
                  <c:v>13.979915863780612</c:v>
                </c:pt>
                <c:pt idx="33">
                  <c:v>13.84145407952872</c:v>
                </c:pt>
                <c:pt idx="34">
                  <c:v>13.69965819283267</c:v>
                </c:pt>
                <c:pt idx="35">
                  <c:v>13.558077206137465</c:v>
                </c:pt>
                <c:pt idx="36">
                  <c:v>13.448087278596349</c:v>
                </c:pt>
                <c:pt idx="37">
                  <c:v>13.285045331231926</c:v>
                </c:pt>
                <c:pt idx="38">
                  <c:v>13.162915322424629</c:v>
                </c:pt>
                <c:pt idx="39">
                  <c:v>13.056826004284328</c:v>
                </c:pt>
                <c:pt idx="40">
                  <c:v>12.905915795675572</c:v>
                </c:pt>
                <c:pt idx="41">
                  <c:v>12.818329140125535</c:v>
                </c:pt>
                <c:pt idx="42">
                  <c:v>12.723069759667094</c:v>
                </c:pt>
                <c:pt idx="43">
                  <c:v>12.620314615195094</c:v>
                </c:pt>
                <c:pt idx="44">
                  <c:v>12.525449738948607</c:v>
                </c:pt>
                <c:pt idx="45">
                  <c:v>12.466362273680737</c:v>
                </c:pt>
                <c:pt idx="46">
                  <c:v>12.44080484958655</c:v>
                </c:pt>
                <c:pt idx="47">
                  <c:v>12.434602357751826</c:v>
                </c:pt>
                <c:pt idx="48">
                  <c:v>12.502592772367983</c:v>
                </c:pt>
                <c:pt idx="49">
                  <c:v>12.593932886163268</c:v>
                </c:pt>
                <c:pt idx="50">
                  <c:v>12.61517591747452</c:v>
                </c:pt>
                <c:pt idx="51">
                  <c:v>12.740588815729154</c:v>
                </c:pt>
                <c:pt idx="52">
                  <c:v>12.912694901120142</c:v>
                </c:pt>
                <c:pt idx="53">
                  <c:v>13.105414966906348</c:v>
                </c:pt>
                <c:pt idx="54">
                  <c:v>13.240755221512313</c:v>
                </c:pt>
                <c:pt idx="55">
                  <c:v>13.360642375840175</c:v>
                </c:pt>
                <c:pt idx="56">
                  <c:v>13.633837671972703</c:v>
                </c:pt>
                <c:pt idx="57">
                  <c:v>13.897553787432265</c:v>
                </c:pt>
                <c:pt idx="58">
                  <c:v>14.133802082166586</c:v>
                </c:pt>
                <c:pt idx="59">
                  <c:v>14.39573002536973</c:v>
                </c:pt>
                <c:pt idx="60">
                  <c:v>14.701368817051168</c:v>
                </c:pt>
                <c:pt idx="61">
                  <c:v>15.070381067941391</c:v>
                </c:pt>
                <c:pt idx="62">
                  <c:v>15.316100812503741</c:v>
                </c:pt>
                <c:pt idx="63">
                  <c:v>15.749054884582531</c:v>
                </c:pt>
                <c:pt idx="64">
                  <c:v>16.095225020169551</c:v>
                </c:pt>
                <c:pt idx="65">
                  <c:v>16.465490468189593</c:v>
                </c:pt>
                <c:pt idx="66">
                  <c:v>16.776913925869419</c:v>
                </c:pt>
                <c:pt idx="67">
                  <c:v>17.164291649668989</c:v>
                </c:pt>
                <c:pt idx="68">
                  <c:v>17.641335077924431</c:v>
                </c:pt>
                <c:pt idx="69">
                  <c:v>17.962437786091705</c:v>
                </c:pt>
                <c:pt idx="70">
                  <c:v>18.32268403742691</c:v>
                </c:pt>
                <c:pt idx="71">
                  <c:v>18.897627652289689</c:v>
                </c:pt>
                <c:pt idx="72">
                  <c:v>19.132043066530159</c:v>
                </c:pt>
                <c:pt idx="73">
                  <c:v>19.528362761435503</c:v>
                </c:pt>
                <c:pt idx="74">
                  <c:v>19.721403367244573</c:v>
                </c:pt>
                <c:pt idx="75">
                  <c:v>20.304107698414281</c:v>
                </c:pt>
                <c:pt idx="76">
                  <c:v>20.542727986123378</c:v>
                </c:pt>
                <c:pt idx="77">
                  <c:v>21.127759743317903</c:v>
                </c:pt>
                <c:pt idx="78">
                  <c:v>21.424613909089619</c:v>
                </c:pt>
                <c:pt idx="79">
                  <c:v>21.862633035211172</c:v>
                </c:pt>
                <c:pt idx="80">
                  <c:v>22.37463724222884</c:v>
                </c:pt>
                <c:pt idx="81">
                  <c:v>22.733008840420027</c:v>
                </c:pt>
                <c:pt idx="82">
                  <c:v>22.733008840420027</c:v>
                </c:pt>
                <c:pt idx="83">
                  <c:v>22.733008840420027</c:v>
                </c:pt>
                <c:pt idx="84">
                  <c:v>22.733008840420027</c:v>
                </c:pt>
              </c:numCache>
            </c:numRef>
          </c:yVal>
          <c:smooth val="0"/>
          <c:extLst>
            <c:ext xmlns:c16="http://schemas.microsoft.com/office/drawing/2014/chart" uri="{C3380CC4-5D6E-409C-BE32-E72D297353CC}">
              <c16:uniqueId val="{00000001-087B-4521-AFD0-D3B6BA18D5E6}"/>
            </c:ext>
          </c:extLst>
        </c:ser>
        <c:ser>
          <c:idx val="2"/>
          <c:order val="2"/>
          <c:tx>
            <c:strRef>
              <c:f>Sheet1!$B$175</c:f>
              <c:strCache>
                <c:ptCount val="1"/>
                <c:pt idx="0">
                  <c:v>24 days</c:v>
                </c:pt>
              </c:strCache>
            </c:strRef>
          </c:tx>
          <c:spPr>
            <a:ln w="28575">
              <a:solidFill>
                <a:srgbClr val="8FD3F4"/>
              </a:solidFill>
            </a:ln>
          </c:spPr>
          <c:marker>
            <c:symbol val="none"/>
          </c:marker>
          <c:xVal>
            <c:numRef>
              <c:f>Sheet1!$A$176:$A$260</c:f>
              <c:numCache>
                <c:formatCode>General</c:formatCode>
                <c:ptCount val="85"/>
                <c:pt idx="0">
                  <c:v>0.91418843407414285</c:v>
                </c:pt>
                <c:pt idx="1">
                  <c:v>0.91643459730282628</c:v>
                </c:pt>
                <c:pt idx="2">
                  <c:v>0.9186807605315096</c:v>
                </c:pt>
                <c:pt idx="3">
                  <c:v>0.92092692376019303</c:v>
                </c:pt>
                <c:pt idx="4">
                  <c:v>0.92317308698887646</c:v>
                </c:pt>
                <c:pt idx="5">
                  <c:v>0.92541925021755977</c:v>
                </c:pt>
                <c:pt idx="6">
                  <c:v>0.9276654134462432</c:v>
                </c:pt>
                <c:pt idx="7">
                  <c:v>0.92991157667492663</c:v>
                </c:pt>
                <c:pt idx="8">
                  <c:v>0.93215773990361006</c:v>
                </c:pt>
                <c:pt idx="9">
                  <c:v>0.93440390313229338</c:v>
                </c:pt>
                <c:pt idx="10">
                  <c:v>0.93665006636097681</c:v>
                </c:pt>
                <c:pt idx="11">
                  <c:v>0.93889622958966024</c:v>
                </c:pt>
                <c:pt idx="12">
                  <c:v>0.94114239281834355</c:v>
                </c:pt>
                <c:pt idx="13">
                  <c:v>0.94338855604702698</c:v>
                </c:pt>
                <c:pt idx="14">
                  <c:v>0.94563471927571041</c:v>
                </c:pt>
                <c:pt idx="15">
                  <c:v>0.94788088250439384</c:v>
                </c:pt>
                <c:pt idx="16">
                  <c:v>0.95012704573307716</c:v>
                </c:pt>
                <c:pt idx="17">
                  <c:v>0.95237320896176059</c:v>
                </c:pt>
                <c:pt idx="18">
                  <c:v>0.95461937219044402</c:v>
                </c:pt>
                <c:pt idx="19">
                  <c:v>0.95686553541912733</c:v>
                </c:pt>
                <c:pt idx="20">
                  <c:v>0.95911169864781076</c:v>
                </c:pt>
                <c:pt idx="21">
                  <c:v>0.96135786187649419</c:v>
                </c:pt>
                <c:pt idx="22">
                  <c:v>0.96360402510517762</c:v>
                </c:pt>
                <c:pt idx="23">
                  <c:v>0.96585018833386094</c:v>
                </c:pt>
                <c:pt idx="24">
                  <c:v>0.96809635156254437</c:v>
                </c:pt>
                <c:pt idx="25">
                  <c:v>0.97034251479122779</c:v>
                </c:pt>
                <c:pt idx="26">
                  <c:v>0.97258867801991122</c:v>
                </c:pt>
                <c:pt idx="27">
                  <c:v>0.97483484124859454</c:v>
                </c:pt>
                <c:pt idx="28">
                  <c:v>0.97708100447727797</c:v>
                </c:pt>
                <c:pt idx="29">
                  <c:v>0.9793271677059614</c:v>
                </c:pt>
                <c:pt idx="30">
                  <c:v>0.98157333093464472</c:v>
                </c:pt>
                <c:pt idx="31">
                  <c:v>0.98381949416332815</c:v>
                </c:pt>
                <c:pt idx="32">
                  <c:v>0.98606565739201157</c:v>
                </c:pt>
                <c:pt idx="33">
                  <c:v>0.988311820620695</c:v>
                </c:pt>
                <c:pt idx="34">
                  <c:v>0.99055798384937832</c:v>
                </c:pt>
                <c:pt idx="35">
                  <c:v>0.99280414707806175</c:v>
                </c:pt>
                <c:pt idx="36">
                  <c:v>0.99505031030674518</c:v>
                </c:pt>
                <c:pt idx="37">
                  <c:v>0.9972964735354285</c:v>
                </c:pt>
                <c:pt idx="38">
                  <c:v>0.99954263676411192</c:v>
                </c:pt>
                <c:pt idx="39">
                  <c:v>1.0017887999927952</c:v>
                </c:pt>
                <c:pt idx="40">
                  <c:v>1.0040349632214787</c:v>
                </c:pt>
                <c:pt idx="41">
                  <c:v>1.0062811264501621</c:v>
                </c:pt>
                <c:pt idx="42">
                  <c:v>1.0085272896788455</c:v>
                </c:pt>
                <c:pt idx="43">
                  <c:v>1.010773452907529</c:v>
                </c:pt>
                <c:pt idx="44">
                  <c:v>1.0130196161362124</c:v>
                </c:pt>
                <c:pt idx="45">
                  <c:v>1.0152657793648958</c:v>
                </c:pt>
                <c:pt idx="46">
                  <c:v>1.017511942593579</c:v>
                </c:pt>
                <c:pt idx="47">
                  <c:v>1.0197581058222625</c:v>
                </c:pt>
                <c:pt idx="48">
                  <c:v>1.0220042690509459</c:v>
                </c:pt>
                <c:pt idx="49">
                  <c:v>1.0242504322796293</c:v>
                </c:pt>
                <c:pt idx="50">
                  <c:v>1.0264965955083127</c:v>
                </c:pt>
                <c:pt idx="51">
                  <c:v>1.0287427587369962</c:v>
                </c:pt>
                <c:pt idx="52">
                  <c:v>1.0309889219656796</c:v>
                </c:pt>
                <c:pt idx="53">
                  <c:v>1.0332350851943628</c:v>
                </c:pt>
                <c:pt idx="54">
                  <c:v>1.0354812484230462</c:v>
                </c:pt>
                <c:pt idx="55">
                  <c:v>1.0377274116517297</c:v>
                </c:pt>
                <c:pt idx="56">
                  <c:v>1.0399735748804131</c:v>
                </c:pt>
                <c:pt idx="57">
                  <c:v>1.0422197381090965</c:v>
                </c:pt>
                <c:pt idx="58">
                  <c:v>1.0444659013377799</c:v>
                </c:pt>
                <c:pt idx="59">
                  <c:v>1.0467120645664634</c:v>
                </c:pt>
                <c:pt idx="60">
                  <c:v>1.0489582277951466</c:v>
                </c:pt>
                <c:pt idx="61">
                  <c:v>1.05120439102383</c:v>
                </c:pt>
                <c:pt idx="62">
                  <c:v>1.0534505542525134</c:v>
                </c:pt>
                <c:pt idx="63">
                  <c:v>1.0556967174811969</c:v>
                </c:pt>
                <c:pt idx="64">
                  <c:v>1.0579428807098803</c:v>
                </c:pt>
                <c:pt idx="65">
                  <c:v>1.0601890439385637</c:v>
                </c:pt>
                <c:pt idx="66">
                  <c:v>1.0624352071672472</c:v>
                </c:pt>
                <c:pt idx="67">
                  <c:v>1.0646813703959306</c:v>
                </c:pt>
                <c:pt idx="68">
                  <c:v>1.0669275336246138</c:v>
                </c:pt>
                <c:pt idx="69">
                  <c:v>1.0691736968532972</c:v>
                </c:pt>
                <c:pt idx="70">
                  <c:v>1.0714198600819806</c:v>
                </c:pt>
                <c:pt idx="71">
                  <c:v>1.0736660233106641</c:v>
                </c:pt>
                <c:pt idx="72">
                  <c:v>1.0759121865393475</c:v>
                </c:pt>
                <c:pt idx="73">
                  <c:v>1.0781583497680309</c:v>
                </c:pt>
                <c:pt idx="74">
                  <c:v>1.0804045129967144</c:v>
                </c:pt>
                <c:pt idx="75">
                  <c:v>1.0826506762253976</c:v>
                </c:pt>
                <c:pt idx="76">
                  <c:v>1.084896839454081</c:v>
                </c:pt>
                <c:pt idx="77">
                  <c:v>1.0871430026827644</c:v>
                </c:pt>
                <c:pt idx="78">
                  <c:v>1.0893891659114479</c:v>
                </c:pt>
                <c:pt idx="79">
                  <c:v>1.0916353291401313</c:v>
                </c:pt>
                <c:pt idx="80">
                  <c:v>1.0938814923688147</c:v>
                </c:pt>
                <c:pt idx="81">
                  <c:v>1.0961276555974981</c:v>
                </c:pt>
                <c:pt idx="82">
                  <c:v>1.0983738188261813</c:v>
                </c:pt>
                <c:pt idx="83">
                  <c:v>1.0983738188261813</c:v>
                </c:pt>
                <c:pt idx="84">
                  <c:v>1.0983738188261813</c:v>
                </c:pt>
              </c:numCache>
            </c:numRef>
          </c:xVal>
          <c:yVal>
            <c:numRef>
              <c:f>Sheet1!$B$176:$B$260</c:f>
              <c:numCache>
                <c:formatCode>General</c:formatCode>
                <c:ptCount val="85"/>
                <c:pt idx="0">
                  <c:v>18.381757046738713</c:v>
                </c:pt>
                <c:pt idx="1">
                  <c:v>18.203725117765195</c:v>
                </c:pt>
                <c:pt idx="2">
                  <c:v>17.917952418227735</c:v>
                </c:pt>
                <c:pt idx="3">
                  <c:v>17.731419541267417</c:v>
                </c:pt>
                <c:pt idx="4">
                  <c:v>17.446325286998793</c:v>
                </c:pt>
                <c:pt idx="5">
                  <c:v>17.183847041737742</c:v>
                </c:pt>
                <c:pt idx="6">
                  <c:v>16.98057548917194</c:v>
                </c:pt>
                <c:pt idx="7">
                  <c:v>16.786907088735276</c:v>
                </c:pt>
                <c:pt idx="8">
                  <c:v>16.563469771900728</c:v>
                </c:pt>
                <c:pt idx="9">
                  <c:v>16.347501710933226</c:v>
                </c:pt>
                <c:pt idx="10">
                  <c:v>16.207611358124581</c:v>
                </c:pt>
                <c:pt idx="11">
                  <c:v>15.956659676601637</c:v>
                </c:pt>
                <c:pt idx="12">
                  <c:v>15.857200804437305</c:v>
                </c:pt>
                <c:pt idx="13">
                  <c:v>15.754343281180756</c:v>
                </c:pt>
                <c:pt idx="14">
                  <c:v>15.585439107340825</c:v>
                </c:pt>
                <c:pt idx="15">
                  <c:v>15.433680358496293</c:v>
                </c:pt>
                <c:pt idx="16">
                  <c:v>15.288103133045738</c:v>
                </c:pt>
                <c:pt idx="17">
                  <c:v>15.144909736987783</c:v>
                </c:pt>
                <c:pt idx="18">
                  <c:v>15.057130288780318</c:v>
                </c:pt>
                <c:pt idx="19">
                  <c:v>14.893210133026614</c:v>
                </c:pt>
                <c:pt idx="20">
                  <c:v>14.820769964911223</c:v>
                </c:pt>
                <c:pt idx="21">
                  <c:v>14.723790888181831</c:v>
                </c:pt>
                <c:pt idx="22">
                  <c:v>14.592257767105627</c:v>
                </c:pt>
                <c:pt idx="23">
                  <c:v>14.474005808987616</c:v>
                </c:pt>
                <c:pt idx="24">
                  <c:v>14.397269991324386</c:v>
                </c:pt>
                <c:pt idx="25">
                  <c:v>14.296403953069674</c:v>
                </c:pt>
                <c:pt idx="26">
                  <c:v>14.21698383401907</c:v>
                </c:pt>
                <c:pt idx="27">
                  <c:v>14.107474031180528</c:v>
                </c:pt>
                <c:pt idx="28">
                  <c:v>14.015746630829806</c:v>
                </c:pt>
                <c:pt idx="29">
                  <c:v>13.910580045585281</c:v>
                </c:pt>
                <c:pt idx="30">
                  <c:v>13.819046002649966</c:v>
                </c:pt>
                <c:pt idx="31">
                  <c:v>13.722460323587555</c:v>
                </c:pt>
                <c:pt idx="32">
                  <c:v>13.647927477724014</c:v>
                </c:pt>
                <c:pt idx="33">
                  <c:v>13.565677110067398</c:v>
                </c:pt>
                <c:pt idx="34">
                  <c:v>13.495072194071245</c:v>
                </c:pt>
                <c:pt idx="35">
                  <c:v>13.365570425233491</c:v>
                </c:pt>
                <c:pt idx="36">
                  <c:v>13.339382009616724</c:v>
                </c:pt>
                <c:pt idx="37">
                  <c:v>13.211683482534481</c:v>
                </c:pt>
                <c:pt idx="38">
                  <c:v>13.153719349324833</c:v>
                </c:pt>
                <c:pt idx="39">
                  <c:v>13.077304235130317</c:v>
                </c:pt>
                <c:pt idx="40">
                  <c:v>12.961749112301169</c:v>
                </c:pt>
                <c:pt idx="41">
                  <c:v>12.877406549677961</c:v>
                </c:pt>
                <c:pt idx="42">
                  <c:v>12.806597396907376</c:v>
                </c:pt>
                <c:pt idx="43">
                  <c:v>12.78025477340104</c:v>
                </c:pt>
                <c:pt idx="44">
                  <c:v>12.649738019592538</c:v>
                </c:pt>
                <c:pt idx="45">
                  <c:v>12.615514045900177</c:v>
                </c:pt>
                <c:pt idx="46">
                  <c:v>12.525627808333557</c:v>
                </c:pt>
                <c:pt idx="47">
                  <c:v>12.45714837266453</c:v>
                </c:pt>
                <c:pt idx="48">
                  <c:v>12.412003948295641</c:v>
                </c:pt>
                <c:pt idx="49">
                  <c:v>12.337980038678959</c:v>
                </c:pt>
                <c:pt idx="50">
                  <c:v>12.353179299131355</c:v>
                </c:pt>
                <c:pt idx="51">
                  <c:v>12.32394877963133</c:v>
                </c:pt>
                <c:pt idx="52">
                  <c:v>12.28030779130925</c:v>
                </c:pt>
                <c:pt idx="53">
                  <c:v>12.379896438675386</c:v>
                </c:pt>
                <c:pt idx="54">
                  <c:v>12.303975762313172</c:v>
                </c:pt>
                <c:pt idx="55">
                  <c:v>12.308471315271744</c:v>
                </c:pt>
                <c:pt idx="56">
                  <c:v>12.34938105987024</c:v>
                </c:pt>
                <c:pt idx="57">
                  <c:v>12.390845333669956</c:v>
                </c:pt>
                <c:pt idx="58">
                  <c:v>12.48219090770486</c:v>
                </c:pt>
                <c:pt idx="59">
                  <c:v>12.582156379798931</c:v>
                </c:pt>
                <c:pt idx="60">
                  <c:v>12.659361082477849</c:v>
                </c:pt>
                <c:pt idx="61">
                  <c:v>12.747236980827426</c:v>
                </c:pt>
                <c:pt idx="62">
                  <c:v>12.935488205770834</c:v>
                </c:pt>
                <c:pt idx="63">
                  <c:v>13.083688453717961</c:v>
                </c:pt>
                <c:pt idx="64">
                  <c:v>13.194213951201094</c:v>
                </c:pt>
                <c:pt idx="65">
                  <c:v>13.32630118114696</c:v>
                </c:pt>
                <c:pt idx="66">
                  <c:v>13.498816359852079</c:v>
                </c:pt>
                <c:pt idx="67">
                  <c:v>13.670509773667277</c:v>
                </c:pt>
                <c:pt idx="68">
                  <c:v>13.820950231189544</c:v>
                </c:pt>
                <c:pt idx="69">
                  <c:v>13.972334066148594</c:v>
                </c:pt>
                <c:pt idx="70">
                  <c:v>14.153614216947009</c:v>
                </c:pt>
                <c:pt idx="71">
                  <c:v>14.247365557707193</c:v>
                </c:pt>
                <c:pt idx="72">
                  <c:v>14.536648295812698</c:v>
                </c:pt>
                <c:pt idx="73">
                  <c:v>14.666393312373028</c:v>
                </c:pt>
                <c:pt idx="74">
                  <c:v>14.790380029139527</c:v>
                </c:pt>
                <c:pt idx="75">
                  <c:v>15.106492034446461</c:v>
                </c:pt>
                <c:pt idx="76">
                  <c:v>15.330224372029255</c:v>
                </c:pt>
                <c:pt idx="77">
                  <c:v>15.389150991370881</c:v>
                </c:pt>
                <c:pt idx="78">
                  <c:v>15.791499871941845</c:v>
                </c:pt>
                <c:pt idx="79">
                  <c:v>15.969424288725186</c:v>
                </c:pt>
                <c:pt idx="80">
                  <c:v>16.287446426583607</c:v>
                </c:pt>
                <c:pt idx="81">
                  <c:v>16.582285077060266</c:v>
                </c:pt>
                <c:pt idx="82">
                  <c:v>16.83025044173181</c:v>
                </c:pt>
                <c:pt idx="83">
                  <c:v>16.83025044173181</c:v>
                </c:pt>
                <c:pt idx="84">
                  <c:v>16.83025044173181</c:v>
                </c:pt>
              </c:numCache>
            </c:numRef>
          </c:yVal>
          <c:smooth val="0"/>
          <c:extLst>
            <c:ext xmlns:c16="http://schemas.microsoft.com/office/drawing/2014/chart" uri="{C3380CC4-5D6E-409C-BE32-E72D297353CC}">
              <c16:uniqueId val="{00000002-087B-4521-AFD0-D3B6BA18D5E6}"/>
            </c:ext>
          </c:extLst>
        </c:ser>
        <c:ser>
          <c:idx val="3"/>
          <c:order val="3"/>
          <c:tx>
            <c:strRef>
              <c:f>Sheet1!$B$262</c:f>
              <c:strCache>
                <c:ptCount val="1"/>
                <c:pt idx="0">
                  <c:v>52 days</c:v>
                </c:pt>
              </c:strCache>
            </c:strRef>
          </c:tx>
          <c:spPr>
            <a:ln w="28575">
              <a:solidFill>
                <a:srgbClr val="95C369"/>
              </a:solidFill>
            </a:ln>
          </c:spPr>
          <c:marker>
            <c:symbol val="none"/>
          </c:marker>
          <c:xVal>
            <c:numRef>
              <c:f>Sheet1!$A$263:$A$347</c:f>
              <c:numCache>
                <c:formatCode>General</c:formatCode>
                <c:ptCount val="85"/>
                <c:pt idx="0">
                  <c:v>0.90784954154535658</c:v>
                </c:pt>
                <c:pt idx="1">
                  <c:v>0.91008013009952204</c:v>
                </c:pt>
                <c:pt idx="2">
                  <c:v>0.91231071865368751</c:v>
                </c:pt>
                <c:pt idx="3">
                  <c:v>0.91454130720785298</c:v>
                </c:pt>
                <c:pt idx="4">
                  <c:v>0.91677189576201856</c:v>
                </c:pt>
                <c:pt idx="5">
                  <c:v>0.91900248431618403</c:v>
                </c:pt>
                <c:pt idx="6">
                  <c:v>0.9212330728703495</c:v>
                </c:pt>
                <c:pt idx="7">
                  <c:v>0.92346366142451497</c:v>
                </c:pt>
                <c:pt idx="8">
                  <c:v>0.92569424997868055</c:v>
                </c:pt>
                <c:pt idx="9">
                  <c:v>0.92792483853284602</c:v>
                </c:pt>
                <c:pt idx="10">
                  <c:v>0.93015542708701149</c:v>
                </c:pt>
                <c:pt idx="11">
                  <c:v>0.93238601564117696</c:v>
                </c:pt>
                <c:pt idx="12">
                  <c:v>0.93461660419534243</c:v>
                </c:pt>
                <c:pt idx="13">
                  <c:v>0.93684719274950801</c:v>
                </c:pt>
                <c:pt idx="14">
                  <c:v>0.93907778130367348</c:v>
                </c:pt>
                <c:pt idx="15">
                  <c:v>0.94130836985783894</c:v>
                </c:pt>
                <c:pt idx="16">
                  <c:v>0.94353895841200441</c:v>
                </c:pt>
                <c:pt idx="17">
                  <c:v>0.94576954696616999</c:v>
                </c:pt>
                <c:pt idx="18">
                  <c:v>0.94800013552033546</c:v>
                </c:pt>
                <c:pt idx="19">
                  <c:v>0.95023072407450093</c:v>
                </c:pt>
                <c:pt idx="20">
                  <c:v>0.9524613126286664</c:v>
                </c:pt>
                <c:pt idx="21">
                  <c:v>0.95469190118283198</c:v>
                </c:pt>
                <c:pt idx="22">
                  <c:v>0.95692248973699745</c:v>
                </c:pt>
                <c:pt idx="23">
                  <c:v>0.95915307829116292</c:v>
                </c:pt>
                <c:pt idx="24">
                  <c:v>0.96138366684532839</c:v>
                </c:pt>
                <c:pt idx="25">
                  <c:v>0.96361425539949397</c:v>
                </c:pt>
                <c:pt idx="26">
                  <c:v>0.96584484395365944</c:v>
                </c:pt>
                <c:pt idx="27">
                  <c:v>0.96807543250782491</c:v>
                </c:pt>
                <c:pt idx="28">
                  <c:v>0.97030602106199038</c:v>
                </c:pt>
                <c:pt idx="29">
                  <c:v>0.97253660961615584</c:v>
                </c:pt>
                <c:pt idx="30">
                  <c:v>0.97476719817032143</c:v>
                </c:pt>
                <c:pt idx="31">
                  <c:v>0.97699778672448689</c:v>
                </c:pt>
                <c:pt idx="32">
                  <c:v>0.97922837527865236</c:v>
                </c:pt>
                <c:pt idx="33">
                  <c:v>0.98145896383281783</c:v>
                </c:pt>
                <c:pt idx="34">
                  <c:v>0.98368955238698341</c:v>
                </c:pt>
                <c:pt idx="35">
                  <c:v>0.98592014094114888</c:v>
                </c:pt>
                <c:pt idx="36">
                  <c:v>0.98815072949531435</c:v>
                </c:pt>
                <c:pt idx="37">
                  <c:v>0.99038131804947982</c:v>
                </c:pt>
                <c:pt idx="38">
                  <c:v>0.9926119066036454</c:v>
                </c:pt>
                <c:pt idx="39">
                  <c:v>0.99484249515781087</c:v>
                </c:pt>
                <c:pt idx="40">
                  <c:v>0.99707308371197634</c:v>
                </c:pt>
                <c:pt idx="41">
                  <c:v>0.99930367226614181</c:v>
                </c:pt>
                <c:pt idx="42">
                  <c:v>1.0015342608203073</c:v>
                </c:pt>
                <c:pt idx="43">
                  <c:v>1.0037648493744729</c:v>
                </c:pt>
                <c:pt idx="44">
                  <c:v>1.0059954379286382</c:v>
                </c:pt>
                <c:pt idx="45">
                  <c:v>1.0082260264828038</c:v>
                </c:pt>
                <c:pt idx="46">
                  <c:v>1.0104566150369694</c:v>
                </c:pt>
                <c:pt idx="47">
                  <c:v>1.0126872035911347</c:v>
                </c:pt>
                <c:pt idx="48">
                  <c:v>1.0149177921453003</c:v>
                </c:pt>
                <c:pt idx="49">
                  <c:v>1.0171483806994659</c:v>
                </c:pt>
                <c:pt idx="50">
                  <c:v>1.0193789692536313</c:v>
                </c:pt>
                <c:pt idx="51">
                  <c:v>1.0216095578077968</c:v>
                </c:pt>
                <c:pt idx="52">
                  <c:v>1.0238401463619622</c:v>
                </c:pt>
                <c:pt idx="53">
                  <c:v>1.0260707349161278</c:v>
                </c:pt>
                <c:pt idx="54">
                  <c:v>1.0283013234702933</c:v>
                </c:pt>
                <c:pt idx="55">
                  <c:v>1.0305319120244587</c:v>
                </c:pt>
                <c:pt idx="56">
                  <c:v>1.0327625005786243</c:v>
                </c:pt>
                <c:pt idx="57">
                  <c:v>1.0349930891327899</c:v>
                </c:pt>
                <c:pt idx="58">
                  <c:v>1.0372236776869552</c:v>
                </c:pt>
                <c:pt idx="59">
                  <c:v>1.0394542662411208</c:v>
                </c:pt>
                <c:pt idx="60">
                  <c:v>1.0416848547952862</c:v>
                </c:pt>
                <c:pt idx="61">
                  <c:v>1.0439154433494517</c:v>
                </c:pt>
                <c:pt idx="62">
                  <c:v>1.0461460319036173</c:v>
                </c:pt>
                <c:pt idx="63">
                  <c:v>1.0483766204577827</c:v>
                </c:pt>
                <c:pt idx="64">
                  <c:v>1.0506072090119483</c:v>
                </c:pt>
                <c:pt idx="65">
                  <c:v>1.0528377975661136</c:v>
                </c:pt>
                <c:pt idx="66">
                  <c:v>1.0550683861202792</c:v>
                </c:pt>
                <c:pt idx="67">
                  <c:v>1.0572989746744448</c:v>
                </c:pt>
                <c:pt idx="68">
                  <c:v>1.0595295632286101</c:v>
                </c:pt>
                <c:pt idx="69">
                  <c:v>1.0617601517827757</c:v>
                </c:pt>
                <c:pt idx="70">
                  <c:v>1.0639907403369413</c:v>
                </c:pt>
                <c:pt idx="71">
                  <c:v>1.0662213288911067</c:v>
                </c:pt>
                <c:pt idx="72">
                  <c:v>1.0684519174452722</c:v>
                </c:pt>
                <c:pt idx="73">
                  <c:v>1.0706825059994376</c:v>
                </c:pt>
                <c:pt idx="74">
                  <c:v>1.0729130945536032</c:v>
                </c:pt>
                <c:pt idx="75">
                  <c:v>1.0751436831077688</c:v>
                </c:pt>
                <c:pt idx="76">
                  <c:v>1.0796048602160997</c:v>
                </c:pt>
                <c:pt idx="77">
                  <c:v>1.0818354487702651</c:v>
                </c:pt>
                <c:pt idx="78">
                  <c:v>1.0840660373244306</c:v>
                </c:pt>
                <c:pt idx="79">
                  <c:v>1.0885272144327616</c:v>
                </c:pt>
                <c:pt idx="80">
                  <c:v>1.0907578029869271</c:v>
                </c:pt>
                <c:pt idx="81">
                  <c:v>1.0929883915410927</c:v>
                </c:pt>
                <c:pt idx="82">
                  <c:v>1.0952189800952581</c:v>
                </c:pt>
                <c:pt idx="83">
                  <c:v>1.0974495686494237</c:v>
                </c:pt>
                <c:pt idx="84">
                  <c:v>1.099680157203589</c:v>
                </c:pt>
              </c:numCache>
            </c:numRef>
          </c:xVal>
          <c:yVal>
            <c:numRef>
              <c:f>Sheet1!$B$263:$B$347</c:f>
              <c:numCache>
                <c:formatCode>General</c:formatCode>
                <c:ptCount val="85"/>
                <c:pt idx="0">
                  <c:v>16.651974315326299</c:v>
                </c:pt>
                <c:pt idx="1">
                  <c:v>16.577201057639069</c:v>
                </c:pt>
                <c:pt idx="2">
                  <c:v>16.457874177684946</c:v>
                </c:pt>
                <c:pt idx="3">
                  <c:v>16.424501132052573</c:v>
                </c:pt>
                <c:pt idx="4">
                  <c:v>16.246779275636303</c:v>
                </c:pt>
                <c:pt idx="5">
                  <c:v>16.114131125328946</c:v>
                </c:pt>
                <c:pt idx="6">
                  <c:v>16.177077299087539</c:v>
                </c:pt>
                <c:pt idx="7">
                  <c:v>15.904036753746698</c:v>
                </c:pt>
                <c:pt idx="8">
                  <c:v>16.768973684274545</c:v>
                </c:pt>
                <c:pt idx="9">
                  <c:v>15.608739478780054</c:v>
                </c:pt>
                <c:pt idx="10">
                  <c:v>15.834838220930198</c:v>
                </c:pt>
                <c:pt idx="11">
                  <c:v>15.531173009625981</c:v>
                </c:pt>
                <c:pt idx="12">
                  <c:v>15.43669034964849</c:v>
                </c:pt>
                <c:pt idx="13">
                  <c:v>15.410467104457654</c:v>
                </c:pt>
                <c:pt idx="14">
                  <c:v>15.325362637124169</c:v>
                </c:pt>
                <c:pt idx="15">
                  <c:v>15.192555198344781</c:v>
                </c:pt>
                <c:pt idx="16">
                  <c:v>15.36388195346875</c:v>
                </c:pt>
                <c:pt idx="17">
                  <c:v>15.014506028703895</c:v>
                </c:pt>
                <c:pt idx="18">
                  <c:v>14.966328387666916</c:v>
                </c:pt>
                <c:pt idx="19">
                  <c:v>14.854639337408205</c:v>
                </c:pt>
                <c:pt idx="20">
                  <c:v>14.807067681395591</c:v>
                </c:pt>
                <c:pt idx="21">
                  <c:v>14.772648992525921</c:v>
                </c:pt>
                <c:pt idx="22">
                  <c:v>14.65417832770064</c:v>
                </c:pt>
                <c:pt idx="23">
                  <c:v>14.550717095389693</c:v>
                </c:pt>
                <c:pt idx="24">
                  <c:v>14.482075804011096</c:v>
                </c:pt>
                <c:pt idx="25">
                  <c:v>14.396019720709752</c:v>
                </c:pt>
                <c:pt idx="26">
                  <c:v>14.340310758563401</c:v>
                </c:pt>
                <c:pt idx="27">
                  <c:v>14.234592783615096</c:v>
                </c:pt>
                <c:pt idx="28">
                  <c:v>14.166082732630404</c:v>
                </c:pt>
                <c:pt idx="29">
                  <c:v>14.061238737139048</c:v>
                </c:pt>
                <c:pt idx="30">
                  <c:v>14.017816062973987</c:v>
                </c:pt>
                <c:pt idx="31">
                  <c:v>13.937085452060771</c:v>
                </c:pt>
                <c:pt idx="32">
                  <c:v>13.855193426588846</c:v>
                </c:pt>
                <c:pt idx="33">
                  <c:v>13.829954712038134</c:v>
                </c:pt>
                <c:pt idx="34">
                  <c:v>13.71897218430389</c:v>
                </c:pt>
                <c:pt idx="35">
                  <c:v>13.686210414138472</c:v>
                </c:pt>
                <c:pt idx="36">
                  <c:v>13.594069255651947</c:v>
                </c:pt>
                <c:pt idx="37">
                  <c:v>13.403844141682765</c:v>
                </c:pt>
                <c:pt idx="38">
                  <c:v>13.38211443120842</c:v>
                </c:pt>
                <c:pt idx="39">
                  <c:v>13.269039951127192</c:v>
                </c:pt>
                <c:pt idx="40">
                  <c:v>13.212484838505878</c:v>
                </c:pt>
                <c:pt idx="41">
                  <c:v>13.132858875274888</c:v>
                </c:pt>
                <c:pt idx="42">
                  <c:v>13.046192971370552</c:v>
                </c:pt>
                <c:pt idx="43">
                  <c:v>12.93835710180708</c:v>
                </c:pt>
                <c:pt idx="44">
                  <c:v>12.850086522108455</c:v>
                </c:pt>
                <c:pt idx="45">
                  <c:v>12.811712263897945</c:v>
                </c:pt>
                <c:pt idx="46">
                  <c:v>12.696646529540523</c:v>
                </c:pt>
                <c:pt idx="47">
                  <c:v>12.648478817422331</c:v>
                </c:pt>
                <c:pt idx="48">
                  <c:v>12.557810558266997</c:v>
                </c:pt>
                <c:pt idx="49">
                  <c:v>12.432405727554698</c:v>
                </c:pt>
                <c:pt idx="50">
                  <c:v>12.371084502372964</c:v>
                </c:pt>
                <c:pt idx="51">
                  <c:v>12.33445111837041</c:v>
                </c:pt>
                <c:pt idx="52">
                  <c:v>12.253247978084067</c:v>
                </c:pt>
                <c:pt idx="53">
                  <c:v>12.175017175672101</c:v>
                </c:pt>
                <c:pt idx="54">
                  <c:v>12.123642129235618</c:v>
                </c:pt>
                <c:pt idx="55">
                  <c:v>12.059615558585637</c:v>
                </c:pt>
                <c:pt idx="56">
                  <c:v>11.972756570739646</c:v>
                </c:pt>
                <c:pt idx="57">
                  <c:v>11.940618052928745</c:v>
                </c:pt>
                <c:pt idx="58">
                  <c:v>11.914791146440123</c:v>
                </c:pt>
                <c:pt idx="59">
                  <c:v>11.845593683046204</c:v>
                </c:pt>
                <c:pt idx="60">
                  <c:v>11.802454449465518</c:v>
                </c:pt>
                <c:pt idx="61">
                  <c:v>11.787989496311745</c:v>
                </c:pt>
                <c:pt idx="62">
                  <c:v>11.751000937443411</c:v>
                </c:pt>
                <c:pt idx="63">
                  <c:v>11.782966806049492</c:v>
                </c:pt>
                <c:pt idx="64">
                  <c:v>11.746190499259995</c:v>
                </c:pt>
                <c:pt idx="65">
                  <c:v>11.780660145398228</c:v>
                </c:pt>
                <c:pt idx="66">
                  <c:v>11.772511803869746</c:v>
                </c:pt>
                <c:pt idx="67">
                  <c:v>11.728591501010238</c:v>
                </c:pt>
                <c:pt idx="68">
                  <c:v>11.781215223934325</c:v>
                </c:pt>
                <c:pt idx="69">
                  <c:v>11.761473999320199</c:v>
                </c:pt>
                <c:pt idx="70">
                  <c:v>11.823189503301332</c:v>
                </c:pt>
                <c:pt idx="71">
                  <c:v>11.856877506317037</c:v>
                </c:pt>
                <c:pt idx="72">
                  <c:v>12.172206962828987</c:v>
                </c:pt>
                <c:pt idx="73">
                  <c:v>11.903142613537607</c:v>
                </c:pt>
                <c:pt idx="74">
                  <c:v>12.067659581524012</c:v>
                </c:pt>
                <c:pt idx="75">
                  <c:v>12.128499073926269</c:v>
                </c:pt>
                <c:pt idx="76">
                  <c:v>12.251229892691045</c:v>
                </c:pt>
                <c:pt idx="77">
                  <c:v>12.71635667358847</c:v>
                </c:pt>
                <c:pt idx="78">
                  <c:v>12.523174789105973</c:v>
                </c:pt>
                <c:pt idx="79">
                  <c:v>12.807157030256299</c:v>
                </c:pt>
                <c:pt idx="80">
                  <c:v>13.000630001500701</c:v>
                </c:pt>
                <c:pt idx="81">
                  <c:v>12.979033870627388</c:v>
                </c:pt>
                <c:pt idx="82">
                  <c:v>13.406033406082123</c:v>
                </c:pt>
                <c:pt idx="83">
                  <c:v>13.19068805004801</c:v>
                </c:pt>
                <c:pt idx="84">
                  <c:v>13.581753642823113</c:v>
                </c:pt>
              </c:numCache>
            </c:numRef>
          </c:yVal>
          <c:smooth val="0"/>
          <c:extLst>
            <c:ext xmlns:c16="http://schemas.microsoft.com/office/drawing/2014/chart" uri="{C3380CC4-5D6E-409C-BE32-E72D297353CC}">
              <c16:uniqueId val="{00000003-087B-4521-AFD0-D3B6BA18D5E6}"/>
            </c:ext>
          </c:extLst>
        </c:ser>
        <c:dLbls>
          <c:showLegendKey val="0"/>
          <c:showVal val="0"/>
          <c:showCatName val="0"/>
          <c:showSerName val="0"/>
          <c:showPercent val="0"/>
          <c:showBubbleSize val="0"/>
        </c:dLbls>
        <c:axId val="-2128940872"/>
        <c:axId val="-2129643912"/>
      </c:scatterChart>
      <c:valAx>
        <c:axId val="-2128940872"/>
        <c:scaling>
          <c:orientation val="minMax"/>
          <c:max val="1.1000000000000001"/>
          <c:min val="0.9"/>
        </c:scaling>
        <c:delete val="0"/>
        <c:axPos val="b"/>
        <c:majorGridlines>
          <c:spPr>
            <a:ln w="6350">
              <a:solidFill>
                <a:srgbClr val="FFFFFF">
                  <a:alpha val="18000"/>
                </a:srgbClr>
              </a:solidFill>
            </a:ln>
          </c:spPr>
        </c:majorGridlines>
        <c:title>
          <c:tx>
            <c:rich>
              <a:bodyPr/>
              <a:lstStyle/>
              <a:p>
                <a:r>
                  <a:rPr lang="en-IN" sz="1200" b="0">
                    <a:solidFill>
                      <a:srgbClr val="E6E0F2"/>
                    </a:solidFill>
                  </a:rPr>
                  <a:t>Moneyness K/F</a:t>
                </a:r>
              </a:p>
            </c:rich>
          </c:tx>
          <c:layout/>
          <c:overlay val="0"/>
        </c:title>
        <c:numFmt formatCode="0.0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title>
          <c:tx>
            <c:rich>
              <a:bodyPr/>
              <a:lstStyle/>
              <a:p>
                <a:r>
                  <a:rPr lang="en-IN" sz="1200" b="0">
                    <a:solidFill>
                      <a:srgbClr val="E6E0F2"/>
                    </a:solidFill>
                  </a:rPr>
                  <a:t>Implied vol (%)</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P&amp;L at expiry</c:v>
                </c:pt>
              </c:strCache>
            </c:strRef>
          </c:tx>
          <c:spPr>
            <a:ln w="28575">
              <a:solidFill>
                <a:srgbClr val="FFFFFF"/>
              </a:solidFill>
            </a:ln>
          </c:spPr>
          <c:marker>
            <c:symbol val="none"/>
          </c:marker>
          <c:xVal>
            <c:numRef>
              <c:f>Sheet1!$A$2:$A$81</c:f>
              <c:numCache>
                <c:formatCode>General</c:formatCode>
                <c:ptCount val="80"/>
                <c:pt idx="0">
                  <c:v>20850</c:v>
                </c:pt>
                <c:pt idx="1">
                  <c:v>20885.443037974685</c:v>
                </c:pt>
                <c:pt idx="2">
                  <c:v>20920.886075949365</c:v>
                </c:pt>
                <c:pt idx="3">
                  <c:v>20956.32911392405</c:v>
                </c:pt>
                <c:pt idx="4">
                  <c:v>20991.772151898735</c:v>
                </c:pt>
                <c:pt idx="5">
                  <c:v>21027.215189873419</c:v>
                </c:pt>
                <c:pt idx="6">
                  <c:v>21062.6582278481</c:v>
                </c:pt>
                <c:pt idx="7">
                  <c:v>21098.101265822785</c:v>
                </c:pt>
                <c:pt idx="8">
                  <c:v>21133.544303797469</c:v>
                </c:pt>
                <c:pt idx="9">
                  <c:v>21168.98734177215</c:v>
                </c:pt>
                <c:pt idx="10">
                  <c:v>21204.430379746835</c:v>
                </c:pt>
                <c:pt idx="11">
                  <c:v>21239.873417721519</c:v>
                </c:pt>
                <c:pt idx="12">
                  <c:v>21275.316455696204</c:v>
                </c:pt>
                <c:pt idx="13">
                  <c:v>21310.759493670885</c:v>
                </c:pt>
                <c:pt idx="14">
                  <c:v>21346.202531645569</c:v>
                </c:pt>
                <c:pt idx="15">
                  <c:v>21381.645569620254</c:v>
                </c:pt>
                <c:pt idx="16">
                  <c:v>21417.088607594938</c:v>
                </c:pt>
                <c:pt idx="17">
                  <c:v>21452.531645569619</c:v>
                </c:pt>
                <c:pt idx="18">
                  <c:v>21487.974683544304</c:v>
                </c:pt>
                <c:pt idx="19">
                  <c:v>21523.417721518988</c:v>
                </c:pt>
                <c:pt idx="20">
                  <c:v>21558.860759493669</c:v>
                </c:pt>
                <c:pt idx="21">
                  <c:v>21594.303797468354</c:v>
                </c:pt>
                <c:pt idx="22">
                  <c:v>21629.746835443038</c:v>
                </c:pt>
                <c:pt idx="23">
                  <c:v>21665.189873417723</c:v>
                </c:pt>
                <c:pt idx="24">
                  <c:v>21700.632911392404</c:v>
                </c:pt>
                <c:pt idx="25">
                  <c:v>21736.075949367088</c:v>
                </c:pt>
                <c:pt idx="26">
                  <c:v>21771.518987341773</c:v>
                </c:pt>
                <c:pt idx="27">
                  <c:v>21806.962025316454</c:v>
                </c:pt>
                <c:pt idx="28">
                  <c:v>21842.405063291139</c:v>
                </c:pt>
                <c:pt idx="29">
                  <c:v>21877.848101265823</c:v>
                </c:pt>
                <c:pt idx="30">
                  <c:v>21913.291139240508</c:v>
                </c:pt>
                <c:pt idx="31">
                  <c:v>21948.734177215189</c:v>
                </c:pt>
                <c:pt idx="32">
                  <c:v>21984.177215189873</c:v>
                </c:pt>
                <c:pt idx="33">
                  <c:v>22019.620253164558</c:v>
                </c:pt>
                <c:pt idx="34">
                  <c:v>22055.063291139239</c:v>
                </c:pt>
                <c:pt idx="35">
                  <c:v>22090.506329113923</c:v>
                </c:pt>
                <c:pt idx="36">
                  <c:v>22125.949367088608</c:v>
                </c:pt>
                <c:pt idx="37">
                  <c:v>22161.392405063292</c:v>
                </c:pt>
                <c:pt idx="38">
                  <c:v>22196.835443037973</c:v>
                </c:pt>
                <c:pt idx="39">
                  <c:v>22232.278481012658</c:v>
                </c:pt>
                <c:pt idx="40">
                  <c:v>22267.721518987342</c:v>
                </c:pt>
                <c:pt idx="41">
                  <c:v>22303.164556962027</c:v>
                </c:pt>
                <c:pt idx="42">
                  <c:v>22338.607594936708</c:v>
                </c:pt>
                <c:pt idx="43">
                  <c:v>22374.050632911392</c:v>
                </c:pt>
                <c:pt idx="44">
                  <c:v>22409.493670886077</c:v>
                </c:pt>
                <c:pt idx="45">
                  <c:v>22444.936708860758</c:v>
                </c:pt>
                <c:pt idx="46">
                  <c:v>22480.379746835442</c:v>
                </c:pt>
                <c:pt idx="47">
                  <c:v>22515.822784810127</c:v>
                </c:pt>
                <c:pt idx="48">
                  <c:v>22551.265822784811</c:v>
                </c:pt>
                <c:pt idx="49">
                  <c:v>22586.708860759492</c:v>
                </c:pt>
                <c:pt idx="50">
                  <c:v>22622.151898734177</c:v>
                </c:pt>
                <c:pt idx="51">
                  <c:v>22657.594936708861</c:v>
                </c:pt>
                <c:pt idx="52">
                  <c:v>22693.037974683546</c:v>
                </c:pt>
                <c:pt idx="53">
                  <c:v>22728.481012658227</c:v>
                </c:pt>
                <c:pt idx="54">
                  <c:v>22763.924050632912</c:v>
                </c:pt>
                <c:pt idx="55">
                  <c:v>22799.367088607596</c:v>
                </c:pt>
                <c:pt idx="56">
                  <c:v>22834.810126582277</c:v>
                </c:pt>
                <c:pt idx="57">
                  <c:v>22870.253164556962</c:v>
                </c:pt>
                <c:pt idx="58">
                  <c:v>22905.696202531646</c:v>
                </c:pt>
                <c:pt idx="59">
                  <c:v>22941.139240506331</c:v>
                </c:pt>
                <c:pt idx="60">
                  <c:v>22976.582278481012</c:v>
                </c:pt>
                <c:pt idx="61">
                  <c:v>23012.025316455696</c:v>
                </c:pt>
                <c:pt idx="62">
                  <c:v>23047.468354430381</c:v>
                </c:pt>
                <c:pt idx="63">
                  <c:v>23082.911392405062</c:v>
                </c:pt>
                <c:pt idx="64">
                  <c:v>23118.354430379746</c:v>
                </c:pt>
                <c:pt idx="65">
                  <c:v>23153.797468354431</c:v>
                </c:pt>
                <c:pt idx="66">
                  <c:v>23189.240506329115</c:v>
                </c:pt>
                <c:pt idx="67">
                  <c:v>23224.683544303796</c:v>
                </c:pt>
                <c:pt idx="68">
                  <c:v>23260.126582278481</c:v>
                </c:pt>
                <c:pt idx="69">
                  <c:v>23295.569620253165</c:v>
                </c:pt>
                <c:pt idx="70">
                  <c:v>23331.012658227846</c:v>
                </c:pt>
                <c:pt idx="71">
                  <c:v>23366.455696202531</c:v>
                </c:pt>
                <c:pt idx="72">
                  <c:v>23401.898734177215</c:v>
                </c:pt>
                <c:pt idx="73">
                  <c:v>23437.3417721519</c:v>
                </c:pt>
                <c:pt idx="74">
                  <c:v>23472.784810126581</c:v>
                </c:pt>
                <c:pt idx="75">
                  <c:v>23508.227848101265</c:v>
                </c:pt>
                <c:pt idx="76">
                  <c:v>23543.67088607595</c:v>
                </c:pt>
                <c:pt idx="77">
                  <c:v>23579.113924050631</c:v>
                </c:pt>
                <c:pt idx="78">
                  <c:v>23614.556962025315</c:v>
                </c:pt>
                <c:pt idx="79">
                  <c:v>23650</c:v>
                </c:pt>
              </c:numCache>
            </c:numRef>
          </c:xVal>
          <c:yVal>
            <c:numRef>
              <c:f>Sheet1!$B$2:$B$81</c:f>
              <c:numCache>
                <c:formatCode>General</c:formatCode>
                <c:ptCount val="80"/>
                <c:pt idx="0">
                  <c:v>806.25</c:v>
                </c:pt>
                <c:pt idx="1">
                  <c:v>770.80696202531544</c:v>
                </c:pt>
                <c:pt idx="2">
                  <c:v>735.36392405063452</c:v>
                </c:pt>
                <c:pt idx="3">
                  <c:v>699.92088607594997</c:v>
                </c:pt>
                <c:pt idx="4">
                  <c:v>664.47784810126541</c:v>
                </c:pt>
                <c:pt idx="5">
                  <c:v>629.03481012658085</c:v>
                </c:pt>
                <c:pt idx="6">
                  <c:v>593.59177215189993</c:v>
                </c:pt>
                <c:pt idx="7">
                  <c:v>558.14873417721537</c:v>
                </c:pt>
                <c:pt idx="8">
                  <c:v>522.70569620253082</c:v>
                </c:pt>
                <c:pt idx="9">
                  <c:v>487.2626582278499</c:v>
                </c:pt>
                <c:pt idx="10">
                  <c:v>451.81962025316534</c:v>
                </c:pt>
                <c:pt idx="11">
                  <c:v>416.37658227848078</c:v>
                </c:pt>
                <c:pt idx="12">
                  <c:v>380.93354430379622</c:v>
                </c:pt>
                <c:pt idx="13">
                  <c:v>345.49050632911531</c:v>
                </c:pt>
                <c:pt idx="14">
                  <c:v>310.04746835443075</c:v>
                </c:pt>
                <c:pt idx="15">
                  <c:v>274.60443037974619</c:v>
                </c:pt>
                <c:pt idx="16">
                  <c:v>239.16139240506163</c:v>
                </c:pt>
                <c:pt idx="17">
                  <c:v>203.71835443038071</c:v>
                </c:pt>
                <c:pt idx="18">
                  <c:v>168.27531645569616</c:v>
                </c:pt>
                <c:pt idx="19">
                  <c:v>132.8322784810116</c:v>
                </c:pt>
                <c:pt idx="20">
                  <c:v>97.38924050633068</c:v>
                </c:pt>
                <c:pt idx="21">
                  <c:v>61.946202531646122</c:v>
                </c:pt>
                <c:pt idx="22">
                  <c:v>26.503164556961565</c:v>
                </c:pt>
                <c:pt idx="23">
                  <c:v>-8.9398734177229926</c:v>
                </c:pt>
                <c:pt idx="24">
                  <c:v>-44.382911392403912</c:v>
                </c:pt>
                <c:pt idx="25">
                  <c:v>-79.825949367088469</c:v>
                </c:pt>
                <c:pt idx="26">
                  <c:v>-115.26898734177303</c:v>
                </c:pt>
                <c:pt idx="27">
                  <c:v>-150.71202531645395</c:v>
                </c:pt>
                <c:pt idx="28">
                  <c:v>-186.1550632911385</c:v>
                </c:pt>
                <c:pt idx="29">
                  <c:v>-221.59810126582306</c:v>
                </c:pt>
                <c:pt idx="30">
                  <c:v>-257.04113924050762</c:v>
                </c:pt>
                <c:pt idx="31">
                  <c:v>-292.48417721518854</c:v>
                </c:pt>
                <c:pt idx="32">
                  <c:v>-327.9272151898731</c:v>
                </c:pt>
                <c:pt idx="33">
                  <c:v>-363.37025316455765</c:v>
                </c:pt>
                <c:pt idx="34">
                  <c:v>-398.81329113923857</c:v>
                </c:pt>
                <c:pt idx="35">
                  <c:v>-434.25632911392313</c:v>
                </c:pt>
                <c:pt idx="36">
                  <c:v>-469.69936708860769</c:v>
                </c:pt>
                <c:pt idx="37">
                  <c:v>-505.14240506329224</c:v>
                </c:pt>
                <c:pt idx="38">
                  <c:v>-540.58544303797316</c:v>
                </c:pt>
                <c:pt idx="39">
                  <c:v>-576.02848101265772</c:v>
                </c:pt>
                <c:pt idx="40">
                  <c:v>-576.02848101265772</c:v>
                </c:pt>
                <c:pt idx="41">
                  <c:v>-540.58544303797316</c:v>
                </c:pt>
                <c:pt idx="42">
                  <c:v>-505.14240506329224</c:v>
                </c:pt>
                <c:pt idx="43">
                  <c:v>-469.69936708860769</c:v>
                </c:pt>
                <c:pt idx="44">
                  <c:v>-434.25632911392313</c:v>
                </c:pt>
                <c:pt idx="45">
                  <c:v>-398.81329113924221</c:v>
                </c:pt>
                <c:pt idx="46">
                  <c:v>-363.37025316455765</c:v>
                </c:pt>
                <c:pt idx="47">
                  <c:v>-327.9272151898731</c:v>
                </c:pt>
                <c:pt idx="48">
                  <c:v>-292.48417721518854</c:v>
                </c:pt>
                <c:pt idx="49">
                  <c:v>-257.04113924050762</c:v>
                </c:pt>
                <c:pt idx="50">
                  <c:v>-221.59810126582306</c:v>
                </c:pt>
                <c:pt idx="51">
                  <c:v>-186.1550632911385</c:v>
                </c:pt>
                <c:pt idx="52">
                  <c:v>-150.71202531645395</c:v>
                </c:pt>
                <c:pt idx="53">
                  <c:v>-115.26898734177303</c:v>
                </c:pt>
                <c:pt idx="54">
                  <c:v>-79.825949367088469</c:v>
                </c:pt>
                <c:pt idx="55">
                  <c:v>-44.382911392403912</c:v>
                </c:pt>
                <c:pt idx="56">
                  <c:v>-8.9398734177229926</c:v>
                </c:pt>
                <c:pt idx="57">
                  <c:v>26.503164556961565</c:v>
                </c:pt>
                <c:pt idx="58">
                  <c:v>61.946202531646122</c:v>
                </c:pt>
                <c:pt idx="59">
                  <c:v>97.38924050633068</c:v>
                </c:pt>
                <c:pt idx="60">
                  <c:v>132.8322784810116</c:v>
                </c:pt>
                <c:pt idx="61">
                  <c:v>168.27531645569616</c:v>
                </c:pt>
                <c:pt idx="62">
                  <c:v>203.71835443038071</c:v>
                </c:pt>
                <c:pt idx="63">
                  <c:v>239.16139240506163</c:v>
                </c:pt>
                <c:pt idx="64">
                  <c:v>274.60443037974619</c:v>
                </c:pt>
                <c:pt idx="65">
                  <c:v>310.04746835443075</c:v>
                </c:pt>
                <c:pt idx="66">
                  <c:v>345.49050632911531</c:v>
                </c:pt>
                <c:pt idx="67">
                  <c:v>380.93354430379622</c:v>
                </c:pt>
                <c:pt idx="68">
                  <c:v>416.37658227848078</c:v>
                </c:pt>
                <c:pt idx="69">
                  <c:v>451.81962025316534</c:v>
                </c:pt>
                <c:pt idx="70">
                  <c:v>487.26265822784626</c:v>
                </c:pt>
                <c:pt idx="71">
                  <c:v>522.70569620253082</c:v>
                </c:pt>
                <c:pt idx="72">
                  <c:v>558.14873417721537</c:v>
                </c:pt>
                <c:pt idx="73">
                  <c:v>593.59177215189993</c:v>
                </c:pt>
                <c:pt idx="74">
                  <c:v>629.03481012658085</c:v>
                </c:pt>
                <c:pt idx="75">
                  <c:v>664.47784810126541</c:v>
                </c:pt>
                <c:pt idx="76">
                  <c:v>699.92088607594997</c:v>
                </c:pt>
                <c:pt idx="77">
                  <c:v>735.36392405063089</c:v>
                </c:pt>
                <c:pt idx="78">
                  <c:v>770.80696202531544</c:v>
                </c:pt>
                <c:pt idx="79">
                  <c:v>806.25</c:v>
                </c:pt>
              </c:numCache>
            </c:numRef>
          </c:yVal>
          <c:smooth val="0"/>
          <c:extLst>
            <c:ext xmlns:c16="http://schemas.microsoft.com/office/drawing/2014/chart" uri="{C3380CC4-5D6E-409C-BE32-E72D297353CC}">
              <c16:uniqueId val="{00000000-B447-4081-959D-79C2E0055A24}"/>
            </c:ext>
          </c:extLst>
        </c:ser>
        <c:ser>
          <c:idx val="1"/>
          <c:order val="1"/>
          <c:tx>
            <c:strRef>
              <c:f>Sheet1!$B$83</c:f>
              <c:strCache>
                <c:ptCount val="1"/>
                <c:pt idx="0">
                  <c:v>P&amp;L today (model, vs F)</c:v>
                </c:pt>
              </c:strCache>
            </c:strRef>
          </c:tx>
          <c:spPr>
            <a:ln w="28575">
              <a:solidFill>
                <a:srgbClr val="FFD166"/>
              </a:solidFill>
              <a:prstDash val="dash"/>
            </a:ln>
          </c:spPr>
          <c:marker>
            <c:symbol val="none"/>
          </c:marker>
          <c:xVal>
            <c:numRef>
              <c:f>Sheet1!$A$84:$A$163</c:f>
              <c:numCache>
                <c:formatCode>General</c:formatCode>
                <c:ptCount val="80"/>
                <c:pt idx="0">
                  <c:v>20850</c:v>
                </c:pt>
                <c:pt idx="1">
                  <c:v>20885.443037974685</c:v>
                </c:pt>
                <c:pt idx="2">
                  <c:v>20920.886075949365</c:v>
                </c:pt>
                <c:pt idx="3">
                  <c:v>20956.32911392405</c:v>
                </c:pt>
                <c:pt idx="4">
                  <c:v>20991.772151898735</c:v>
                </c:pt>
                <c:pt idx="5">
                  <c:v>21027.215189873419</c:v>
                </c:pt>
                <c:pt idx="6">
                  <c:v>21062.6582278481</c:v>
                </c:pt>
                <c:pt idx="7">
                  <c:v>21098.101265822785</c:v>
                </c:pt>
                <c:pt idx="8">
                  <c:v>21133.544303797469</c:v>
                </c:pt>
                <c:pt idx="9">
                  <c:v>21168.98734177215</c:v>
                </c:pt>
                <c:pt idx="10">
                  <c:v>21204.430379746835</c:v>
                </c:pt>
                <c:pt idx="11">
                  <c:v>21239.873417721519</c:v>
                </c:pt>
                <c:pt idx="12">
                  <c:v>21275.316455696204</c:v>
                </c:pt>
                <c:pt idx="13">
                  <c:v>21310.759493670885</c:v>
                </c:pt>
                <c:pt idx="14">
                  <c:v>21346.202531645569</c:v>
                </c:pt>
                <c:pt idx="15">
                  <c:v>21381.645569620254</c:v>
                </c:pt>
                <c:pt idx="16">
                  <c:v>21417.088607594938</c:v>
                </c:pt>
                <c:pt idx="17">
                  <c:v>21452.531645569619</c:v>
                </c:pt>
                <c:pt idx="18">
                  <c:v>21487.974683544304</c:v>
                </c:pt>
                <c:pt idx="19">
                  <c:v>21523.417721518988</c:v>
                </c:pt>
                <c:pt idx="20">
                  <c:v>21558.860759493669</c:v>
                </c:pt>
                <c:pt idx="21">
                  <c:v>21594.303797468354</c:v>
                </c:pt>
                <c:pt idx="22">
                  <c:v>21629.746835443038</c:v>
                </c:pt>
                <c:pt idx="23">
                  <c:v>21665.189873417723</c:v>
                </c:pt>
                <c:pt idx="24">
                  <c:v>21700.632911392404</c:v>
                </c:pt>
                <c:pt idx="25">
                  <c:v>21736.075949367088</c:v>
                </c:pt>
                <c:pt idx="26">
                  <c:v>21771.518987341773</c:v>
                </c:pt>
                <c:pt idx="27">
                  <c:v>21806.962025316454</c:v>
                </c:pt>
                <c:pt idx="28">
                  <c:v>21842.405063291139</c:v>
                </c:pt>
                <c:pt idx="29">
                  <c:v>21877.848101265823</c:v>
                </c:pt>
                <c:pt idx="30">
                  <c:v>21913.291139240508</c:v>
                </c:pt>
                <c:pt idx="31">
                  <c:v>21948.734177215189</c:v>
                </c:pt>
                <c:pt idx="32">
                  <c:v>21984.177215189873</c:v>
                </c:pt>
                <c:pt idx="33">
                  <c:v>22019.620253164558</c:v>
                </c:pt>
                <c:pt idx="34">
                  <c:v>22055.063291139239</c:v>
                </c:pt>
                <c:pt idx="35">
                  <c:v>22090.506329113923</c:v>
                </c:pt>
                <c:pt idx="36">
                  <c:v>22125.949367088608</c:v>
                </c:pt>
                <c:pt idx="37">
                  <c:v>22161.392405063292</c:v>
                </c:pt>
                <c:pt idx="38">
                  <c:v>22196.835443037973</c:v>
                </c:pt>
                <c:pt idx="39">
                  <c:v>22232.278481012658</c:v>
                </c:pt>
                <c:pt idx="40">
                  <c:v>22267.721518987342</c:v>
                </c:pt>
                <c:pt idx="41">
                  <c:v>22303.164556962027</c:v>
                </c:pt>
                <c:pt idx="42">
                  <c:v>22338.607594936708</c:v>
                </c:pt>
                <c:pt idx="43">
                  <c:v>22374.050632911392</c:v>
                </c:pt>
                <c:pt idx="44">
                  <c:v>22409.493670886077</c:v>
                </c:pt>
                <c:pt idx="45">
                  <c:v>22444.936708860758</c:v>
                </c:pt>
                <c:pt idx="46">
                  <c:v>22480.379746835442</c:v>
                </c:pt>
                <c:pt idx="47">
                  <c:v>22515.822784810127</c:v>
                </c:pt>
                <c:pt idx="48">
                  <c:v>22551.265822784811</c:v>
                </c:pt>
                <c:pt idx="49">
                  <c:v>22586.708860759492</c:v>
                </c:pt>
                <c:pt idx="50">
                  <c:v>22622.151898734177</c:v>
                </c:pt>
                <c:pt idx="51">
                  <c:v>22657.594936708861</c:v>
                </c:pt>
                <c:pt idx="52">
                  <c:v>22693.037974683546</c:v>
                </c:pt>
                <c:pt idx="53">
                  <c:v>22728.481012658227</c:v>
                </c:pt>
                <c:pt idx="54">
                  <c:v>22763.924050632912</c:v>
                </c:pt>
                <c:pt idx="55">
                  <c:v>22799.367088607596</c:v>
                </c:pt>
                <c:pt idx="56">
                  <c:v>22834.810126582277</c:v>
                </c:pt>
                <c:pt idx="57">
                  <c:v>22870.253164556962</c:v>
                </c:pt>
                <c:pt idx="58">
                  <c:v>22905.696202531646</c:v>
                </c:pt>
                <c:pt idx="59">
                  <c:v>22941.139240506331</c:v>
                </c:pt>
                <c:pt idx="60">
                  <c:v>22976.582278481012</c:v>
                </c:pt>
                <c:pt idx="61">
                  <c:v>23012.025316455696</c:v>
                </c:pt>
                <c:pt idx="62">
                  <c:v>23047.468354430381</c:v>
                </c:pt>
                <c:pt idx="63">
                  <c:v>23082.911392405062</c:v>
                </c:pt>
                <c:pt idx="64">
                  <c:v>23118.354430379746</c:v>
                </c:pt>
                <c:pt idx="65">
                  <c:v>23153.797468354431</c:v>
                </c:pt>
                <c:pt idx="66">
                  <c:v>23189.240506329115</c:v>
                </c:pt>
                <c:pt idx="67">
                  <c:v>23224.683544303796</c:v>
                </c:pt>
                <c:pt idx="68">
                  <c:v>23260.126582278481</c:v>
                </c:pt>
                <c:pt idx="69">
                  <c:v>23295.569620253165</c:v>
                </c:pt>
                <c:pt idx="70">
                  <c:v>23331.012658227846</c:v>
                </c:pt>
                <c:pt idx="71">
                  <c:v>23366.455696202531</c:v>
                </c:pt>
                <c:pt idx="72">
                  <c:v>23401.898734177215</c:v>
                </c:pt>
                <c:pt idx="73">
                  <c:v>23437.3417721519</c:v>
                </c:pt>
                <c:pt idx="74">
                  <c:v>23472.784810126581</c:v>
                </c:pt>
                <c:pt idx="75">
                  <c:v>23508.227848101265</c:v>
                </c:pt>
                <c:pt idx="76">
                  <c:v>23543.67088607595</c:v>
                </c:pt>
                <c:pt idx="77">
                  <c:v>23579.113924050631</c:v>
                </c:pt>
                <c:pt idx="78">
                  <c:v>23614.556962025315</c:v>
                </c:pt>
                <c:pt idx="79">
                  <c:v>23650</c:v>
                </c:pt>
              </c:numCache>
            </c:numRef>
          </c:xVal>
          <c:yVal>
            <c:numRef>
              <c:f>Sheet1!$B$84:$B$163</c:f>
              <c:numCache>
                <c:formatCode>General</c:formatCode>
                <c:ptCount val="80"/>
                <c:pt idx="0">
                  <c:v>809.69381205260561</c:v>
                </c:pt>
                <c:pt idx="1">
                  <c:v>776.62465592276749</c:v>
                </c:pt>
                <c:pt idx="2">
                  <c:v>743.80571494859532</c:v>
                </c:pt>
                <c:pt idx="3">
                  <c:v>711.26071449665005</c:v>
                </c:pt>
                <c:pt idx="4">
                  <c:v>679.01482817063265</c:v>
                </c:pt>
                <c:pt idx="5">
                  <c:v>647.09467451163232</c:v>
                </c:pt>
                <c:pt idx="6">
                  <c:v>615.52830241085439</c:v>
                </c:pt>
                <c:pt idx="7">
                  <c:v>584.34516450226306</c:v>
                </c:pt>
                <c:pt idx="8">
                  <c:v>553.57607790043448</c:v>
                </c:pt>
                <c:pt idx="9">
                  <c:v>523.25317176270732</c:v>
                </c:pt>
                <c:pt idx="10">
                  <c:v>493.40982128453015</c:v>
                </c:pt>
                <c:pt idx="11">
                  <c:v>464.08056788056365</c:v>
                </c:pt>
                <c:pt idx="12">
                  <c:v>435.30102546022977</c:v>
                </c:pt>
                <c:pt idx="13">
                  <c:v>407.1077728733793</c:v>
                </c:pt>
                <c:pt idx="14">
                  <c:v>379.53823277670051</c:v>
                </c:pt>
                <c:pt idx="15">
                  <c:v>352.63053735204596</c:v>
                </c:pt>
                <c:pt idx="16">
                  <c:v>326.4233814914935</c:v>
                </c:pt>
                <c:pt idx="17">
                  <c:v>300.95586424707164</c:v>
                </c:pt>
                <c:pt idx="18">
                  <c:v>276.26731952300759</c:v>
                </c:pt>
                <c:pt idx="19">
                  <c:v>252.39713716196934</c:v>
                </c:pt>
                <c:pt idx="20">
                  <c:v>229.38457574016456</c:v>
                </c:pt>
                <c:pt idx="21">
                  <c:v>207.26856853725985</c:v>
                </c:pt>
                <c:pt idx="22">
                  <c:v>186.08752428215359</c:v>
                </c:pt>
                <c:pt idx="23">
                  <c:v>165.87912439194554</c:v>
                </c:pt>
                <c:pt idx="24">
                  <c:v>146.68011851733877</c:v>
                </c:pt>
                <c:pt idx="25">
                  <c:v>128.52612027972009</c:v>
                </c:pt>
                <c:pt idx="26">
                  <c:v>111.45140513282013</c:v>
                </c:pt>
                <c:pt idx="27">
                  <c:v>95.488712303004831</c:v>
                </c:pt>
                <c:pt idx="28">
                  <c:v>80.669052756424662</c:v>
                </c:pt>
                <c:pt idx="29">
                  <c:v>67.02152510800056</c:v>
                </c:pt>
                <c:pt idx="30">
                  <c:v>54.573141326715586</c:v>
                </c:pt>
                <c:pt idx="31">
                  <c:v>43.348664004451166</c:v>
                </c:pt>
                <c:pt idx="32">
                  <c:v>33.370456843261763</c:v>
                </c:pt>
                <c:pt idx="33">
                  <c:v>24.658349879423099</c:v>
                </c:pt>
                <c:pt idx="34">
                  <c:v>17.229520804634831</c:v>
                </c:pt>
                <c:pt idx="35">
                  <c:v>11.098393567424068</c:v>
                </c:pt>
                <c:pt idx="36">
                  <c:v>6.2765552440660031</c:v>
                </c:pt>
                <c:pt idx="37">
                  <c:v>2.7726919613642167</c:v>
                </c:pt>
                <c:pt idx="38">
                  <c:v>0.59254443665406598</c:v>
                </c:pt>
                <c:pt idx="39">
                  <c:v>-0.26111652295981003</c:v>
                </c:pt>
                <c:pt idx="40">
                  <c:v>0.21150555352994616</c:v>
                </c:pt>
                <c:pt idx="41">
                  <c:v>2.00724834017592</c:v>
                </c:pt>
                <c:pt idx="42">
                  <c:v>5.1200258870358084</c:v>
                </c:pt>
                <c:pt idx="43">
                  <c:v>9.5408828818181064</c:v>
                </c:pt>
                <c:pt idx="44">
                  <c:v>15.25806725230882</c:v>
                </c:pt>
                <c:pt idx="45">
                  <c:v>22.2571201722252</c:v>
                </c:pt>
                <c:pt idx="46">
                  <c:v>30.520982360276321</c:v>
                </c:pt>
                <c:pt idx="47">
                  <c:v>40.030115407764811</c:v>
                </c:pt>
                <c:pt idx="48">
                  <c:v>50.762636736170634</c:v>
                </c:pt>
                <c:pt idx="49">
                  <c:v>62.694466674151954</c:v>
                </c:pt>
                <c:pt idx="50">
                  <c:v>75.799486054245563</c:v>
                </c:pt>
                <c:pt idx="51">
                  <c:v>90.049702664179677</c:v>
                </c:pt>
                <c:pt idx="52">
                  <c:v>105.41542484576337</c:v>
                </c:pt>
                <c:pt idx="53">
                  <c:v>121.86544051611486</c:v>
                </c:pt>
                <c:pt idx="54">
                  <c:v>139.36719989044218</c:v>
                </c:pt>
                <c:pt idx="55">
                  <c:v>157.88700021207706</c:v>
                </c:pt>
                <c:pt idx="56">
                  <c:v>177.39017084219847</c:v>
                </c:pt>
                <c:pt idx="57">
                  <c:v>197.84125712767866</c:v>
                </c:pt>
                <c:pt idx="58">
                  <c:v>219.20420154823375</c:v>
                </c:pt>
                <c:pt idx="59">
                  <c:v>241.44252074190058</c:v>
                </c:pt>
                <c:pt idx="60">
                  <c:v>264.51947711862977</c:v>
                </c:pt>
                <c:pt idx="61">
                  <c:v>288.39824389285229</c:v>
                </c:pt>
                <c:pt idx="62">
                  <c:v>313.04206249527113</c:v>
                </c:pt>
                <c:pt idx="63">
                  <c:v>338.41439145924664</c:v>
                </c:pt>
                <c:pt idx="64">
                  <c:v>364.47904601594212</c:v>
                </c:pt>
                <c:pt idx="65">
                  <c:v>391.20032777219581</c:v>
                </c:pt>
                <c:pt idx="66">
                  <c:v>418.54314398450595</c:v>
                </c:pt>
                <c:pt idx="67">
                  <c:v>446.47311607890333</c:v>
                </c:pt>
                <c:pt idx="68">
                  <c:v>474.95667719833273</c:v>
                </c:pt>
                <c:pt idx="69">
                  <c:v>503.96115868529455</c:v>
                </c:pt>
                <c:pt idx="70">
                  <c:v>533.45486552563125</c:v>
                </c:pt>
                <c:pt idx="71">
                  <c:v>563.40714088938694</c:v>
                </c:pt>
                <c:pt idx="72">
                  <c:v>593.78842000487043</c:v>
                </c:pt>
                <c:pt idx="73">
                  <c:v>624.57027369197408</c:v>
                </c:pt>
                <c:pt idx="74">
                  <c:v>655.72544196050421</c:v>
                </c:pt>
                <c:pt idx="75">
                  <c:v>687.22785814726876</c:v>
                </c:pt>
                <c:pt idx="76">
                  <c:v>719.05266412325932</c:v>
                </c:pt>
                <c:pt idx="77">
                  <c:v>751.17621714851998</c:v>
                </c:pt>
                <c:pt idx="78">
                  <c:v>783.57608898802687</c:v>
                </c:pt>
                <c:pt idx="79">
                  <c:v>816.23105792736033</c:v>
                </c:pt>
              </c:numCache>
            </c:numRef>
          </c:yVal>
          <c:smooth val="0"/>
          <c:extLst>
            <c:ext xmlns:c16="http://schemas.microsoft.com/office/drawing/2014/chart" uri="{C3380CC4-5D6E-409C-BE32-E72D297353CC}">
              <c16:uniqueId val="{00000001-B447-4081-959D-79C2E0055A24}"/>
            </c:ext>
          </c:extLst>
        </c:ser>
        <c:dLbls>
          <c:showLegendKey val="0"/>
          <c:showVal val="0"/>
          <c:showCatName val="0"/>
          <c:showSerName val="0"/>
          <c:showPercent val="0"/>
          <c:showBubbleSize val="0"/>
        </c:dLbls>
        <c:axId val="-2128940872"/>
        <c:axId val="-2129643912"/>
      </c:scatterChart>
      <c:valAx>
        <c:axId val="-2128940872"/>
        <c:scaling>
          <c:orientation val="minMax"/>
          <c:max val="23650"/>
          <c:min val="20850"/>
        </c:scaling>
        <c:delete val="0"/>
        <c:axPos val="b"/>
        <c:majorGridlines>
          <c:spPr>
            <a:ln w="6350">
              <a:solidFill>
                <a:srgbClr val="FFFFFF">
                  <a:alpha val="18000"/>
                </a:srgbClr>
              </a:solidFill>
            </a:ln>
          </c:spPr>
        </c:majorGridlines>
        <c:title>
          <c:tx>
            <c:rich>
              <a:bodyPr/>
              <a:lstStyle/>
              <a:p>
                <a:r>
                  <a:rPr lang="en-US" sz="1200" b="0">
                    <a:solidFill>
                      <a:srgbClr val="E6E0F2"/>
                    </a:solidFill>
                  </a:rPr>
                  <a:t>NIFTY level at expiry / forward today</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9643912"/>
        <c:crosses val="autoZero"/>
        <c:crossBetween val="midCat"/>
      </c:valAx>
      <c:valAx>
        <c:axId val="-2129643912"/>
        <c:scaling>
          <c:orientation val="minMax"/>
        </c:scaling>
        <c:delete val="0"/>
        <c:axPos val="l"/>
        <c:majorGridlines>
          <c:spPr>
            <a:ln w="6350">
              <a:solidFill>
                <a:srgbClr val="FFFFFF">
                  <a:alpha val="18000"/>
                </a:srgbClr>
              </a:solidFill>
            </a:ln>
          </c:spPr>
        </c:majorGridlines>
        <c:title>
          <c:tx>
            <c:rich>
              <a:bodyPr/>
              <a:lstStyle/>
              <a:p>
                <a:r>
                  <a:rPr lang="en-IN" sz="1200" b="0">
                    <a:solidFill>
                      <a:srgbClr val="E6E0F2"/>
                    </a:solidFill>
                  </a:rPr>
                  <a:t>P&amp;L per unit (₹)</a:t>
                </a:r>
              </a:p>
            </c:rich>
          </c:tx>
          <c:layout/>
          <c:overlay val="0"/>
        </c:title>
        <c:numFmt formatCode="#,##0" sourceLinked="0"/>
        <c:majorTickMark val="out"/>
        <c:minorTickMark val="none"/>
        <c:tickLblPos val="low"/>
        <c:spPr>
          <a:ln>
            <a:solidFill>
              <a:srgbClr val="E6E0F2"/>
            </a:solidFill>
          </a:ln>
        </c:spPr>
        <c:txPr>
          <a:bodyPr/>
          <a:lstStyle/>
          <a:p>
            <a:pPr>
              <a:defRPr sz="1100">
                <a:solidFill>
                  <a:srgbClr val="E6E0F2"/>
                </a:solidFill>
              </a:defRPr>
            </a:pPr>
            <a:endParaRPr lang="en-US"/>
          </a:p>
        </c:txPr>
        <c:crossAx val="-2128940872"/>
        <c:crosses val="autoZero"/>
        <c:crossBetween val="midCat"/>
      </c:valAx>
    </c:plotArea>
    <c:legend>
      <c:legendPos val="t"/>
      <c:layout/>
      <c:overlay val="0"/>
      <c:txPr>
        <a:bodyPr/>
        <a:lstStyle/>
        <a:p>
          <a:pPr>
            <a:defRPr sz="1200">
              <a:solidFill>
                <a:srgbClr val="FFFFFF"/>
              </a:solidFill>
            </a:defRPr>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10/30/2026</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10/30/2026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parts. Theory and method set up the results; diagnostics shows what the code audit found and how the corrections changed the numbers.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option price is a function of several inputs; Greeks are the partial derivatives with respect to each. NIFTY options are European and cash settled, which makes them a clean case for Black-76.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the current lot size on the NSE website before presenting. All Greeks in this deck are per unit of index; multiply by the lot size for one contract.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7256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Called core rather than first-order because gamma is a second derivative. In Black-76 the natural underlying is the forward F, so delta and gamma are with respect to F; the next slides show how to map them to spot. Deep ITM delta tends to the discount factor, not to exactly plus or minus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Called core rather than first-order because gamma is a second derivative. In Black-76 the natural underlying is the forward F, so delta and gamma are with respect to F; the next slides show how to map them to spot. Deep ITM delta tends to the discount factor, not to exactly plus or minus one.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8589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OpenGreeks returns charm, color and veta as derivatives with respect to time to expiry, per year; calendar-time decay has the opposite sign, so we report minus value divided by 365. It returns vanna, vomma and zomma per unit of sigma; we scale to per vol point, consistent with vega. Verified against finite differences.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Black-76 prices options on a forward. We infer the forward and discount factor for each expiry from put-call parity, then solve for the volatility that makes the model price equal the market close.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derivatives are with respect to the forward F, holding r and σ fixed. Theta holds F fixed as calendar time passes. Rho holds F fixed, so a higher rate only increases discounting, which is why rho is negative for calls and puts alike.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45963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derivatives are with respect to the forward F, holding r and σ fixed. Theta holds F fixed as calendar time passes. Rho holds F fixed, so a higher rate only increases discounting, which is why rho is negative for calls and puts alike.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date and expiry, regress C − P on strike for non-stale pairs within 5 percent of spot, trimming outliers. The forward embeds expected dividends, so no dividend assumption is needed. The parity discount rate has median 10.3 percent, above money-market rates and noisy, but replacing it with 6.5 percent moves near-ATM IVs by under 0.1 vol point for expiries up to 90 days and Greeks by about 1 percent.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Black-76 call delta is D·N(d1), so deep in the money it tends to the discount factor e^(−rT), not one; the put tends to minus the discount factor. At every strike call delta minus put delta equals D. With 3 days left D is 0.999, so the difference from one is invisible here; at 52 days it is 0.983.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Gamma is the curvature of price in the forward. Short-dated near-ATM options carry the most gamma, which is why weekly expiries are risky for option sellers.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Theta here holds the forward fixed and is in rupees per calendar day per unit of index. See the forward vs spot slide for how theta changes if spot is held fixed instead.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Vega scales roughly with the square root of time, so longer expiries are much more exposed to changes in implied volatility.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Black-76 the forward is an input, so a rate change only alters discounting: rho equals minus T times the option value, for calls and puts. A spot-based model would show positive call rho because the forward rises with r; that effect is already inside our parity forward.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Units now match vega: vanna is the change in delta for a 1 vol point rise, vomma the change in vega (₹ per vol point) for a 1 vol point rise. The previous version plotted OpenGreeks raw values per unit sigma, 100 and 10,000 times larger.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trading day we take the strike nearest that day’s parity forward for the 27 Mar 2025 expiry, skipping stale closes, and compute forward gamma and theta from its implied vol. Wiggles reflect day-to-day changes in implied vol.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fix, puts and calls were priced off different forwards, creating a jump at the money of 2 to 19 vol points. With the parity forward the smile is continuous. Black-76 Greeks hold each contract’s IV fixed as F moves, which is a sticky-strike assumption; under sticky moneyness the smile moves with F and effective delta adds vega times dσ/dF. At 24 days ATM, the skew of about −0.16 vol pt per 100 points raises call delta from 0.508 to about 0.545. Far OTM 3-day IVs are inflated by the minimum price tick.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straddle isolates the gamma theta trade-off: it profits if NIFTY moves more than about 2.7 percent either way by expiry. The model curve shifts the forward with IVs held fixed (sticky strike). The portfolio_greek_analyzer in the notebook builds these combinations.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Volume filtering is the quickest win. Futures closes would give an independent check of the parity forward. The backtest tests whether the Greeks explain realised profit and loss.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22</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236416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8898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887361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198869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1170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758972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6693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12961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874482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7116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37735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90031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839165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5637640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7DE6118-2437-4B30-8E3C-4D2BE6020583}" type="datetimeFigureOut">
              <a:rPr lang="en-US" smtClean="0"/>
              <a:pPr/>
              <a:t>10/30/2026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550847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0051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10/30/2026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51253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7DE6118-2437-4B30-8E3C-4D2BE6020583}" type="datetimeFigureOut">
              <a:rPr lang="en-US" smtClean="0"/>
              <a:pPr/>
              <a:t>10/30/2026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665268709"/>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0" y="-101590"/>
            <a:ext cx="12191980" cy="6857990"/>
          </a:xfrm>
          <a:prstGeom prst="rect">
            <a:avLst/>
          </a:prstGeom>
        </p:spPr>
      </p:pic>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1989632" y="2242858"/>
            <a:ext cx="7197726" cy="2421464"/>
          </a:xfrm>
        </p:spPr>
        <p:txBody>
          <a:bodyPr>
            <a:normAutofit/>
          </a:bodyPr>
          <a:lstStyle/>
          <a:p>
            <a:r>
              <a:rPr lang="en-US" b="1" dirty="0"/>
              <a:t>Options sensitivities on nifty</a:t>
            </a:r>
          </a:p>
        </p:txBody>
      </p:sp>
      <p:sp>
        <p:nvSpPr>
          <p:cNvPr id="4" name="TextBox 3">
            <a:extLst>
              <a:ext uri="{FF2B5EF4-FFF2-40B4-BE49-F238E27FC236}">
                <a16:creationId xmlns:a16="http://schemas.microsoft.com/office/drawing/2014/main" id="{C581FF58-E5B2-71A8-66E4-321B562377CF}"/>
              </a:ext>
            </a:extLst>
          </p:cNvPr>
          <p:cNvSpPr txBox="1"/>
          <p:nvPr/>
        </p:nvSpPr>
        <p:spPr>
          <a:xfrm>
            <a:off x="1045892" y="1246512"/>
            <a:ext cx="2342629" cy="369332"/>
          </a:xfrm>
          <a:prstGeom prst="rect">
            <a:avLst/>
          </a:prstGeom>
          <a:noFill/>
        </p:spPr>
        <p:txBody>
          <a:bodyPr wrap="none" rtlCol="0">
            <a:spAutoFit/>
          </a:bodyPr>
          <a:lstStyle/>
          <a:p>
            <a:r>
              <a:rPr lang="en-IN" dirty="0"/>
              <a:t>IE 612 – Course Project</a:t>
            </a:r>
          </a:p>
        </p:txBody>
      </p:sp>
      <p:sp>
        <p:nvSpPr>
          <p:cNvPr id="6" name="TextBox 5">
            <a:extLst>
              <a:ext uri="{FF2B5EF4-FFF2-40B4-BE49-F238E27FC236}">
                <a16:creationId xmlns:a16="http://schemas.microsoft.com/office/drawing/2014/main" id="{C8310EDF-7F8E-FAD2-58CD-3872040562C2}"/>
              </a:ext>
            </a:extLst>
          </p:cNvPr>
          <p:cNvSpPr txBox="1"/>
          <p:nvPr/>
        </p:nvSpPr>
        <p:spPr>
          <a:xfrm>
            <a:off x="8014122" y="5259214"/>
            <a:ext cx="2824812" cy="369332"/>
          </a:xfrm>
          <a:prstGeom prst="rect">
            <a:avLst/>
          </a:prstGeom>
          <a:noFill/>
        </p:spPr>
        <p:txBody>
          <a:bodyPr wrap="none" rtlCol="0">
            <a:spAutoFit/>
          </a:bodyPr>
          <a:lstStyle/>
          <a:p>
            <a:r>
              <a:rPr lang="en-IN" dirty="0"/>
              <a:t>Akhil &amp; Aseem |31/10/2026</a:t>
            </a:r>
          </a:p>
        </p:txBody>
      </p:sp>
    </p:spTree>
    <p:extLst>
      <p:ext uri="{BB962C8B-B14F-4D97-AF65-F5344CB8AC3E}">
        <p14:creationId xmlns:p14="http://schemas.microsoft.com/office/powerpoint/2010/main" val="34177214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TextBox 2"/>
          <p:cNvSpPr txBox="1"/>
          <p:nvPr/>
        </p:nvSpPr>
        <p:spPr>
          <a:xfrm>
            <a:off x="685800" y="2057400"/>
            <a:ext cx="1005840" cy="822960"/>
          </a:xfrm>
          <a:prstGeom prst="rect">
            <a:avLst/>
          </a:prstGeom>
          <a:noFill/>
        </p:spPr>
        <p:txBody>
          <a:bodyPr wrap="square" lIns="0" tIns="18288" rIns="0" bIns="18288" anchor="t">
            <a:spAutoFit/>
          </a:bodyPr>
          <a:lstStyle/>
          <a:p>
            <a:pPr algn="l">
              <a:spcAft>
                <a:spcPts val="800"/>
              </a:spcAft>
            </a:pPr>
            <a:r>
              <a:rPr sz="4000" b="1" i="0">
                <a:solidFill>
                  <a:srgbClr val="FFD166"/>
                </a:solidFill>
              </a:rPr>
              <a:t>01</a:t>
            </a:r>
          </a:p>
        </p:txBody>
      </p:sp>
      <p:sp>
        <p:nvSpPr>
          <p:cNvPr id="4" name="TextBox 3"/>
          <p:cNvSpPr txBox="1"/>
          <p:nvPr/>
        </p:nvSpPr>
        <p:spPr>
          <a:xfrm>
            <a:off x="1783080" y="2103120"/>
            <a:ext cx="4023360" cy="411480"/>
          </a:xfrm>
          <a:prstGeom prst="rect">
            <a:avLst/>
          </a:prstGeom>
          <a:noFill/>
        </p:spPr>
        <p:txBody>
          <a:bodyPr wrap="square" lIns="0" tIns="18288" rIns="0" bIns="18288" anchor="t">
            <a:spAutoFit/>
          </a:bodyPr>
          <a:lstStyle/>
          <a:p>
            <a:pPr algn="l">
              <a:spcAft>
                <a:spcPts val="200"/>
              </a:spcAft>
            </a:pPr>
            <a:r>
              <a:rPr sz="2200" b="1" i="0">
                <a:solidFill>
                  <a:srgbClr val="FFFFFF"/>
                </a:solidFill>
              </a:rPr>
              <a:t>Motivation</a:t>
            </a:r>
          </a:p>
        </p:txBody>
      </p:sp>
      <p:sp>
        <p:nvSpPr>
          <p:cNvPr id="5" name="TextBox 4"/>
          <p:cNvSpPr txBox="1"/>
          <p:nvPr/>
        </p:nvSpPr>
        <p:spPr>
          <a:xfrm>
            <a:off x="1783080" y="2560320"/>
            <a:ext cx="4023360" cy="283154"/>
          </a:xfrm>
          <a:prstGeom prst="rect">
            <a:avLst/>
          </a:prstGeom>
          <a:noFill/>
        </p:spPr>
        <p:txBody>
          <a:bodyPr wrap="square" lIns="0" tIns="18288" rIns="0" bIns="18288" anchor="t">
            <a:spAutoFit/>
          </a:bodyPr>
          <a:lstStyle/>
          <a:p>
            <a:pPr algn="l">
              <a:spcAft>
                <a:spcPts val="800"/>
              </a:spcAft>
            </a:pPr>
            <a:r>
              <a:rPr sz="1600" b="0" i="0" dirty="0">
                <a:solidFill>
                  <a:srgbClr val="E6E0F2"/>
                </a:solidFill>
              </a:rPr>
              <a:t>Why </a:t>
            </a:r>
            <a:r>
              <a:rPr sz="1600" b="0" i="0" dirty="0" smtClean="0">
                <a:solidFill>
                  <a:srgbClr val="E6E0F2"/>
                </a:solidFill>
              </a:rPr>
              <a:t>Greeks</a:t>
            </a:r>
            <a:endParaRPr sz="1600" b="0" i="0" dirty="0">
              <a:solidFill>
                <a:srgbClr val="E6E0F2"/>
              </a:solidFill>
            </a:endParaRPr>
          </a:p>
        </p:txBody>
      </p:sp>
      <p:sp>
        <p:nvSpPr>
          <p:cNvPr id="6" name="TextBox 5"/>
          <p:cNvSpPr txBox="1"/>
          <p:nvPr/>
        </p:nvSpPr>
        <p:spPr>
          <a:xfrm>
            <a:off x="6080760" y="2057400"/>
            <a:ext cx="1005840" cy="822960"/>
          </a:xfrm>
          <a:prstGeom prst="rect">
            <a:avLst/>
          </a:prstGeom>
          <a:noFill/>
        </p:spPr>
        <p:txBody>
          <a:bodyPr wrap="square" lIns="0" tIns="18288" rIns="0" bIns="18288" anchor="t">
            <a:spAutoFit/>
          </a:bodyPr>
          <a:lstStyle/>
          <a:p>
            <a:pPr algn="l">
              <a:spcAft>
                <a:spcPts val="800"/>
              </a:spcAft>
            </a:pPr>
            <a:r>
              <a:rPr sz="4000" b="1" i="0">
                <a:solidFill>
                  <a:srgbClr val="FFD166"/>
                </a:solidFill>
              </a:rPr>
              <a:t>02</a:t>
            </a:r>
          </a:p>
        </p:txBody>
      </p:sp>
      <p:sp>
        <p:nvSpPr>
          <p:cNvPr id="7" name="TextBox 6"/>
          <p:cNvSpPr txBox="1"/>
          <p:nvPr/>
        </p:nvSpPr>
        <p:spPr>
          <a:xfrm>
            <a:off x="7178040" y="2103120"/>
            <a:ext cx="4023360" cy="411480"/>
          </a:xfrm>
          <a:prstGeom prst="rect">
            <a:avLst/>
          </a:prstGeom>
          <a:noFill/>
        </p:spPr>
        <p:txBody>
          <a:bodyPr wrap="square" lIns="0" tIns="18288" rIns="0" bIns="18288" anchor="t">
            <a:spAutoFit/>
          </a:bodyPr>
          <a:lstStyle/>
          <a:p>
            <a:pPr algn="l">
              <a:spcAft>
                <a:spcPts val="200"/>
              </a:spcAft>
            </a:pPr>
            <a:r>
              <a:rPr sz="2200" b="1" i="0">
                <a:solidFill>
                  <a:srgbClr val="FFFFFF"/>
                </a:solidFill>
              </a:rPr>
              <a:t>Theory</a:t>
            </a:r>
          </a:p>
        </p:txBody>
      </p:sp>
      <p:sp>
        <p:nvSpPr>
          <p:cNvPr id="8" name="TextBox 7"/>
          <p:cNvSpPr txBox="1"/>
          <p:nvPr/>
        </p:nvSpPr>
        <p:spPr>
          <a:xfrm>
            <a:off x="7178040" y="2560320"/>
            <a:ext cx="4023360" cy="457200"/>
          </a:xfrm>
          <a:prstGeom prst="rect">
            <a:avLst/>
          </a:prstGeom>
          <a:noFill/>
        </p:spPr>
        <p:txBody>
          <a:bodyPr wrap="square" lIns="0" tIns="18288" rIns="0" bIns="18288" anchor="t">
            <a:spAutoFit/>
          </a:bodyPr>
          <a:lstStyle/>
          <a:p>
            <a:pPr algn="l">
              <a:spcAft>
                <a:spcPts val="800"/>
              </a:spcAft>
            </a:pPr>
            <a:r>
              <a:rPr sz="1600" b="0" i="0">
                <a:solidFill>
                  <a:srgbClr val="E6E0F2"/>
                </a:solidFill>
              </a:rPr>
              <a:t>Black-76, forward vs spot, higher-order Greeks</a:t>
            </a:r>
          </a:p>
        </p:txBody>
      </p:sp>
      <p:sp>
        <p:nvSpPr>
          <p:cNvPr id="9" name="TextBox 8"/>
          <p:cNvSpPr txBox="1"/>
          <p:nvPr/>
        </p:nvSpPr>
        <p:spPr>
          <a:xfrm>
            <a:off x="685800" y="3429000"/>
            <a:ext cx="1005840" cy="822960"/>
          </a:xfrm>
          <a:prstGeom prst="rect">
            <a:avLst/>
          </a:prstGeom>
          <a:noFill/>
        </p:spPr>
        <p:txBody>
          <a:bodyPr wrap="square" lIns="0" tIns="18288" rIns="0" bIns="18288" anchor="t">
            <a:spAutoFit/>
          </a:bodyPr>
          <a:lstStyle/>
          <a:p>
            <a:pPr algn="l">
              <a:spcAft>
                <a:spcPts val="800"/>
              </a:spcAft>
            </a:pPr>
            <a:r>
              <a:rPr sz="4000" b="1" i="0">
                <a:solidFill>
                  <a:srgbClr val="FFD166"/>
                </a:solidFill>
              </a:rPr>
              <a:t>03</a:t>
            </a:r>
          </a:p>
        </p:txBody>
      </p:sp>
      <p:sp>
        <p:nvSpPr>
          <p:cNvPr id="10" name="TextBox 9"/>
          <p:cNvSpPr txBox="1"/>
          <p:nvPr/>
        </p:nvSpPr>
        <p:spPr>
          <a:xfrm>
            <a:off x="1783080" y="3474720"/>
            <a:ext cx="4023360" cy="411480"/>
          </a:xfrm>
          <a:prstGeom prst="rect">
            <a:avLst/>
          </a:prstGeom>
          <a:noFill/>
        </p:spPr>
        <p:txBody>
          <a:bodyPr wrap="square" lIns="0" tIns="18288" rIns="0" bIns="18288" anchor="t">
            <a:spAutoFit/>
          </a:bodyPr>
          <a:lstStyle/>
          <a:p>
            <a:pPr algn="l">
              <a:spcAft>
                <a:spcPts val="200"/>
              </a:spcAft>
            </a:pPr>
            <a:r>
              <a:rPr sz="2200" b="1" i="0">
                <a:solidFill>
                  <a:srgbClr val="FFFFFF"/>
                </a:solidFill>
              </a:rPr>
              <a:t>Method</a:t>
            </a:r>
          </a:p>
        </p:txBody>
      </p:sp>
      <p:sp>
        <p:nvSpPr>
          <p:cNvPr id="11" name="TextBox 10"/>
          <p:cNvSpPr txBox="1"/>
          <p:nvPr/>
        </p:nvSpPr>
        <p:spPr>
          <a:xfrm>
            <a:off x="1783080" y="3931920"/>
            <a:ext cx="4023360" cy="283154"/>
          </a:xfrm>
          <a:prstGeom prst="rect">
            <a:avLst/>
          </a:prstGeom>
          <a:noFill/>
        </p:spPr>
        <p:txBody>
          <a:bodyPr wrap="square" lIns="0" tIns="18288" rIns="0" bIns="18288" anchor="t">
            <a:spAutoFit/>
          </a:bodyPr>
          <a:lstStyle/>
          <a:p>
            <a:pPr algn="l">
              <a:spcAft>
                <a:spcPts val="800"/>
              </a:spcAft>
            </a:pPr>
            <a:r>
              <a:rPr sz="1600" b="0" i="0" dirty="0">
                <a:solidFill>
                  <a:srgbClr val="E6E0F2"/>
                </a:solidFill>
              </a:rPr>
              <a:t>Parity forward, implied </a:t>
            </a:r>
            <a:r>
              <a:rPr sz="1600" b="0" i="0" dirty="0" err="1" smtClean="0">
                <a:solidFill>
                  <a:srgbClr val="E6E0F2"/>
                </a:solidFill>
              </a:rPr>
              <a:t>vol</a:t>
            </a:r>
            <a:endParaRPr sz="1600" b="0" i="0" dirty="0">
              <a:solidFill>
                <a:srgbClr val="E6E0F2"/>
              </a:solidFill>
            </a:endParaRPr>
          </a:p>
        </p:txBody>
      </p:sp>
      <p:sp>
        <p:nvSpPr>
          <p:cNvPr id="12" name="TextBox 11"/>
          <p:cNvSpPr txBox="1"/>
          <p:nvPr/>
        </p:nvSpPr>
        <p:spPr>
          <a:xfrm>
            <a:off x="6080760" y="3429000"/>
            <a:ext cx="1005840" cy="822960"/>
          </a:xfrm>
          <a:prstGeom prst="rect">
            <a:avLst/>
          </a:prstGeom>
          <a:noFill/>
        </p:spPr>
        <p:txBody>
          <a:bodyPr wrap="square" lIns="0" tIns="18288" rIns="0" bIns="18288" anchor="t">
            <a:spAutoFit/>
          </a:bodyPr>
          <a:lstStyle/>
          <a:p>
            <a:pPr algn="l">
              <a:spcAft>
                <a:spcPts val="800"/>
              </a:spcAft>
            </a:pPr>
            <a:r>
              <a:rPr sz="4000" b="1" i="0">
                <a:solidFill>
                  <a:srgbClr val="FFD166"/>
                </a:solidFill>
              </a:rPr>
              <a:t>04</a:t>
            </a:r>
          </a:p>
        </p:txBody>
      </p:sp>
      <p:sp>
        <p:nvSpPr>
          <p:cNvPr id="13" name="TextBox 12"/>
          <p:cNvSpPr txBox="1"/>
          <p:nvPr/>
        </p:nvSpPr>
        <p:spPr>
          <a:xfrm>
            <a:off x="7178040" y="3474720"/>
            <a:ext cx="4023360" cy="411480"/>
          </a:xfrm>
          <a:prstGeom prst="rect">
            <a:avLst/>
          </a:prstGeom>
          <a:noFill/>
        </p:spPr>
        <p:txBody>
          <a:bodyPr wrap="square" lIns="0" tIns="18288" rIns="0" bIns="18288" anchor="t">
            <a:spAutoFit/>
          </a:bodyPr>
          <a:lstStyle/>
          <a:p>
            <a:pPr algn="l">
              <a:spcAft>
                <a:spcPts val="200"/>
              </a:spcAft>
            </a:pPr>
            <a:r>
              <a:rPr sz="2200" b="1" i="0">
                <a:solidFill>
                  <a:srgbClr val="FFFFFF"/>
                </a:solidFill>
              </a:rPr>
              <a:t>Results</a:t>
            </a:r>
          </a:p>
        </p:txBody>
      </p:sp>
      <p:sp>
        <p:nvSpPr>
          <p:cNvPr id="14" name="TextBox 13"/>
          <p:cNvSpPr txBox="1"/>
          <p:nvPr/>
        </p:nvSpPr>
        <p:spPr>
          <a:xfrm>
            <a:off x="7178040" y="3931920"/>
            <a:ext cx="4023360" cy="457200"/>
          </a:xfrm>
          <a:prstGeom prst="rect">
            <a:avLst/>
          </a:prstGeom>
          <a:noFill/>
        </p:spPr>
        <p:txBody>
          <a:bodyPr wrap="square" lIns="0" tIns="18288" rIns="0" bIns="18288" anchor="t">
            <a:spAutoFit/>
          </a:bodyPr>
          <a:lstStyle/>
          <a:p>
            <a:pPr algn="l">
              <a:spcAft>
                <a:spcPts val="800"/>
              </a:spcAft>
            </a:pPr>
            <a:r>
              <a:rPr sz="1600" b="0" i="0">
                <a:solidFill>
                  <a:srgbClr val="E6E0F2"/>
                </a:solidFill>
              </a:rPr>
              <a:t>Each Greek across strike, expiry and time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80211"/>
            <a:ext cx="10353761" cy="1326321"/>
          </a:xfrm>
        </p:spPr>
        <p:txBody>
          <a:bodyPr/>
          <a:lstStyle/>
          <a:p>
            <a:r>
              <a:rPr dirty="0"/>
              <a:t>Why sensitivities matter</a:t>
            </a:r>
          </a:p>
        </p:txBody>
      </p:sp>
      <p:grpSp>
        <p:nvGrpSpPr>
          <p:cNvPr id="10" name="Group 9"/>
          <p:cNvGrpSpPr/>
          <p:nvPr/>
        </p:nvGrpSpPr>
        <p:grpSpPr>
          <a:xfrm>
            <a:off x="562691" y="1321688"/>
            <a:ext cx="10200373" cy="1179095"/>
            <a:chOff x="685799" y="1814362"/>
            <a:chExt cx="10200373" cy="1179095"/>
          </a:xfrm>
        </p:grpSpPr>
        <p:sp>
          <p:nvSpPr>
            <p:cNvPr id="3" name="Rounded Rectangle 2"/>
            <p:cNvSpPr/>
            <p:nvPr/>
          </p:nvSpPr>
          <p:spPr>
            <a:xfrm>
              <a:off x="685799" y="1814362"/>
              <a:ext cx="10200373" cy="1179095"/>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19" y="1898587"/>
              <a:ext cx="9627670" cy="975652"/>
            </a:xfrm>
            <a:prstGeom prst="rect">
              <a:avLst/>
            </a:prstGeom>
            <a:noFill/>
          </p:spPr>
          <p:txBody>
            <a:bodyPr wrap="square" lIns="0" tIns="18288" rIns="0" bIns="18288" anchor="t">
              <a:spAutoFit/>
            </a:bodyPr>
            <a:lstStyle/>
            <a:p>
              <a:pPr algn="l">
                <a:spcAft>
                  <a:spcPts val="600"/>
                </a:spcAft>
              </a:pPr>
              <a:r>
                <a:rPr sz="2200" b="1" i="0" dirty="0">
                  <a:solidFill>
                    <a:srgbClr val="FFD166"/>
                  </a:solidFill>
                </a:rPr>
                <a:t>Risk</a:t>
              </a:r>
            </a:p>
            <a:p>
              <a:pPr>
                <a:spcAft>
                  <a:spcPts val="800"/>
                </a:spcAft>
              </a:pPr>
              <a:r>
                <a:rPr lang="en-US" sz="1700" dirty="0">
                  <a:solidFill>
                    <a:srgbClr val="E6E0F2"/>
                  </a:solidFill>
                </a:rPr>
                <a:t>One of the most important applications is aggregating individual instrument Greeks into portfolio-level sensitivities</a:t>
              </a:r>
              <a:r>
                <a:rPr sz="1700" b="0" i="0" dirty="0" smtClean="0">
                  <a:solidFill>
                    <a:srgbClr val="E6E0F2"/>
                  </a:solidFill>
                </a:rPr>
                <a:t>.</a:t>
              </a:r>
              <a:r>
                <a:rPr lang="en-IN" sz="1700" b="0" i="0" dirty="0" smtClean="0">
                  <a:solidFill>
                    <a:srgbClr val="E6E0F2"/>
                  </a:solidFill>
                </a:rPr>
                <a:t> Linear combination of the sensitivity provides the portfolio sensitivity.</a:t>
              </a:r>
              <a:endParaRPr sz="1700" b="0" i="0" dirty="0">
                <a:solidFill>
                  <a:srgbClr val="E6E0F2"/>
                </a:solidFill>
              </a:endParaRPr>
            </a:p>
          </p:txBody>
        </p:sp>
      </p:grpSp>
      <p:grpSp>
        <p:nvGrpSpPr>
          <p:cNvPr id="14" name="Group 13"/>
          <p:cNvGrpSpPr/>
          <p:nvPr/>
        </p:nvGrpSpPr>
        <p:grpSpPr>
          <a:xfrm>
            <a:off x="562691" y="2654788"/>
            <a:ext cx="10200373" cy="3808577"/>
            <a:chOff x="685799" y="1814362"/>
            <a:chExt cx="10200373" cy="3808577"/>
          </a:xfrm>
        </p:grpSpPr>
        <p:sp>
          <p:nvSpPr>
            <p:cNvPr id="15" name="Rounded Rectangle 14"/>
            <p:cNvSpPr/>
            <p:nvPr/>
          </p:nvSpPr>
          <p:spPr>
            <a:xfrm>
              <a:off x="685799" y="1814362"/>
              <a:ext cx="10200373" cy="1179095"/>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6" name="TextBox 15"/>
                <p:cNvSpPr txBox="1"/>
                <p:nvPr/>
              </p:nvSpPr>
              <p:spPr>
                <a:xfrm>
                  <a:off x="960119" y="1898587"/>
                  <a:ext cx="9627670" cy="1357679"/>
                </a:xfrm>
                <a:prstGeom prst="rect">
                  <a:avLst/>
                </a:prstGeom>
                <a:noFill/>
              </p:spPr>
              <p:txBody>
                <a:bodyPr wrap="square" lIns="0" tIns="18288" rIns="0" bIns="18288" anchor="t">
                  <a:spAutoFit/>
                </a:bodyPr>
                <a:lstStyle/>
                <a:p>
                  <a:pPr>
                    <a:spcAft>
                      <a:spcPts val="600"/>
                    </a:spcAft>
                  </a:pPr>
                  <a:r>
                    <a:rPr lang="en-US" sz="2200" b="1" dirty="0" smtClean="0">
                      <a:solidFill>
                        <a:srgbClr val="FFD166"/>
                      </a:solidFill>
                    </a:rPr>
                    <a:t>P&amp;L attribution and explain</a:t>
                  </a:r>
                </a:p>
                <a:p>
                  <a:pPr>
                    <a:spcAft>
                      <a:spcPts val="600"/>
                    </a:spcAft>
                  </a:pPr>
                  <a:r>
                    <a:rPr lang="en-US" sz="1700" dirty="0" smtClean="0">
                      <a:solidFill>
                        <a:srgbClr val="E6E0F2"/>
                      </a:solidFill>
                    </a:rPr>
                    <a:t>Greeks </a:t>
                  </a:r>
                  <a:r>
                    <a:rPr lang="en-US" sz="1700" dirty="0">
                      <a:solidFill>
                        <a:srgbClr val="E6E0F2"/>
                      </a:solidFill>
                    </a:rPr>
                    <a:t>can be used to explain the change in portfolio value over a period</a:t>
                  </a:r>
                  <a:r>
                    <a:rPr lang="en-US" sz="1700" b="0" i="0" dirty="0" smtClean="0">
                      <a:solidFill>
                        <a:srgbClr val="E6E0F2"/>
                      </a:solidFill>
                    </a:rPr>
                    <a:t>.</a:t>
                  </a:r>
                </a:p>
                <a:p>
                  <a:pPr>
                    <a:spcAft>
                      <a:spcPts val="600"/>
                    </a:spcAft>
                  </a:pPr>
                  <a14:m>
                    <m:oMathPara xmlns:m="http://schemas.openxmlformats.org/officeDocument/2006/math">
                      <m:oMathParaPr>
                        <m:jc m:val="centerGroup"/>
                      </m:oMathParaPr>
                      <m:oMath xmlns:m="http://schemas.openxmlformats.org/officeDocument/2006/math">
                        <m:r>
                          <a:rPr lang="en-US" sz="1700" b="0" i="1" smtClean="0">
                            <a:solidFill>
                              <a:srgbClr val="E6E0F2"/>
                            </a:solidFill>
                            <a:latin typeface="Cambria Math" panose="02040503050406030204" pitchFamily="18" charset="0"/>
                          </a:rPr>
                          <m:t>𝑑</m:t>
                        </m:r>
                        <m:r>
                          <a:rPr lang="en-IN" sz="1700" b="0" i="1" smtClean="0">
                            <a:solidFill>
                              <a:srgbClr val="E6E0F2"/>
                            </a:solidFill>
                            <a:latin typeface="Cambria Math" panose="02040503050406030204" pitchFamily="18" charset="0"/>
                          </a:rPr>
                          <m:t>𝑉</m:t>
                        </m:r>
                        <m:r>
                          <a:rPr lang="en-IN" sz="1700" b="0" i="1" smtClean="0">
                            <a:solidFill>
                              <a:srgbClr val="E6E0F2"/>
                            </a:solidFill>
                            <a:latin typeface="Cambria Math" panose="02040503050406030204" pitchFamily="18" charset="0"/>
                          </a:rPr>
                          <m:t>≈</m:t>
                        </m:r>
                        <m:r>
                          <m:rPr>
                            <m:sty m:val="p"/>
                          </m:rPr>
                          <a:rPr lang="en-IN" sz="1700" b="0" i="0" smtClean="0">
                            <a:solidFill>
                              <a:srgbClr val="E6E0F2"/>
                            </a:solidFill>
                            <a:latin typeface="Cambria Math" panose="02040503050406030204" pitchFamily="18" charset="0"/>
                          </a:rPr>
                          <m:t>Δ</m:t>
                        </m:r>
                        <m:r>
                          <a:rPr lang="en-IN" sz="1700" b="0" i="1" smtClean="0">
                            <a:solidFill>
                              <a:srgbClr val="E6E0F2"/>
                            </a:solidFill>
                            <a:latin typeface="Cambria Math" panose="02040503050406030204" pitchFamily="18" charset="0"/>
                          </a:rPr>
                          <m:t>𝑑𝑆</m:t>
                        </m:r>
                        <m:r>
                          <a:rPr lang="en-IN" sz="1700" b="0" i="1" smtClean="0">
                            <a:solidFill>
                              <a:srgbClr val="E6E0F2"/>
                            </a:solidFill>
                            <a:latin typeface="Cambria Math" panose="02040503050406030204" pitchFamily="18" charset="0"/>
                          </a:rPr>
                          <m:t>+</m:t>
                        </m:r>
                        <m:f>
                          <m:fPr>
                            <m:ctrlPr>
                              <a:rPr lang="en-IN" sz="1700" b="0" i="1" smtClean="0">
                                <a:solidFill>
                                  <a:srgbClr val="E6E0F2"/>
                                </a:solidFill>
                                <a:latin typeface="Cambria Math" panose="02040503050406030204" pitchFamily="18" charset="0"/>
                              </a:rPr>
                            </m:ctrlPr>
                          </m:fPr>
                          <m:num>
                            <m:r>
                              <a:rPr lang="en-IN" sz="1700" b="0" i="1" smtClean="0">
                                <a:solidFill>
                                  <a:srgbClr val="E6E0F2"/>
                                </a:solidFill>
                                <a:latin typeface="Cambria Math" panose="02040503050406030204" pitchFamily="18" charset="0"/>
                              </a:rPr>
                              <m:t>1</m:t>
                            </m:r>
                          </m:num>
                          <m:den>
                            <m:r>
                              <a:rPr lang="en-IN" sz="1700" b="0" i="1" smtClean="0">
                                <a:solidFill>
                                  <a:srgbClr val="E6E0F2"/>
                                </a:solidFill>
                                <a:latin typeface="Cambria Math" panose="02040503050406030204" pitchFamily="18" charset="0"/>
                              </a:rPr>
                              <m:t>2</m:t>
                            </m:r>
                          </m:den>
                        </m:f>
                        <m:r>
                          <m:rPr>
                            <m:sty m:val="p"/>
                          </m:rPr>
                          <a:rPr lang="en-IN" sz="1700" b="0" i="0" smtClean="0">
                            <a:solidFill>
                              <a:srgbClr val="E6E0F2"/>
                            </a:solidFill>
                            <a:latin typeface="Cambria Math" panose="02040503050406030204" pitchFamily="18" charset="0"/>
                          </a:rPr>
                          <m:t>Γ</m:t>
                        </m:r>
                        <m:sSup>
                          <m:sSupPr>
                            <m:ctrlPr>
                              <a:rPr lang="en-IN" sz="1700" b="0" i="1" smtClean="0">
                                <a:solidFill>
                                  <a:srgbClr val="E6E0F2"/>
                                </a:solidFill>
                                <a:latin typeface="Cambria Math" panose="02040503050406030204" pitchFamily="18" charset="0"/>
                              </a:rPr>
                            </m:ctrlPr>
                          </m:sSupPr>
                          <m:e>
                            <m:d>
                              <m:dPr>
                                <m:ctrlPr>
                                  <a:rPr lang="en-IN" sz="1700" b="0" i="1" smtClean="0">
                                    <a:solidFill>
                                      <a:srgbClr val="E6E0F2"/>
                                    </a:solidFill>
                                    <a:latin typeface="Cambria Math" panose="02040503050406030204" pitchFamily="18" charset="0"/>
                                  </a:rPr>
                                </m:ctrlPr>
                              </m:dPr>
                              <m:e>
                                <m:r>
                                  <a:rPr lang="en-IN" sz="1700" b="0" i="1" smtClean="0">
                                    <a:solidFill>
                                      <a:srgbClr val="E6E0F2"/>
                                    </a:solidFill>
                                    <a:latin typeface="Cambria Math" panose="02040503050406030204" pitchFamily="18" charset="0"/>
                                  </a:rPr>
                                  <m:t>𝑑𝑆</m:t>
                                </m:r>
                              </m:e>
                            </m:d>
                          </m:e>
                          <m:sup>
                            <m:r>
                              <a:rPr lang="en-IN" sz="1700" b="0" i="1" smtClean="0">
                                <a:solidFill>
                                  <a:srgbClr val="E6E0F2"/>
                                </a:solidFill>
                                <a:latin typeface="Cambria Math" panose="02040503050406030204" pitchFamily="18" charset="0"/>
                              </a:rPr>
                              <m:t>2</m:t>
                            </m:r>
                          </m:sup>
                        </m:sSup>
                        <m:r>
                          <a:rPr lang="en-IN" sz="1700" b="0" i="1" smtClean="0">
                            <a:solidFill>
                              <a:srgbClr val="E6E0F2"/>
                            </a:solidFill>
                            <a:latin typeface="Cambria Math" panose="02040503050406030204" pitchFamily="18" charset="0"/>
                          </a:rPr>
                          <m:t>+</m:t>
                        </m:r>
                        <m:r>
                          <a:rPr lang="en-IN" sz="1700" b="0" i="1" smtClean="0">
                            <a:solidFill>
                              <a:srgbClr val="E6E0F2"/>
                            </a:solidFill>
                            <a:latin typeface="Cambria Math" panose="02040503050406030204" pitchFamily="18" charset="0"/>
                          </a:rPr>
                          <m:t>𝜈</m:t>
                        </m:r>
                        <m:r>
                          <a:rPr lang="en-IN" sz="1700" b="0" i="1" smtClean="0">
                            <a:solidFill>
                              <a:srgbClr val="E6E0F2"/>
                            </a:solidFill>
                            <a:latin typeface="Cambria Math" panose="02040503050406030204" pitchFamily="18" charset="0"/>
                          </a:rPr>
                          <m:t>𝑑</m:t>
                        </m:r>
                        <m:r>
                          <a:rPr lang="en-IN" sz="1700" b="0" i="1" smtClean="0">
                            <a:solidFill>
                              <a:srgbClr val="E6E0F2"/>
                            </a:solidFill>
                            <a:latin typeface="Cambria Math" panose="02040503050406030204" pitchFamily="18" charset="0"/>
                          </a:rPr>
                          <m:t>𝜎</m:t>
                        </m:r>
                        <m:r>
                          <a:rPr lang="en-IN" sz="1700" b="0" i="1" smtClean="0">
                            <a:solidFill>
                              <a:srgbClr val="E6E0F2"/>
                            </a:solidFill>
                            <a:latin typeface="Cambria Math" panose="02040503050406030204" pitchFamily="18" charset="0"/>
                          </a:rPr>
                          <m:t>+</m:t>
                        </m:r>
                        <m:r>
                          <m:rPr>
                            <m:sty m:val="p"/>
                          </m:rPr>
                          <a:rPr lang="en-IN" sz="1700" b="0" i="0" smtClean="0">
                            <a:solidFill>
                              <a:srgbClr val="E6E0F2"/>
                            </a:solidFill>
                            <a:latin typeface="Cambria Math" panose="02040503050406030204" pitchFamily="18" charset="0"/>
                          </a:rPr>
                          <m:t>Θ</m:t>
                        </m:r>
                        <m:r>
                          <a:rPr lang="en-IN" sz="1700" b="0" i="1" smtClean="0">
                            <a:solidFill>
                              <a:srgbClr val="E6E0F2"/>
                            </a:solidFill>
                            <a:latin typeface="Cambria Math" panose="02040503050406030204" pitchFamily="18" charset="0"/>
                          </a:rPr>
                          <m:t>𝑑𝑡</m:t>
                        </m:r>
                        <m:r>
                          <a:rPr lang="en-IN" sz="1700" b="0" i="1" smtClean="0">
                            <a:solidFill>
                              <a:srgbClr val="E6E0F2"/>
                            </a:solidFill>
                            <a:latin typeface="Cambria Math" panose="02040503050406030204" pitchFamily="18" charset="0"/>
                          </a:rPr>
                          <m:t>+</m:t>
                        </m:r>
                        <m:r>
                          <a:rPr lang="en-IN" sz="1700" b="0" i="1" smtClean="0">
                            <a:solidFill>
                              <a:srgbClr val="E6E0F2"/>
                            </a:solidFill>
                            <a:latin typeface="Cambria Math" panose="02040503050406030204" pitchFamily="18" charset="0"/>
                          </a:rPr>
                          <m:t>𝜌</m:t>
                        </m:r>
                        <m:r>
                          <a:rPr lang="en-IN" sz="1700" b="0" i="1" smtClean="0">
                            <a:solidFill>
                              <a:srgbClr val="E6E0F2"/>
                            </a:solidFill>
                            <a:latin typeface="Cambria Math" panose="02040503050406030204" pitchFamily="18" charset="0"/>
                          </a:rPr>
                          <m:t>𝑑𝑟</m:t>
                        </m:r>
                        <m:r>
                          <a:rPr lang="en-IN" sz="1700" b="0" i="1" smtClean="0">
                            <a:solidFill>
                              <a:srgbClr val="E6E0F2"/>
                            </a:solidFill>
                            <a:latin typeface="Cambria Math" panose="02040503050406030204" pitchFamily="18" charset="0"/>
                          </a:rPr>
                          <m:t>+</m:t>
                        </m:r>
                        <m:r>
                          <a:rPr lang="en-IN" sz="1700" b="0" i="1" smtClean="0">
                            <a:solidFill>
                              <a:srgbClr val="E6E0F2"/>
                            </a:solidFill>
                            <a:latin typeface="Cambria Math" panose="02040503050406030204" pitchFamily="18" charset="0"/>
                          </a:rPr>
                          <m:t>h𝑖𝑔h𝑒𝑟</m:t>
                        </m:r>
                        <m:r>
                          <a:rPr lang="en-IN" sz="1700" b="0" i="1" smtClean="0">
                            <a:solidFill>
                              <a:srgbClr val="E6E0F2"/>
                            </a:solidFill>
                            <a:latin typeface="Cambria Math" panose="02040503050406030204" pitchFamily="18" charset="0"/>
                          </a:rPr>
                          <m:t> </m:t>
                        </m:r>
                        <m:r>
                          <a:rPr lang="en-IN" sz="1700" b="0" i="1" smtClean="0">
                            <a:solidFill>
                              <a:srgbClr val="E6E0F2"/>
                            </a:solidFill>
                            <a:latin typeface="Cambria Math" panose="02040503050406030204" pitchFamily="18" charset="0"/>
                          </a:rPr>
                          <m:t>𝑜𝑟𝑑𝑒𝑟</m:t>
                        </m:r>
                      </m:oMath>
                    </m:oMathPara>
                  </a14:m>
                  <a:endParaRPr sz="1700" b="0" i="0" dirty="0">
                    <a:solidFill>
                      <a:srgbClr val="E6E0F2"/>
                    </a:solidFill>
                  </a:endParaRPr>
                </a:p>
              </p:txBody>
            </p:sp>
          </mc:Choice>
          <mc:Fallback>
            <p:sp>
              <p:nvSpPr>
                <p:cNvPr id="16" name="TextBox 15"/>
                <p:cNvSpPr txBox="1">
                  <a:spLocks noRot="1" noChangeAspect="1" noMove="1" noResize="1" noEditPoints="1" noAdjustHandles="1" noChangeArrowheads="1" noChangeShapeType="1" noTextEdit="1"/>
                </p:cNvSpPr>
                <p:nvPr/>
              </p:nvSpPr>
              <p:spPr>
                <a:xfrm>
                  <a:off x="960119" y="1898587"/>
                  <a:ext cx="9627670" cy="1357679"/>
                </a:xfrm>
                <a:prstGeom prst="rect">
                  <a:avLst/>
                </a:prstGeom>
                <a:blipFill>
                  <a:blip r:embed="rId3"/>
                  <a:stretch>
                    <a:fillRect l="-1772" t="-4933"/>
                  </a:stretch>
                </a:blipFill>
              </p:spPr>
              <p:txBody>
                <a:bodyPr/>
                <a:lstStyle/>
                <a:p>
                  <a:r>
                    <a:rPr lang="en-IN">
                      <a:noFill/>
                    </a:rPr>
                    <a:t> </a:t>
                  </a:r>
                </a:p>
              </p:txBody>
            </p:sp>
          </mc:Fallback>
        </mc:AlternateContent>
        <p:sp>
          <p:nvSpPr>
            <p:cNvPr id="17" name="Rounded Rectangle 16"/>
            <p:cNvSpPr/>
            <p:nvPr/>
          </p:nvSpPr>
          <p:spPr>
            <a:xfrm>
              <a:off x="685799" y="3065646"/>
              <a:ext cx="10200373" cy="1179095"/>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19" y="3149871"/>
              <a:ext cx="9627670" cy="975652"/>
            </a:xfrm>
            <a:prstGeom prst="rect">
              <a:avLst/>
            </a:prstGeom>
            <a:noFill/>
          </p:spPr>
          <p:txBody>
            <a:bodyPr wrap="square" lIns="0" tIns="18288" rIns="0" bIns="18288" anchor="t">
              <a:spAutoFit/>
            </a:bodyPr>
            <a:lstStyle/>
            <a:p>
              <a:pPr algn="l">
                <a:spcAft>
                  <a:spcPts val="600"/>
                </a:spcAft>
              </a:pPr>
              <a:r>
                <a:rPr lang="en-IN" sz="2200" b="1" i="0" dirty="0" smtClean="0">
                  <a:solidFill>
                    <a:srgbClr val="FFD166"/>
                  </a:solidFill>
                </a:rPr>
                <a:t>Hedging</a:t>
              </a:r>
              <a:endParaRPr sz="2200" b="1" i="0" dirty="0">
                <a:solidFill>
                  <a:srgbClr val="FFD166"/>
                </a:solidFill>
              </a:endParaRPr>
            </a:p>
            <a:p>
              <a:pPr algn="l">
                <a:spcAft>
                  <a:spcPts val="800"/>
                </a:spcAft>
              </a:pPr>
              <a:r>
                <a:rPr lang="en-IN" sz="1700" b="0" i="0" dirty="0" smtClean="0">
                  <a:solidFill>
                    <a:srgbClr val="E6E0F2"/>
                  </a:solidFill>
                </a:rPr>
                <a:t>Options are generally highly leveraged and they can be efficiently hedged to filter out the exposure sought</a:t>
              </a:r>
              <a:r>
                <a:rPr sz="1700" b="0" i="0" dirty="0" smtClean="0">
                  <a:solidFill>
                    <a:srgbClr val="E6E0F2"/>
                  </a:solidFill>
                </a:rPr>
                <a:t>.</a:t>
              </a:r>
              <a:r>
                <a:rPr lang="en-IN" sz="1700" b="0" i="0" dirty="0" smtClean="0">
                  <a:solidFill>
                    <a:srgbClr val="E6E0F2"/>
                  </a:solidFill>
                </a:rPr>
                <a:t> This is also used for synthetic exposure to for example volatility.</a:t>
              </a:r>
              <a:endParaRPr sz="1700" b="0" i="0" dirty="0">
                <a:solidFill>
                  <a:srgbClr val="E6E0F2"/>
                </a:solidFill>
              </a:endParaRPr>
            </a:p>
          </p:txBody>
        </p:sp>
        <p:sp>
          <p:nvSpPr>
            <p:cNvPr id="19" name="Rounded Rectangle 18"/>
            <p:cNvSpPr/>
            <p:nvPr/>
          </p:nvSpPr>
          <p:spPr>
            <a:xfrm>
              <a:off x="685799" y="4443844"/>
              <a:ext cx="10200373" cy="1179095"/>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19" y="4528069"/>
              <a:ext cx="9627670" cy="714042"/>
            </a:xfrm>
            <a:prstGeom prst="rect">
              <a:avLst/>
            </a:prstGeom>
            <a:noFill/>
          </p:spPr>
          <p:txBody>
            <a:bodyPr wrap="square" lIns="0" tIns="18288" rIns="0" bIns="18288" anchor="t">
              <a:spAutoFit/>
            </a:bodyPr>
            <a:lstStyle/>
            <a:p>
              <a:pPr algn="l">
                <a:spcAft>
                  <a:spcPts val="600"/>
                </a:spcAft>
              </a:pPr>
              <a:r>
                <a:rPr lang="en-IN" sz="2200" b="1" i="0" dirty="0" smtClean="0">
                  <a:solidFill>
                    <a:srgbClr val="FFD166"/>
                  </a:solidFill>
                </a:rPr>
                <a:t>Market making / Option trading strategies</a:t>
              </a:r>
              <a:endParaRPr sz="2200" b="1" i="0" dirty="0">
                <a:solidFill>
                  <a:srgbClr val="FFD166"/>
                </a:solidFill>
              </a:endParaRPr>
            </a:p>
            <a:p>
              <a:pPr algn="l">
                <a:spcAft>
                  <a:spcPts val="800"/>
                </a:spcAft>
              </a:pPr>
              <a:r>
                <a:rPr lang="en-IN" sz="1700" b="0" i="0" dirty="0" smtClean="0">
                  <a:solidFill>
                    <a:srgbClr val="E6E0F2"/>
                  </a:solidFill>
                </a:rPr>
                <a:t>Used for inventory control by market making and other strategies by option traders</a:t>
              </a:r>
              <a:r>
                <a:rPr sz="1700" b="0" i="0" dirty="0" smtClean="0">
                  <a:solidFill>
                    <a:srgbClr val="E6E0F2"/>
                  </a:solidFill>
                </a:rPr>
                <a:t>.</a:t>
              </a:r>
              <a:endParaRPr sz="1700" b="0" i="0" dirty="0">
                <a:solidFill>
                  <a:srgbClr val="E6E0F2"/>
                </a:solidFill>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596328260"/>
              </p:ext>
            </p:extLst>
          </p:nvPr>
        </p:nvGraphicFramePr>
        <p:xfrm>
          <a:off x="685800" y="1090062"/>
          <a:ext cx="10817352" cy="5223358"/>
        </p:xfrm>
        <a:graphic>
          <a:graphicData uri="http://schemas.openxmlformats.org/drawingml/2006/table">
            <a:tbl>
              <a:tblPr firstRow="1"/>
              <a:tblGrid>
                <a:gridCol w="2577164">
                  <a:extLst>
                    <a:ext uri="{9D8B030D-6E8A-4147-A177-3AD203B41FA5}">
                      <a16:colId xmlns:a16="http://schemas.microsoft.com/office/drawing/2014/main" val="20000"/>
                    </a:ext>
                  </a:extLst>
                </a:gridCol>
                <a:gridCol w="2877954">
                  <a:extLst>
                    <a:ext uri="{9D8B030D-6E8A-4147-A177-3AD203B41FA5}">
                      <a16:colId xmlns:a16="http://schemas.microsoft.com/office/drawing/2014/main" val="20001"/>
                    </a:ext>
                  </a:extLst>
                </a:gridCol>
                <a:gridCol w="5362234">
                  <a:extLst>
                    <a:ext uri="{9D8B030D-6E8A-4147-A177-3AD203B41FA5}">
                      <a16:colId xmlns:a16="http://schemas.microsoft.com/office/drawing/2014/main" val="20002"/>
                    </a:ext>
                  </a:extLst>
                </a:gridCol>
              </a:tblGrid>
              <a:tr h="414370">
                <a:tc>
                  <a:txBody>
                    <a:bodyPr/>
                    <a:lstStyle/>
                    <a:p>
                      <a:r>
                        <a:rPr lang="en-IN" sz="1700" b="1" dirty="0" smtClean="0">
                          <a:solidFill>
                            <a:srgbClr val="FFD166"/>
                          </a:solidFill>
                        </a:rPr>
                        <a:t>Application</a:t>
                      </a:r>
                      <a:endParaRPr sz="1700" b="1" dirty="0">
                        <a:solidFill>
                          <a:srgbClr val="FFD166"/>
                        </a:solidFill>
                      </a:endParaRPr>
                    </a:p>
                  </a:txBody>
                  <a:tcPr marL="109728" marR="109728" anchor="ctr">
                    <a:solidFill>
                      <a:srgbClr val="1E1238">
                        <a:alpha val="85000"/>
                      </a:srgbClr>
                    </a:solidFill>
                  </a:tcPr>
                </a:tc>
                <a:tc>
                  <a:txBody>
                    <a:bodyPr/>
                    <a:lstStyle/>
                    <a:p>
                      <a:r>
                        <a:rPr lang="en-IN" sz="1700" b="1" dirty="0" smtClean="0">
                          <a:solidFill>
                            <a:srgbClr val="FFD166"/>
                          </a:solidFill>
                        </a:rPr>
                        <a:t>Greeks</a:t>
                      </a:r>
                      <a:r>
                        <a:rPr lang="en-IN" sz="1700" b="1" baseline="0" dirty="0" smtClean="0">
                          <a:solidFill>
                            <a:srgbClr val="FFD166"/>
                          </a:solidFill>
                        </a:rPr>
                        <a:t> Used</a:t>
                      </a:r>
                      <a:endParaRPr sz="1700" b="1" dirty="0">
                        <a:solidFill>
                          <a:srgbClr val="FFD166"/>
                        </a:solidFill>
                      </a:endParaRPr>
                    </a:p>
                  </a:txBody>
                  <a:tcPr marL="109728" marR="109728" anchor="ctr">
                    <a:solidFill>
                      <a:srgbClr val="1E1238">
                        <a:alpha val="85000"/>
                      </a:srgbClr>
                    </a:solidFill>
                  </a:tcPr>
                </a:tc>
                <a:tc>
                  <a:txBody>
                    <a:bodyPr/>
                    <a:lstStyle/>
                    <a:p>
                      <a:r>
                        <a:rPr lang="en-IN" sz="1700" b="1" smtClean="0">
                          <a:solidFill>
                            <a:srgbClr val="FFD166"/>
                          </a:solidFill>
                        </a:rPr>
                        <a:t>Objective</a:t>
                      </a:r>
                      <a:endParaRPr sz="1700" b="1" dirty="0">
                        <a:solidFill>
                          <a:srgbClr val="FFD166"/>
                        </a:solidFill>
                      </a:endParaRPr>
                    </a:p>
                  </a:txBody>
                  <a:tcPr marL="109728" marR="109728" anchor="ctr">
                    <a:solidFill>
                      <a:srgbClr val="1E1238">
                        <a:alpha val="85000"/>
                      </a:srgbClr>
                    </a:solidFill>
                  </a:tcPr>
                </a:tc>
                <a:extLst>
                  <a:ext uri="{0D108BD9-81ED-4DB2-BD59-A6C34878D82A}">
                    <a16:rowId xmlns:a16="http://schemas.microsoft.com/office/drawing/2014/main" val="10000"/>
                  </a:ext>
                </a:extLst>
              </a:tr>
              <a:tr h="414370">
                <a:tc>
                  <a:txBody>
                    <a:bodyPr/>
                    <a:lstStyle/>
                    <a:p>
                      <a:r>
                        <a:rPr lang="en-IN"/>
                        <a:t>Directional trading</a:t>
                      </a:r>
                    </a:p>
                  </a:txBody>
                  <a:tcPr anchor="ctr">
                    <a:solidFill>
                      <a:srgbClr val="2A1B4D">
                        <a:alpha val="50000"/>
                      </a:srgbClr>
                    </a:solidFill>
                  </a:tcPr>
                </a:tc>
                <a:tc>
                  <a:txBody>
                    <a:bodyPr/>
                    <a:lstStyle/>
                    <a:p>
                      <a:r>
                        <a:rPr lang="en-IN" dirty="0"/>
                        <a:t>Delta</a:t>
                      </a:r>
                    </a:p>
                  </a:txBody>
                  <a:tcPr anchor="ctr">
                    <a:solidFill>
                      <a:srgbClr val="2A1B4D">
                        <a:alpha val="50000"/>
                      </a:srgbClr>
                    </a:solidFill>
                  </a:tcPr>
                </a:tc>
                <a:tc>
                  <a:txBody>
                    <a:bodyPr/>
                    <a:lstStyle/>
                    <a:p>
                      <a:r>
                        <a:rPr lang="en-IN" dirty="0"/>
                        <a:t>Express bullish/bearish views</a:t>
                      </a:r>
                    </a:p>
                  </a:txBody>
                  <a:tcPr anchor="ctr">
                    <a:solidFill>
                      <a:srgbClr val="2A1B4D">
                        <a:alpha val="50000"/>
                      </a:srgbClr>
                    </a:solidFill>
                  </a:tcPr>
                </a:tc>
                <a:extLst>
                  <a:ext uri="{0D108BD9-81ED-4DB2-BD59-A6C34878D82A}">
                    <a16:rowId xmlns:a16="http://schemas.microsoft.com/office/drawing/2014/main" val="10001"/>
                  </a:ext>
                </a:extLst>
              </a:tr>
              <a:tr h="467837">
                <a:tc>
                  <a:txBody>
                    <a:bodyPr/>
                    <a:lstStyle/>
                    <a:p>
                      <a:r>
                        <a:rPr lang="en-IN"/>
                        <a:t>Gamma trading</a:t>
                      </a:r>
                    </a:p>
                  </a:txBody>
                  <a:tcPr anchor="ctr">
                    <a:solidFill>
                      <a:srgbClr val="2A1B4D">
                        <a:alpha val="50000"/>
                      </a:srgbClr>
                    </a:solidFill>
                  </a:tcPr>
                </a:tc>
                <a:tc>
                  <a:txBody>
                    <a:bodyPr/>
                    <a:lstStyle/>
                    <a:p>
                      <a:r>
                        <a:rPr lang="en-IN"/>
                        <a:t>Gamma, Delta</a:t>
                      </a:r>
                    </a:p>
                  </a:txBody>
                  <a:tcPr anchor="ctr">
                    <a:solidFill>
                      <a:srgbClr val="2A1B4D">
                        <a:alpha val="50000"/>
                      </a:srgbClr>
                    </a:solidFill>
                  </a:tcPr>
                </a:tc>
                <a:tc>
                  <a:txBody>
                    <a:bodyPr/>
                    <a:lstStyle/>
                    <a:p>
                      <a:r>
                        <a:rPr lang="en-US"/>
                        <a:t>Benefit from realised underlying movements</a:t>
                      </a:r>
                    </a:p>
                  </a:txBody>
                  <a:tcPr anchor="ctr">
                    <a:solidFill>
                      <a:srgbClr val="2A1B4D">
                        <a:alpha val="50000"/>
                      </a:srgbClr>
                    </a:solidFill>
                  </a:tcPr>
                </a:tc>
                <a:extLst>
                  <a:ext uri="{0D108BD9-81ED-4DB2-BD59-A6C34878D82A}">
                    <a16:rowId xmlns:a16="http://schemas.microsoft.com/office/drawing/2014/main" val="10002"/>
                  </a:ext>
                </a:extLst>
              </a:tr>
              <a:tr h="414370">
                <a:tc>
                  <a:txBody>
                    <a:bodyPr/>
                    <a:lstStyle/>
                    <a:p>
                      <a:r>
                        <a:rPr lang="en-IN"/>
                        <a:t>Volatility trading</a:t>
                      </a:r>
                    </a:p>
                  </a:txBody>
                  <a:tcPr anchor="ctr">
                    <a:solidFill>
                      <a:srgbClr val="2A1B4D">
                        <a:alpha val="50000"/>
                      </a:srgbClr>
                    </a:solidFill>
                  </a:tcPr>
                </a:tc>
                <a:tc>
                  <a:txBody>
                    <a:bodyPr/>
                    <a:lstStyle/>
                    <a:p>
                      <a:r>
                        <a:rPr lang="en-IN"/>
                        <a:t>Vega, Volga</a:t>
                      </a:r>
                    </a:p>
                  </a:txBody>
                  <a:tcPr anchor="ctr">
                    <a:solidFill>
                      <a:srgbClr val="2A1B4D">
                        <a:alpha val="50000"/>
                      </a:srgbClr>
                    </a:solidFill>
                  </a:tcPr>
                </a:tc>
                <a:tc>
                  <a:txBody>
                    <a:bodyPr/>
                    <a:lstStyle/>
                    <a:p>
                      <a:r>
                        <a:rPr lang="en-US"/>
                        <a:t>Express views on implied volatility</a:t>
                      </a:r>
                    </a:p>
                  </a:txBody>
                  <a:tcPr anchor="ctr">
                    <a:solidFill>
                      <a:srgbClr val="2A1B4D">
                        <a:alpha val="50000"/>
                      </a:srgbClr>
                    </a:solidFill>
                  </a:tcPr>
                </a:tc>
                <a:extLst>
                  <a:ext uri="{0D108BD9-81ED-4DB2-BD59-A6C34878D82A}">
                    <a16:rowId xmlns:a16="http://schemas.microsoft.com/office/drawing/2014/main" val="10003"/>
                  </a:ext>
                </a:extLst>
              </a:tr>
              <a:tr h="467837">
                <a:tc>
                  <a:txBody>
                    <a:bodyPr/>
                    <a:lstStyle/>
                    <a:p>
                      <a:r>
                        <a:rPr lang="en-IN"/>
                        <a:t>Time decay strategies</a:t>
                      </a:r>
                    </a:p>
                  </a:txBody>
                  <a:tcPr anchor="ctr">
                    <a:solidFill>
                      <a:srgbClr val="2A1B4D">
                        <a:alpha val="50000"/>
                      </a:srgbClr>
                    </a:solidFill>
                  </a:tcPr>
                </a:tc>
                <a:tc>
                  <a:txBody>
                    <a:bodyPr/>
                    <a:lstStyle/>
                    <a:p>
                      <a:r>
                        <a:rPr lang="en-IN"/>
                        <a:t>Theta, Gamma</a:t>
                      </a:r>
                    </a:p>
                  </a:txBody>
                  <a:tcPr anchor="ctr">
                    <a:solidFill>
                      <a:srgbClr val="2A1B4D">
                        <a:alpha val="50000"/>
                      </a:srgbClr>
                    </a:solidFill>
                  </a:tcPr>
                </a:tc>
                <a:tc>
                  <a:txBody>
                    <a:bodyPr/>
                    <a:lstStyle/>
                    <a:p>
                      <a:r>
                        <a:rPr lang="en-US"/>
                        <a:t>Earn premium through time decay</a:t>
                      </a:r>
                    </a:p>
                  </a:txBody>
                  <a:tcPr anchor="ctr">
                    <a:solidFill>
                      <a:srgbClr val="2A1B4D">
                        <a:alpha val="50000"/>
                      </a:srgbClr>
                    </a:solidFill>
                  </a:tcPr>
                </a:tc>
                <a:extLst>
                  <a:ext uri="{0D108BD9-81ED-4DB2-BD59-A6C34878D82A}">
                    <a16:rowId xmlns:a16="http://schemas.microsoft.com/office/drawing/2014/main" val="10004"/>
                  </a:ext>
                </a:extLst>
              </a:tr>
              <a:tr h="414370">
                <a:tc>
                  <a:txBody>
                    <a:bodyPr/>
                    <a:lstStyle/>
                    <a:p>
                      <a:r>
                        <a:rPr lang="en-IN"/>
                        <a:t>Delta hedging</a:t>
                      </a:r>
                    </a:p>
                  </a:txBody>
                  <a:tcPr anchor="ctr">
                    <a:solidFill>
                      <a:srgbClr val="2A1B4D">
                        <a:alpha val="50000"/>
                      </a:srgbClr>
                    </a:solidFill>
                  </a:tcPr>
                </a:tc>
                <a:tc>
                  <a:txBody>
                    <a:bodyPr/>
                    <a:lstStyle/>
                    <a:p>
                      <a:r>
                        <a:rPr lang="en-IN"/>
                        <a:t>Delta</a:t>
                      </a:r>
                    </a:p>
                  </a:txBody>
                  <a:tcPr anchor="ctr">
                    <a:solidFill>
                      <a:srgbClr val="2A1B4D">
                        <a:alpha val="50000"/>
                      </a:srgbClr>
                    </a:solidFill>
                  </a:tcPr>
                </a:tc>
                <a:tc>
                  <a:txBody>
                    <a:bodyPr/>
                    <a:lstStyle/>
                    <a:p>
                      <a:r>
                        <a:rPr lang="en-IN"/>
                        <a:t>Maintain market-neutral positions</a:t>
                      </a:r>
                    </a:p>
                  </a:txBody>
                  <a:tcPr anchor="ctr">
                    <a:solidFill>
                      <a:srgbClr val="2A1B4D">
                        <a:alpha val="50000"/>
                      </a:srgbClr>
                    </a:solidFill>
                  </a:tcPr>
                </a:tc>
                <a:extLst>
                  <a:ext uri="{0D108BD9-81ED-4DB2-BD59-A6C34878D82A}">
                    <a16:rowId xmlns:a16="http://schemas.microsoft.com/office/drawing/2014/main" val="10005"/>
                  </a:ext>
                </a:extLst>
              </a:tr>
              <a:tr h="577891">
                <a:tc>
                  <a:txBody>
                    <a:bodyPr/>
                    <a:lstStyle/>
                    <a:p>
                      <a:r>
                        <a:rPr lang="en-IN"/>
                        <a:t>Gamma scalping</a:t>
                      </a:r>
                    </a:p>
                  </a:txBody>
                  <a:tcPr anchor="ctr">
                    <a:solidFill>
                      <a:srgbClr val="2A1B4D">
                        <a:alpha val="50000"/>
                      </a:srgbClr>
                    </a:solidFill>
                  </a:tcPr>
                </a:tc>
                <a:tc>
                  <a:txBody>
                    <a:bodyPr/>
                    <a:lstStyle/>
                    <a:p>
                      <a:r>
                        <a:rPr lang="en-IN" dirty="0"/>
                        <a:t>Gamma, Delta, Theta</a:t>
                      </a:r>
                    </a:p>
                  </a:txBody>
                  <a:tcPr anchor="ctr">
                    <a:solidFill>
                      <a:srgbClr val="2A1B4D">
                        <a:alpha val="50000"/>
                      </a:srgbClr>
                    </a:solidFill>
                  </a:tcPr>
                </a:tc>
                <a:tc>
                  <a:txBody>
                    <a:bodyPr/>
                    <a:lstStyle/>
                    <a:p>
                      <a:r>
                        <a:rPr lang="en-US"/>
                        <a:t>Monetise realised volatility through dynamic hedging</a:t>
                      </a:r>
                    </a:p>
                  </a:txBody>
                  <a:tcPr anchor="ctr">
                    <a:solidFill>
                      <a:srgbClr val="2A1B4D">
                        <a:alpha val="50000"/>
                      </a:srgbClr>
                    </a:solidFill>
                  </a:tcPr>
                </a:tc>
                <a:extLst>
                  <a:ext uri="{0D108BD9-81ED-4DB2-BD59-A6C34878D82A}">
                    <a16:rowId xmlns:a16="http://schemas.microsoft.com/office/drawing/2014/main" val="1844837327"/>
                  </a:ext>
                </a:extLst>
              </a:tr>
              <a:tr h="577891">
                <a:tc>
                  <a:txBody>
                    <a:bodyPr/>
                    <a:lstStyle/>
                    <a:p>
                      <a:r>
                        <a:rPr lang="en-IN"/>
                        <a:t>Volatility arbitrage</a:t>
                      </a:r>
                    </a:p>
                  </a:txBody>
                  <a:tcPr anchor="ctr">
                    <a:solidFill>
                      <a:srgbClr val="2A1B4D">
                        <a:alpha val="50000"/>
                      </a:srgbClr>
                    </a:solidFill>
                  </a:tcPr>
                </a:tc>
                <a:tc>
                  <a:txBody>
                    <a:bodyPr/>
                    <a:lstStyle/>
                    <a:p>
                      <a:r>
                        <a:rPr lang="en-IN"/>
                        <a:t>Vega, Gamma, Theta</a:t>
                      </a:r>
                    </a:p>
                  </a:txBody>
                  <a:tcPr anchor="ctr">
                    <a:solidFill>
                      <a:srgbClr val="2A1B4D">
                        <a:alpha val="50000"/>
                      </a:srgbClr>
                    </a:solidFill>
                  </a:tcPr>
                </a:tc>
                <a:tc>
                  <a:txBody>
                    <a:bodyPr/>
                    <a:lstStyle/>
                    <a:p>
                      <a:r>
                        <a:rPr lang="en-US"/>
                        <a:t>Exploit differences between implied and realised volatility</a:t>
                      </a:r>
                    </a:p>
                  </a:txBody>
                  <a:tcPr anchor="ctr">
                    <a:solidFill>
                      <a:srgbClr val="2A1B4D">
                        <a:alpha val="50000"/>
                      </a:srgbClr>
                    </a:solidFill>
                  </a:tcPr>
                </a:tc>
                <a:extLst>
                  <a:ext uri="{0D108BD9-81ED-4DB2-BD59-A6C34878D82A}">
                    <a16:rowId xmlns:a16="http://schemas.microsoft.com/office/drawing/2014/main" val="4255621478"/>
                  </a:ext>
                </a:extLst>
              </a:tr>
              <a:tr h="414370">
                <a:tc>
                  <a:txBody>
                    <a:bodyPr/>
                    <a:lstStyle/>
                    <a:p>
                      <a:r>
                        <a:rPr lang="en-IN"/>
                        <a:t>Skew trading</a:t>
                      </a:r>
                    </a:p>
                  </a:txBody>
                  <a:tcPr anchor="ctr">
                    <a:solidFill>
                      <a:srgbClr val="2A1B4D">
                        <a:alpha val="50000"/>
                      </a:srgbClr>
                    </a:solidFill>
                  </a:tcPr>
                </a:tc>
                <a:tc>
                  <a:txBody>
                    <a:bodyPr/>
                    <a:lstStyle/>
                    <a:p>
                      <a:r>
                        <a:rPr lang="en-IN"/>
                        <a:t>Vanna, Vega</a:t>
                      </a:r>
                    </a:p>
                  </a:txBody>
                  <a:tcPr anchor="ctr">
                    <a:solidFill>
                      <a:srgbClr val="2A1B4D">
                        <a:alpha val="50000"/>
                      </a:srgbClr>
                    </a:solidFill>
                  </a:tcPr>
                </a:tc>
                <a:tc>
                  <a:txBody>
                    <a:bodyPr/>
                    <a:lstStyle/>
                    <a:p>
                      <a:r>
                        <a:rPr lang="en-US" dirty="0"/>
                        <a:t>Trade relative volatility across strikes</a:t>
                      </a:r>
                    </a:p>
                  </a:txBody>
                  <a:tcPr anchor="ctr">
                    <a:solidFill>
                      <a:srgbClr val="2A1B4D">
                        <a:alpha val="50000"/>
                      </a:srgbClr>
                    </a:solidFill>
                  </a:tcPr>
                </a:tc>
                <a:extLst>
                  <a:ext uri="{0D108BD9-81ED-4DB2-BD59-A6C34878D82A}">
                    <a16:rowId xmlns:a16="http://schemas.microsoft.com/office/drawing/2014/main" val="4102448809"/>
                  </a:ext>
                </a:extLst>
              </a:tr>
              <a:tr h="467837">
                <a:tc>
                  <a:txBody>
                    <a:bodyPr/>
                    <a:lstStyle/>
                    <a:p>
                      <a:r>
                        <a:rPr lang="en-IN"/>
                        <a:t>Term structure trading</a:t>
                      </a:r>
                    </a:p>
                  </a:txBody>
                  <a:tcPr anchor="ctr">
                    <a:solidFill>
                      <a:srgbClr val="2A1B4D">
                        <a:alpha val="50000"/>
                      </a:srgbClr>
                    </a:solidFill>
                  </a:tcPr>
                </a:tc>
                <a:tc>
                  <a:txBody>
                    <a:bodyPr/>
                    <a:lstStyle/>
                    <a:p>
                      <a:r>
                        <a:rPr lang="en-IN"/>
                        <a:t>Vega, Veta</a:t>
                      </a:r>
                    </a:p>
                  </a:txBody>
                  <a:tcPr anchor="ctr">
                    <a:solidFill>
                      <a:srgbClr val="2A1B4D">
                        <a:alpha val="50000"/>
                      </a:srgbClr>
                    </a:solidFill>
                  </a:tcPr>
                </a:tc>
                <a:tc>
                  <a:txBody>
                    <a:bodyPr/>
                    <a:lstStyle/>
                    <a:p>
                      <a:r>
                        <a:rPr lang="en-US"/>
                        <a:t>Trade relative volatility across expiries</a:t>
                      </a:r>
                    </a:p>
                  </a:txBody>
                  <a:tcPr anchor="ctr">
                    <a:solidFill>
                      <a:srgbClr val="2A1B4D">
                        <a:alpha val="50000"/>
                      </a:srgbClr>
                    </a:solidFill>
                  </a:tcPr>
                </a:tc>
                <a:extLst>
                  <a:ext uri="{0D108BD9-81ED-4DB2-BD59-A6C34878D82A}">
                    <a16:rowId xmlns:a16="http://schemas.microsoft.com/office/drawing/2014/main" val="466799977"/>
                  </a:ext>
                </a:extLst>
              </a:tr>
              <a:tr h="467837">
                <a:tc>
                  <a:txBody>
                    <a:bodyPr/>
                    <a:lstStyle/>
                    <a:p>
                      <a:r>
                        <a:rPr lang="en-IN"/>
                        <a:t>Interest-rate hedging</a:t>
                      </a:r>
                    </a:p>
                  </a:txBody>
                  <a:tcPr anchor="ctr">
                    <a:solidFill>
                      <a:srgbClr val="2A1B4D">
                        <a:alpha val="50000"/>
                      </a:srgbClr>
                    </a:solidFill>
                  </a:tcPr>
                </a:tc>
                <a:tc>
                  <a:txBody>
                    <a:bodyPr/>
                    <a:lstStyle/>
                    <a:p>
                      <a:r>
                        <a:rPr lang="en-IN"/>
                        <a:t>Rho</a:t>
                      </a:r>
                    </a:p>
                  </a:txBody>
                  <a:tcPr anchor="ctr">
                    <a:solidFill>
                      <a:srgbClr val="2A1B4D">
                        <a:alpha val="50000"/>
                      </a:srgbClr>
                    </a:solidFill>
                  </a:tcPr>
                </a:tc>
                <a:tc>
                  <a:txBody>
                    <a:bodyPr/>
                    <a:lstStyle/>
                    <a:p>
                      <a:r>
                        <a:rPr lang="en-IN" dirty="0"/>
                        <a:t>Manage rate sensitivity</a:t>
                      </a:r>
                    </a:p>
                  </a:txBody>
                  <a:tcPr anchor="ctr">
                    <a:solidFill>
                      <a:srgbClr val="2A1B4D">
                        <a:alpha val="50000"/>
                      </a:srgbClr>
                    </a:solidFill>
                  </a:tcPr>
                </a:tc>
                <a:extLst>
                  <a:ext uri="{0D108BD9-81ED-4DB2-BD59-A6C34878D82A}">
                    <a16:rowId xmlns:a16="http://schemas.microsoft.com/office/drawing/2014/main" val="2538929549"/>
                  </a:ext>
                </a:extLst>
              </a:tr>
            </a:tbl>
          </a:graphicData>
        </a:graphic>
      </p:graphicFrame>
      <p:sp>
        <p:nvSpPr>
          <p:cNvPr id="2" name="Title 1"/>
          <p:cNvSpPr>
            <a:spLocks noGrp="1"/>
          </p:cNvSpPr>
          <p:nvPr>
            <p:ph type="title"/>
          </p:nvPr>
        </p:nvSpPr>
        <p:spPr>
          <a:xfrm>
            <a:off x="917595" y="137963"/>
            <a:ext cx="10353761" cy="952100"/>
          </a:xfrm>
        </p:spPr>
        <p:txBody>
          <a:bodyPr/>
          <a:lstStyle/>
          <a:p>
            <a:r>
              <a:rPr lang="en-IN" dirty="0" smtClean="0"/>
              <a:t>OPTION TRADING</a:t>
            </a:r>
            <a:endParaRPr dirty="0"/>
          </a:p>
        </p:txBody>
      </p:sp>
    </p:spTree>
    <p:extLst>
      <p:ext uri="{BB962C8B-B14F-4D97-AF65-F5344CB8AC3E}">
        <p14:creationId xmlns:p14="http://schemas.microsoft.com/office/powerpoint/2010/main" val="17948399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13795" y="1323473"/>
            <a:ext cx="10353761" cy="394637"/>
          </a:xfrm>
          <a:prstGeom prst="rect">
            <a:avLst/>
          </a:prstGeom>
        </p:spPr>
        <p:txBody>
          <a:bodyPr vert="horz" lIns="91440" tIns="45720" rIns="91440" bIns="45720" rtlCol="0" anchor="ctr">
            <a:normAutofit fontScale="77500" lnSpcReduction="200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gn="l"/>
            <a:r>
              <a:rPr lang="en-IN" b="0" dirty="0" smtClean="0">
                <a:effectLst/>
              </a:rPr>
              <a:t>First-ORDER</a:t>
            </a:r>
            <a:endParaRPr lang="en-IN" b="0" dirty="0">
              <a:effectLst/>
            </a:endParaRPr>
          </a:p>
        </p:txBody>
      </p:sp>
      <p:sp>
        <p:nvSpPr>
          <p:cNvPr id="2" name="Title 1"/>
          <p:cNvSpPr>
            <a:spLocks noGrp="1"/>
          </p:cNvSpPr>
          <p:nvPr>
            <p:ph type="title"/>
          </p:nvPr>
        </p:nvSpPr>
        <p:spPr>
          <a:xfrm>
            <a:off x="913795" y="226193"/>
            <a:ext cx="10353761" cy="766813"/>
          </a:xfrm>
        </p:spPr>
        <p:txBody>
          <a:bodyPr/>
          <a:lstStyle/>
          <a:p>
            <a:r>
              <a:rPr dirty="0" smtClean="0"/>
              <a:t>Greeks</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128956762"/>
              </p:ext>
            </p:extLst>
          </p:nvPr>
        </p:nvGraphicFramePr>
        <p:xfrm>
          <a:off x="685800" y="2038149"/>
          <a:ext cx="10402502" cy="3749040"/>
        </p:xfrm>
        <a:graphic>
          <a:graphicData uri="http://schemas.openxmlformats.org/drawingml/2006/table">
            <a:tbl>
              <a:tblPr firstRow="1"/>
              <a:tblGrid>
                <a:gridCol w="1863830">
                  <a:extLst>
                    <a:ext uri="{9D8B030D-6E8A-4147-A177-3AD203B41FA5}">
                      <a16:colId xmlns:a16="http://schemas.microsoft.com/office/drawing/2014/main" val="20000"/>
                    </a:ext>
                  </a:extLst>
                </a:gridCol>
                <a:gridCol w="3504661">
                  <a:extLst>
                    <a:ext uri="{9D8B030D-6E8A-4147-A177-3AD203B41FA5}">
                      <a16:colId xmlns:a16="http://schemas.microsoft.com/office/drawing/2014/main" val="20001"/>
                    </a:ext>
                  </a:extLst>
                </a:gridCol>
                <a:gridCol w="5034011">
                  <a:extLst>
                    <a:ext uri="{9D8B030D-6E8A-4147-A177-3AD203B41FA5}">
                      <a16:colId xmlns:a16="http://schemas.microsoft.com/office/drawing/2014/main" val="20003"/>
                    </a:ext>
                  </a:extLst>
                </a:gridCol>
              </a:tblGrid>
              <a:tr h="548640">
                <a:tc>
                  <a:txBody>
                    <a:bodyPr/>
                    <a:lstStyle/>
                    <a:p>
                      <a:r>
                        <a:rPr sz="1600" b="1" dirty="0">
                          <a:solidFill>
                            <a:srgbClr val="FFD166"/>
                          </a:solidFill>
                        </a:rPr>
                        <a:t>Greek</a:t>
                      </a:r>
                    </a:p>
                  </a:txBody>
                  <a:tcPr marL="109728" marR="109728" anchor="ctr">
                    <a:solidFill>
                      <a:srgbClr val="1E1238">
                        <a:alpha val="85000"/>
                      </a:srgbClr>
                    </a:solidFill>
                  </a:tcPr>
                </a:tc>
                <a:tc>
                  <a:txBody>
                    <a:bodyPr/>
                    <a:lstStyle/>
                    <a:p>
                      <a:r>
                        <a:rPr lang="en-IN" sz="1600" b="1" dirty="0" smtClean="0">
                          <a:solidFill>
                            <a:srgbClr val="FFD166"/>
                          </a:solidFill>
                        </a:rPr>
                        <a:t>Measure</a:t>
                      </a:r>
                      <a:endParaRPr sz="1600" b="1" dirty="0">
                        <a:solidFill>
                          <a:srgbClr val="FFD166"/>
                        </a:solidFill>
                      </a:endParaRPr>
                    </a:p>
                  </a:txBody>
                  <a:tcPr marL="109728" marR="109728" anchor="ctr">
                    <a:solidFill>
                      <a:srgbClr val="1E1238">
                        <a:alpha val="85000"/>
                      </a:srgbClr>
                    </a:solidFill>
                  </a:tcPr>
                </a:tc>
                <a:tc>
                  <a:txBody>
                    <a:bodyPr/>
                    <a:lstStyle/>
                    <a:p>
                      <a:r>
                        <a:rPr lang="en-IN" sz="1600" b="1" dirty="0" smtClean="0">
                          <a:solidFill>
                            <a:srgbClr val="FFD166"/>
                          </a:solidFill>
                        </a:rPr>
                        <a:t>Use</a:t>
                      </a:r>
                      <a:endParaRPr sz="1600" b="1" dirty="0">
                        <a:solidFill>
                          <a:srgbClr val="FFD166"/>
                        </a:solidFill>
                      </a:endParaRPr>
                    </a:p>
                  </a:txBody>
                  <a:tcPr marL="109728" marR="109728" anchor="ctr">
                    <a:solidFill>
                      <a:srgbClr val="1E1238">
                        <a:alpha val="85000"/>
                      </a:srgbClr>
                    </a:solidFill>
                  </a:tcPr>
                </a:tc>
                <a:extLst>
                  <a:ext uri="{0D108BD9-81ED-4DB2-BD59-A6C34878D82A}">
                    <a16:rowId xmlns:a16="http://schemas.microsoft.com/office/drawing/2014/main" val="10000"/>
                  </a:ext>
                </a:extLst>
              </a:tr>
              <a:tr h="548640">
                <a:tc>
                  <a:txBody>
                    <a:bodyPr/>
                    <a:lstStyle/>
                    <a:p>
                      <a:r>
                        <a:rPr lang="en-IN"/>
                        <a:t>Delta (</a:t>
                      </a:r>
                      <a:r>
                        <a:rPr lang="el-GR"/>
                        <a:t>Δ)</a:t>
                      </a:r>
                    </a:p>
                  </a:txBody>
                  <a:tcPr anchor="ctr">
                    <a:solidFill>
                      <a:srgbClr val="2A1B4D">
                        <a:alpha val="50000"/>
                      </a:srgbClr>
                    </a:solidFill>
                  </a:tcPr>
                </a:tc>
                <a:tc>
                  <a:txBody>
                    <a:bodyPr/>
                    <a:lstStyle/>
                    <a:p>
                      <a:r>
                        <a:rPr lang="en-IN"/>
                        <a:t>Sensitivity to underlying price</a:t>
                      </a:r>
                    </a:p>
                  </a:txBody>
                  <a:tcPr anchor="ctr">
                    <a:solidFill>
                      <a:srgbClr val="2A1B4D">
                        <a:alpha val="50000"/>
                      </a:srgbClr>
                    </a:solidFill>
                  </a:tcPr>
                </a:tc>
                <a:tc>
                  <a:txBody>
                    <a:bodyPr/>
                    <a:lstStyle/>
                    <a:p>
                      <a:r>
                        <a:rPr lang="en-IN"/>
                        <a:t>Directional exposure, hedge ratio, synthetic positions, probability approximation</a:t>
                      </a:r>
                    </a:p>
                  </a:txBody>
                  <a:tcPr anchor="ctr">
                    <a:solidFill>
                      <a:srgbClr val="2A1B4D">
                        <a:alpha val="50000"/>
                      </a:srgbClr>
                    </a:solidFill>
                  </a:tcPr>
                </a:tc>
                <a:extLst>
                  <a:ext uri="{0D108BD9-81ED-4DB2-BD59-A6C34878D82A}">
                    <a16:rowId xmlns:a16="http://schemas.microsoft.com/office/drawing/2014/main" val="10001"/>
                  </a:ext>
                </a:extLst>
              </a:tr>
              <a:tr h="548640">
                <a:tc>
                  <a:txBody>
                    <a:bodyPr/>
                    <a:lstStyle/>
                    <a:p>
                      <a:r>
                        <a:rPr lang="en-IN"/>
                        <a:t>Gamma (</a:t>
                      </a:r>
                      <a:r>
                        <a:rPr lang="el-GR"/>
                        <a:t>Γ)</a:t>
                      </a:r>
                    </a:p>
                  </a:txBody>
                  <a:tcPr anchor="ctr">
                    <a:solidFill>
                      <a:srgbClr val="2A1B4D">
                        <a:alpha val="50000"/>
                      </a:srgbClr>
                    </a:solidFill>
                  </a:tcPr>
                </a:tc>
                <a:tc>
                  <a:txBody>
                    <a:bodyPr/>
                    <a:lstStyle/>
                    <a:p>
                      <a:r>
                        <a:rPr lang="en-US"/>
                        <a:t>Sensitivity of Delta to underlying price</a:t>
                      </a:r>
                    </a:p>
                  </a:txBody>
                  <a:tcPr anchor="ctr">
                    <a:solidFill>
                      <a:srgbClr val="2A1B4D">
                        <a:alpha val="50000"/>
                      </a:srgbClr>
                    </a:solidFill>
                  </a:tcPr>
                </a:tc>
                <a:tc>
                  <a:txBody>
                    <a:bodyPr/>
                    <a:lstStyle/>
                    <a:p>
                      <a:r>
                        <a:rPr lang="en-IN"/>
                        <a:t>Convexity exposure, dynamic hedging, gamma scalping, identifying nonlinear risk</a:t>
                      </a:r>
                    </a:p>
                  </a:txBody>
                  <a:tcPr anchor="ctr">
                    <a:solidFill>
                      <a:srgbClr val="2A1B4D">
                        <a:alpha val="50000"/>
                      </a:srgbClr>
                    </a:solidFill>
                  </a:tcPr>
                </a:tc>
                <a:extLst>
                  <a:ext uri="{0D108BD9-81ED-4DB2-BD59-A6C34878D82A}">
                    <a16:rowId xmlns:a16="http://schemas.microsoft.com/office/drawing/2014/main" val="10002"/>
                  </a:ext>
                </a:extLst>
              </a:tr>
              <a:tr h="548640">
                <a:tc>
                  <a:txBody>
                    <a:bodyPr/>
                    <a:lstStyle/>
                    <a:p>
                      <a:r>
                        <a:rPr lang="en-IN"/>
                        <a:t>Vega (</a:t>
                      </a:r>
                      <a:r>
                        <a:rPr lang="el-GR"/>
                        <a:t>ν)</a:t>
                      </a:r>
                    </a:p>
                  </a:txBody>
                  <a:tcPr anchor="ctr">
                    <a:solidFill>
                      <a:srgbClr val="2A1B4D">
                        <a:alpha val="50000"/>
                      </a:srgbClr>
                    </a:solidFill>
                  </a:tcPr>
                </a:tc>
                <a:tc>
                  <a:txBody>
                    <a:bodyPr/>
                    <a:lstStyle/>
                    <a:p>
                      <a:r>
                        <a:rPr lang="en-IN"/>
                        <a:t>Sensitivity to implied volatility</a:t>
                      </a:r>
                    </a:p>
                  </a:txBody>
                  <a:tcPr anchor="ctr">
                    <a:solidFill>
                      <a:srgbClr val="2A1B4D">
                        <a:alpha val="50000"/>
                      </a:srgbClr>
                    </a:solidFill>
                  </a:tcPr>
                </a:tc>
                <a:tc>
                  <a:txBody>
                    <a:bodyPr/>
                    <a:lstStyle/>
                    <a:p>
                      <a:r>
                        <a:rPr lang="en-US" dirty="0"/>
                        <a:t>Volatility trading, volatility hedging, volatility surface risk</a:t>
                      </a:r>
                    </a:p>
                  </a:txBody>
                  <a:tcPr anchor="ctr">
                    <a:solidFill>
                      <a:srgbClr val="2A1B4D">
                        <a:alpha val="50000"/>
                      </a:srgbClr>
                    </a:solidFill>
                  </a:tcPr>
                </a:tc>
                <a:extLst>
                  <a:ext uri="{0D108BD9-81ED-4DB2-BD59-A6C34878D82A}">
                    <a16:rowId xmlns:a16="http://schemas.microsoft.com/office/drawing/2014/main" val="10003"/>
                  </a:ext>
                </a:extLst>
              </a:tr>
              <a:tr h="548640">
                <a:tc>
                  <a:txBody>
                    <a:bodyPr/>
                    <a:lstStyle/>
                    <a:p>
                      <a:r>
                        <a:rPr lang="en-IN"/>
                        <a:t>Theta (</a:t>
                      </a:r>
                      <a:r>
                        <a:rPr lang="el-GR"/>
                        <a:t>Θ)</a:t>
                      </a:r>
                    </a:p>
                  </a:txBody>
                  <a:tcPr anchor="ctr">
                    <a:solidFill>
                      <a:srgbClr val="2A1B4D">
                        <a:alpha val="50000"/>
                      </a:srgbClr>
                    </a:solidFill>
                  </a:tcPr>
                </a:tc>
                <a:tc>
                  <a:txBody>
                    <a:bodyPr/>
                    <a:lstStyle/>
                    <a:p>
                      <a:r>
                        <a:rPr lang="en-US"/>
                        <a:t>Sensitivity to passage of time</a:t>
                      </a:r>
                    </a:p>
                  </a:txBody>
                  <a:tcPr anchor="ctr">
                    <a:solidFill>
                      <a:srgbClr val="2A1B4D">
                        <a:alpha val="50000"/>
                      </a:srgbClr>
                    </a:solidFill>
                  </a:tcPr>
                </a:tc>
                <a:tc>
                  <a:txBody>
                    <a:bodyPr/>
                    <a:lstStyle/>
                    <a:p>
                      <a:r>
                        <a:rPr lang="en-US"/>
                        <a:t>Time decay analysis, carry estimation, theta harvesting, calendar spread analysis</a:t>
                      </a:r>
                    </a:p>
                  </a:txBody>
                  <a:tcPr anchor="ctr">
                    <a:solidFill>
                      <a:srgbClr val="2A1B4D">
                        <a:alpha val="50000"/>
                      </a:srgbClr>
                    </a:solidFill>
                  </a:tcPr>
                </a:tc>
                <a:extLst>
                  <a:ext uri="{0D108BD9-81ED-4DB2-BD59-A6C34878D82A}">
                    <a16:rowId xmlns:a16="http://schemas.microsoft.com/office/drawing/2014/main" val="10004"/>
                  </a:ext>
                </a:extLst>
              </a:tr>
              <a:tr h="548640">
                <a:tc>
                  <a:txBody>
                    <a:bodyPr/>
                    <a:lstStyle/>
                    <a:p>
                      <a:r>
                        <a:rPr lang="en-IN"/>
                        <a:t>Rho (</a:t>
                      </a:r>
                      <a:r>
                        <a:rPr lang="el-GR"/>
                        <a:t>ρ)</a:t>
                      </a:r>
                    </a:p>
                  </a:txBody>
                  <a:tcPr anchor="ctr">
                    <a:solidFill>
                      <a:srgbClr val="2A1B4D">
                        <a:alpha val="50000"/>
                      </a:srgbClr>
                    </a:solidFill>
                  </a:tcPr>
                </a:tc>
                <a:tc>
                  <a:txBody>
                    <a:bodyPr/>
                    <a:lstStyle/>
                    <a:p>
                      <a:r>
                        <a:rPr lang="en-IN"/>
                        <a:t>Sensitivity to interest rates</a:t>
                      </a:r>
                    </a:p>
                  </a:txBody>
                  <a:tcPr anchor="ctr">
                    <a:solidFill>
                      <a:srgbClr val="2A1B4D">
                        <a:alpha val="50000"/>
                      </a:srgbClr>
                    </a:solidFill>
                  </a:tcPr>
                </a:tc>
                <a:tc>
                  <a:txBody>
                    <a:bodyPr/>
                    <a:lstStyle/>
                    <a:p>
                      <a:r>
                        <a:rPr lang="en-US" dirty="0"/>
                        <a:t>Interest-rate risk, expiry-dependent rate exposure, rate hedging</a:t>
                      </a:r>
                    </a:p>
                  </a:txBody>
                  <a:tcPr anchor="ctr">
                    <a:solidFill>
                      <a:srgbClr val="2A1B4D">
                        <a:alpha val="50000"/>
                      </a:srgbClr>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13795" y="976965"/>
            <a:ext cx="10353761" cy="394637"/>
          </a:xfrm>
          <a:prstGeom prst="rect">
            <a:avLst/>
          </a:prstGeom>
        </p:spPr>
        <p:txBody>
          <a:bodyPr vert="horz" lIns="91440" tIns="45720" rIns="91440" bIns="45720" rtlCol="0" anchor="ctr">
            <a:normAutofit fontScale="77500" lnSpcReduction="200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gn="l"/>
            <a:r>
              <a:rPr lang="en-IN" b="0" dirty="0" smtClean="0">
                <a:effectLst/>
              </a:rPr>
              <a:t>SECOND-ORDER and CROSS SENSITIVITIES</a:t>
            </a:r>
            <a:endParaRPr lang="en-IN" b="0" dirty="0">
              <a:effectLst/>
            </a:endParaRPr>
          </a:p>
        </p:txBody>
      </p:sp>
      <p:sp>
        <p:nvSpPr>
          <p:cNvPr id="2" name="Title 1"/>
          <p:cNvSpPr>
            <a:spLocks noGrp="1"/>
          </p:cNvSpPr>
          <p:nvPr>
            <p:ph type="title"/>
          </p:nvPr>
        </p:nvSpPr>
        <p:spPr>
          <a:xfrm>
            <a:off x="913795" y="226193"/>
            <a:ext cx="10353761" cy="766813"/>
          </a:xfrm>
        </p:spPr>
        <p:txBody>
          <a:bodyPr/>
          <a:lstStyle/>
          <a:p>
            <a:r>
              <a:rPr dirty="0" smtClean="0"/>
              <a:t>Greeks</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2705682914"/>
              </p:ext>
            </p:extLst>
          </p:nvPr>
        </p:nvGraphicFramePr>
        <p:xfrm>
          <a:off x="791678" y="1528010"/>
          <a:ext cx="10402502" cy="5029200"/>
        </p:xfrm>
        <a:graphic>
          <a:graphicData uri="http://schemas.openxmlformats.org/drawingml/2006/table">
            <a:tbl>
              <a:tblPr firstRow="1"/>
              <a:tblGrid>
                <a:gridCol w="1863830">
                  <a:extLst>
                    <a:ext uri="{9D8B030D-6E8A-4147-A177-3AD203B41FA5}">
                      <a16:colId xmlns:a16="http://schemas.microsoft.com/office/drawing/2014/main" val="20000"/>
                    </a:ext>
                  </a:extLst>
                </a:gridCol>
                <a:gridCol w="3504661">
                  <a:extLst>
                    <a:ext uri="{9D8B030D-6E8A-4147-A177-3AD203B41FA5}">
                      <a16:colId xmlns:a16="http://schemas.microsoft.com/office/drawing/2014/main" val="20001"/>
                    </a:ext>
                  </a:extLst>
                </a:gridCol>
                <a:gridCol w="5034011">
                  <a:extLst>
                    <a:ext uri="{9D8B030D-6E8A-4147-A177-3AD203B41FA5}">
                      <a16:colId xmlns:a16="http://schemas.microsoft.com/office/drawing/2014/main" val="20003"/>
                    </a:ext>
                  </a:extLst>
                </a:gridCol>
              </a:tblGrid>
              <a:tr h="548640">
                <a:tc>
                  <a:txBody>
                    <a:bodyPr/>
                    <a:lstStyle/>
                    <a:p>
                      <a:r>
                        <a:rPr sz="1600" b="1" dirty="0">
                          <a:solidFill>
                            <a:srgbClr val="FFD166"/>
                          </a:solidFill>
                        </a:rPr>
                        <a:t>Greek</a:t>
                      </a:r>
                    </a:p>
                  </a:txBody>
                  <a:tcPr marL="109728" marR="109728" anchor="ctr">
                    <a:solidFill>
                      <a:srgbClr val="1E1238">
                        <a:alpha val="85000"/>
                      </a:srgbClr>
                    </a:solidFill>
                  </a:tcPr>
                </a:tc>
                <a:tc>
                  <a:txBody>
                    <a:bodyPr/>
                    <a:lstStyle/>
                    <a:p>
                      <a:r>
                        <a:rPr lang="en-IN" sz="1600" b="1" dirty="0" smtClean="0">
                          <a:solidFill>
                            <a:srgbClr val="FFD166"/>
                          </a:solidFill>
                        </a:rPr>
                        <a:t>Measure</a:t>
                      </a:r>
                      <a:endParaRPr sz="1600" b="1" dirty="0">
                        <a:solidFill>
                          <a:srgbClr val="FFD166"/>
                        </a:solidFill>
                      </a:endParaRPr>
                    </a:p>
                  </a:txBody>
                  <a:tcPr marL="109728" marR="109728" anchor="ctr">
                    <a:solidFill>
                      <a:srgbClr val="1E1238">
                        <a:alpha val="85000"/>
                      </a:srgbClr>
                    </a:solidFill>
                  </a:tcPr>
                </a:tc>
                <a:tc>
                  <a:txBody>
                    <a:bodyPr/>
                    <a:lstStyle/>
                    <a:p>
                      <a:r>
                        <a:rPr lang="en-IN" sz="1600" b="1" dirty="0" smtClean="0">
                          <a:solidFill>
                            <a:srgbClr val="FFD166"/>
                          </a:solidFill>
                        </a:rPr>
                        <a:t>Use</a:t>
                      </a:r>
                      <a:endParaRPr sz="1600" b="1" dirty="0">
                        <a:solidFill>
                          <a:srgbClr val="FFD166"/>
                        </a:solidFill>
                      </a:endParaRPr>
                    </a:p>
                  </a:txBody>
                  <a:tcPr marL="109728" marR="109728" anchor="ctr">
                    <a:solidFill>
                      <a:srgbClr val="1E1238">
                        <a:alpha val="85000"/>
                      </a:srgbClr>
                    </a:solidFill>
                  </a:tcPr>
                </a:tc>
                <a:extLst>
                  <a:ext uri="{0D108BD9-81ED-4DB2-BD59-A6C34878D82A}">
                    <a16:rowId xmlns:a16="http://schemas.microsoft.com/office/drawing/2014/main" val="10000"/>
                  </a:ext>
                </a:extLst>
              </a:tr>
              <a:tr h="548640">
                <a:tc>
                  <a:txBody>
                    <a:bodyPr/>
                    <a:lstStyle/>
                    <a:p>
                      <a:r>
                        <a:rPr lang="en-IN"/>
                        <a:t>Vanna</a:t>
                      </a:r>
                    </a:p>
                  </a:txBody>
                  <a:tcPr anchor="ctr">
                    <a:solidFill>
                      <a:srgbClr val="2A1B4D">
                        <a:alpha val="50000"/>
                      </a:srgbClr>
                    </a:solidFill>
                  </a:tcPr>
                </a:tc>
                <a:tc>
                  <a:txBody>
                    <a:bodyPr/>
                    <a:lstStyle/>
                    <a:p>
                      <a:r>
                        <a:rPr lang="en-US"/>
                        <a:t>Change in Delta with volatility (or Vega with spot)</a:t>
                      </a:r>
                    </a:p>
                  </a:txBody>
                  <a:tcPr anchor="ctr">
                    <a:solidFill>
                      <a:srgbClr val="2A1B4D">
                        <a:alpha val="50000"/>
                      </a:srgbClr>
                    </a:solidFill>
                  </a:tcPr>
                </a:tc>
                <a:tc>
                  <a:txBody>
                    <a:bodyPr/>
                    <a:lstStyle/>
                    <a:p>
                      <a:r>
                        <a:rPr lang="en-US"/>
                        <a:t>Spot-volatility interaction, volatility surface hedging</a:t>
                      </a:r>
                    </a:p>
                  </a:txBody>
                  <a:tcPr anchor="ctr">
                    <a:solidFill>
                      <a:srgbClr val="2A1B4D">
                        <a:alpha val="50000"/>
                      </a:srgbClr>
                    </a:solidFill>
                  </a:tcPr>
                </a:tc>
                <a:extLst>
                  <a:ext uri="{0D108BD9-81ED-4DB2-BD59-A6C34878D82A}">
                    <a16:rowId xmlns:a16="http://schemas.microsoft.com/office/drawing/2014/main" val="10001"/>
                  </a:ext>
                </a:extLst>
              </a:tr>
              <a:tr h="548640">
                <a:tc>
                  <a:txBody>
                    <a:bodyPr/>
                    <a:lstStyle/>
                    <a:p>
                      <a:r>
                        <a:rPr lang="en-IN"/>
                        <a:t>Volga / Vomma</a:t>
                      </a:r>
                    </a:p>
                  </a:txBody>
                  <a:tcPr anchor="ctr">
                    <a:solidFill>
                      <a:srgbClr val="2A1B4D">
                        <a:alpha val="50000"/>
                      </a:srgbClr>
                    </a:solidFill>
                  </a:tcPr>
                </a:tc>
                <a:tc>
                  <a:txBody>
                    <a:bodyPr/>
                    <a:lstStyle/>
                    <a:p>
                      <a:r>
                        <a:rPr lang="en-US"/>
                        <a:t>Change in Vega with volatility</a:t>
                      </a:r>
                    </a:p>
                  </a:txBody>
                  <a:tcPr anchor="ctr">
                    <a:solidFill>
                      <a:srgbClr val="2A1B4D">
                        <a:alpha val="50000"/>
                      </a:srgbClr>
                    </a:solidFill>
                  </a:tcPr>
                </a:tc>
                <a:tc>
                  <a:txBody>
                    <a:bodyPr/>
                    <a:lstStyle/>
                    <a:p>
                      <a:r>
                        <a:rPr lang="en-US"/>
                        <a:t>Volatility convexity, managing large volatility movements</a:t>
                      </a:r>
                    </a:p>
                  </a:txBody>
                  <a:tcPr anchor="ctr">
                    <a:solidFill>
                      <a:srgbClr val="2A1B4D">
                        <a:alpha val="50000"/>
                      </a:srgbClr>
                    </a:solidFill>
                  </a:tcPr>
                </a:tc>
                <a:extLst>
                  <a:ext uri="{0D108BD9-81ED-4DB2-BD59-A6C34878D82A}">
                    <a16:rowId xmlns:a16="http://schemas.microsoft.com/office/drawing/2014/main" val="10002"/>
                  </a:ext>
                </a:extLst>
              </a:tr>
              <a:tr h="548640">
                <a:tc>
                  <a:txBody>
                    <a:bodyPr/>
                    <a:lstStyle/>
                    <a:p>
                      <a:r>
                        <a:rPr lang="en-IN"/>
                        <a:t>Charm</a:t>
                      </a:r>
                    </a:p>
                  </a:txBody>
                  <a:tcPr anchor="ctr">
                    <a:solidFill>
                      <a:srgbClr val="2A1B4D">
                        <a:alpha val="50000"/>
                      </a:srgbClr>
                    </a:solidFill>
                  </a:tcPr>
                </a:tc>
                <a:tc>
                  <a:txBody>
                    <a:bodyPr/>
                    <a:lstStyle/>
                    <a:p>
                      <a:r>
                        <a:rPr lang="en-US"/>
                        <a:t>Change in Delta with time</a:t>
                      </a:r>
                    </a:p>
                  </a:txBody>
                  <a:tcPr anchor="ctr">
                    <a:solidFill>
                      <a:srgbClr val="2A1B4D">
                        <a:alpha val="50000"/>
                      </a:srgbClr>
                    </a:solidFill>
                  </a:tcPr>
                </a:tc>
                <a:tc>
                  <a:txBody>
                    <a:bodyPr/>
                    <a:lstStyle/>
                    <a:p>
                      <a:r>
                        <a:rPr lang="en-US"/>
                        <a:t>Hedge rebalancing due to time decay, expiry-related hedging</a:t>
                      </a:r>
                    </a:p>
                  </a:txBody>
                  <a:tcPr anchor="ctr">
                    <a:solidFill>
                      <a:srgbClr val="2A1B4D">
                        <a:alpha val="50000"/>
                      </a:srgbClr>
                    </a:solidFill>
                  </a:tcPr>
                </a:tc>
                <a:extLst>
                  <a:ext uri="{0D108BD9-81ED-4DB2-BD59-A6C34878D82A}">
                    <a16:rowId xmlns:a16="http://schemas.microsoft.com/office/drawing/2014/main" val="10003"/>
                  </a:ext>
                </a:extLst>
              </a:tr>
              <a:tr h="548640">
                <a:tc>
                  <a:txBody>
                    <a:bodyPr/>
                    <a:lstStyle/>
                    <a:p>
                      <a:r>
                        <a:rPr lang="en-IN"/>
                        <a:t>Veta</a:t>
                      </a:r>
                    </a:p>
                  </a:txBody>
                  <a:tcPr anchor="ctr">
                    <a:solidFill>
                      <a:srgbClr val="2A1B4D">
                        <a:alpha val="50000"/>
                      </a:srgbClr>
                    </a:solidFill>
                  </a:tcPr>
                </a:tc>
                <a:tc>
                  <a:txBody>
                    <a:bodyPr/>
                    <a:lstStyle/>
                    <a:p>
                      <a:r>
                        <a:rPr lang="en-US"/>
                        <a:t>Change in Vega with time</a:t>
                      </a:r>
                    </a:p>
                  </a:txBody>
                  <a:tcPr anchor="ctr">
                    <a:solidFill>
                      <a:srgbClr val="2A1B4D">
                        <a:alpha val="50000"/>
                      </a:srgbClr>
                    </a:solidFill>
                  </a:tcPr>
                </a:tc>
                <a:tc>
                  <a:txBody>
                    <a:bodyPr/>
                    <a:lstStyle/>
                    <a:p>
                      <a:r>
                        <a:rPr lang="en-US"/>
                        <a:t>Managing the time decay of volatility exposure</a:t>
                      </a:r>
                    </a:p>
                  </a:txBody>
                  <a:tcPr anchor="ctr">
                    <a:solidFill>
                      <a:srgbClr val="2A1B4D">
                        <a:alpha val="50000"/>
                      </a:srgbClr>
                    </a:solidFill>
                  </a:tcPr>
                </a:tc>
                <a:extLst>
                  <a:ext uri="{0D108BD9-81ED-4DB2-BD59-A6C34878D82A}">
                    <a16:rowId xmlns:a16="http://schemas.microsoft.com/office/drawing/2014/main" val="10004"/>
                  </a:ext>
                </a:extLst>
              </a:tr>
              <a:tr h="548640">
                <a:tc>
                  <a:txBody>
                    <a:bodyPr/>
                    <a:lstStyle/>
                    <a:p>
                      <a:r>
                        <a:rPr lang="en-IN"/>
                        <a:t>Speed</a:t>
                      </a:r>
                    </a:p>
                  </a:txBody>
                  <a:tcPr anchor="ctr">
                    <a:solidFill>
                      <a:srgbClr val="2A1B4D">
                        <a:alpha val="50000"/>
                      </a:srgbClr>
                    </a:solidFill>
                  </a:tcPr>
                </a:tc>
                <a:tc>
                  <a:txBody>
                    <a:bodyPr/>
                    <a:lstStyle/>
                    <a:p>
                      <a:r>
                        <a:rPr lang="en-US"/>
                        <a:t>Change in Gamma with spot</a:t>
                      </a:r>
                    </a:p>
                  </a:txBody>
                  <a:tcPr anchor="ctr">
                    <a:solidFill>
                      <a:srgbClr val="2A1B4D">
                        <a:alpha val="50000"/>
                      </a:srgbClr>
                    </a:solidFill>
                  </a:tcPr>
                </a:tc>
                <a:tc>
                  <a:txBody>
                    <a:bodyPr/>
                    <a:lstStyle/>
                    <a:p>
                      <a:r>
                        <a:rPr lang="en-US"/>
                        <a:t>Higher-order spot convexity, managing gamma instability</a:t>
                      </a:r>
                    </a:p>
                  </a:txBody>
                  <a:tcPr anchor="ctr">
                    <a:solidFill>
                      <a:srgbClr val="2A1B4D">
                        <a:alpha val="50000"/>
                      </a:srgbClr>
                    </a:solidFill>
                  </a:tcPr>
                </a:tc>
                <a:extLst>
                  <a:ext uri="{0D108BD9-81ED-4DB2-BD59-A6C34878D82A}">
                    <a16:rowId xmlns:a16="http://schemas.microsoft.com/office/drawing/2014/main" val="10005"/>
                  </a:ext>
                </a:extLst>
              </a:tr>
              <a:tr h="548640">
                <a:tc>
                  <a:txBody>
                    <a:bodyPr/>
                    <a:lstStyle/>
                    <a:p>
                      <a:r>
                        <a:rPr lang="en-IN"/>
                        <a:t>Color</a:t>
                      </a:r>
                    </a:p>
                  </a:txBody>
                  <a:tcPr anchor="ctr">
                    <a:solidFill>
                      <a:srgbClr val="2A1B4D">
                        <a:alpha val="50000"/>
                      </a:srgbClr>
                    </a:solidFill>
                  </a:tcPr>
                </a:tc>
                <a:tc>
                  <a:txBody>
                    <a:bodyPr/>
                    <a:lstStyle/>
                    <a:p>
                      <a:r>
                        <a:rPr lang="en-US"/>
                        <a:t>Change in Gamma with time</a:t>
                      </a:r>
                    </a:p>
                  </a:txBody>
                  <a:tcPr anchor="ctr">
                    <a:solidFill>
                      <a:srgbClr val="2A1B4D">
                        <a:alpha val="50000"/>
                      </a:srgbClr>
                    </a:solidFill>
                  </a:tcPr>
                </a:tc>
                <a:tc>
                  <a:txBody>
                    <a:bodyPr/>
                    <a:lstStyle/>
                    <a:p>
                      <a:r>
                        <a:rPr lang="en-US"/>
                        <a:t>Managing gamma decay and dynamic hedge frequency</a:t>
                      </a:r>
                    </a:p>
                  </a:txBody>
                  <a:tcPr anchor="ctr">
                    <a:solidFill>
                      <a:srgbClr val="2A1B4D">
                        <a:alpha val="50000"/>
                      </a:srgbClr>
                    </a:solidFill>
                  </a:tcPr>
                </a:tc>
                <a:extLst>
                  <a:ext uri="{0D108BD9-81ED-4DB2-BD59-A6C34878D82A}">
                    <a16:rowId xmlns:a16="http://schemas.microsoft.com/office/drawing/2014/main" val="2222904790"/>
                  </a:ext>
                </a:extLst>
              </a:tr>
              <a:tr h="548640">
                <a:tc>
                  <a:txBody>
                    <a:bodyPr/>
                    <a:lstStyle/>
                    <a:p>
                      <a:r>
                        <a:rPr lang="en-IN"/>
                        <a:t>Zomma</a:t>
                      </a:r>
                    </a:p>
                  </a:txBody>
                  <a:tcPr anchor="ctr">
                    <a:solidFill>
                      <a:srgbClr val="2A1B4D">
                        <a:alpha val="50000"/>
                      </a:srgbClr>
                    </a:solidFill>
                  </a:tcPr>
                </a:tc>
                <a:tc>
                  <a:txBody>
                    <a:bodyPr/>
                    <a:lstStyle/>
                    <a:p>
                      <a:r>
                        <a:rPr lang="en-US"/>
                        <a:t>Change in Gamma with volatility</a:t>
                      </a:r>
                    </a:p>
                  </a:txBody>
                  <a:tcPr anchor="ctr">
                    <a:solidFill>
                      <a:srgbClr val="2A1B4D">
                        <a:alpha val="50000"/>
                      </a:srgbClr>
                    </a:solidFill>
                  </a:tcPr>
                </a:tc>
                <a:tc>
                  <a:txBody>
                    <a:bodyPr/>
                    <a:lstStyle/>
                    <a:p>
                      <a:r>
                        <a:rPr lang="en-US" dirty="0"/>
                        <a:t>Understanding how volatility changes affect gamma exposure</a:t>
                      </a:r>
                    </a:p>
                  </a:txBody>
                  <a:tcPr anchor="ctr">
                    <a:solidFill>
                      <a:srgbClr val="2A1B4D">
                        <a:alpha val="50000"/>
                      </a:srgbClr>
                    </a:solidFill>
                  </a:tcPr>
                </a:tc>
                <a:extLst>
                  <a:ext uri="{0D108BD9-81ED-4DB2-BD59-A6C34878D82A}">
                    <a16:rowId xmlns:a16="http://schemas.microsoft.com/office/drawing/2014/main" val="2424092257"/>
                  </a:ext>
                </a:extLst>
              </a:tr>
            </a:tbl>
          </a:graphicData>
        </a:graphic>
      </p:graphicFrame>
    </p:spTree>
    <p:extLst>
      <p:ext uri="{BB962C8B-B14F-4D97-AF65-F5344CB8AC3E}">
        <p14:creationId xmlns:p14="http://schemas.microsoft.com/office/powerpoint/2010/main" val="13914416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Higher-order Greeks and units</a:t>
            </a:r>
          </a:p>
        </p:txBody>
      </p:sp>
      <p:graphicFrame>
        <p:nvGraphicFramePr>
          <p:cNvPr id="3" name="Table 2"/>
          <p:cNvGraphicFramePr>
            <a:graphicFrameLocks noGrp="1"/>
          </p:cNvGraphicFramePr>
          <p:nvPr/>
        </p:nvGraphicFramePr>
        <p:xfrm>
          <a:off x="685800" y="1828800"/>
          <a:ext cx="10817352" cy="2743200"/>
        </p:xfrm>
        <a:graphic>
          <a:graphicData uri="http://schemas.openxmlformats.org/drawingml/2006/table">
            <a:tbl>
              <a:tblPr firstRow="1"/>
              <a:tblGrid>
                <a:gridCol w="1188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57200">
                <a:tc>
                  <a:txBody>
                    <a:bodyPr/>
                    <a:lstStyle/>
                    <a:p>
                      <a:r>
                        <a:rPr sz="1400" b="1">
                          <a:solidFill>
                            <a:srgbClr val="FFD166"/>
                          </a:solidFill>
                        </a:rPr>
                        <a:t>Greek</a:t>
                      </a:r>
                    </a:p>
                  </a:txBody>
                  <a:tcPr marL="109728" marR="109728" anchor="ctr">
                    <a:solidFill>
                      <a:srgbClr val="1E1238">
                        <a:alpha val="85000"/>
                      </a:srgbClr>
                    </a:solidFill>
                  </a:tcPr>
                </a:tc>
                <a:tc>
                  <a:txBody>
                    <a:bodyPr/>
                    <a:lstStyle/>
                    <a:p>
                      <a:r>
                        <a:rPr sz="1400" b="1">
                          <a:solidFill>
                            <a:srgbClr val="FFD166"/>
                          </a:solidFill>
                        </a:rPr>
                        <a:t>Definition</a:t>
                      </a:r>
                    </a:p>
                  </a:txBody>
                  <a:tcPr marL="109728" marR="109728" anchor="ctr">
                    <a:solidFill>
                      <a:srgbClr val="1E1238">
                        <a:alpha val="85000"/>
                      </a:srgbClr>
                    </a:solidFill>
                  </a:tcPr>
                </a:tc>
                <a:tc>
                  <a:txBody>
                    <a:bodyPr/>
                    <a:lstStyle/>
                    <a:p>
                      <a:r>
                        <a:rPr sz="1400" b="1">
                          <a:solidFill>
                            <a:srgbClr val="FFD166"/>
                          </a:solidFill>
                        </a:rPr>
                        <a:t>Reported as</a:t>
                      </a:r>
                    </a:p>
                  </a:txBody>
                  <a:tcPr marL="109728" marR="109728" anchor="ctr">
                    <a:solidFill>
                      <a:srgbClr val="1E1238">
                        <a:alpha val="85000"/>
                      </a:srgbClr>
                    </a:solidFill>
                  </a:tcPr>
                </a:tc>
                <a:tc>
                  <a:txBody>
                    <a:bodyPr/>
                    <a:lstStyle/>
                    <a:p>
                      <a:r>
                        <a:rPr sz="1400" b="1">
                          <a:solidFill>
                            <a:srgbClr val="FFD166"/>
                          </a:solidFill>
                        </a:rPr>
                        <a:t>Greek</a:t>
                      </a:r>
                    </a:p>
                  </a:txBody>
                  <a:tcPr marL="109728" marR="109728" anchor="ctr">
                    <a:solidFill>
                      <a:srgbClr val="1E1238">
                        <a:alpha val="85000"/>
                      </a:srgbClr>
                    </a:solidFill>
                  </a:tcPr>
                </a:tc>
                <a:tc>
                  <a:txBody>
                    <a:bodyPr/>
                    <a:lstStyle/>
                    <a:p>
                      <a:r>
                        <a:rPr sz="1400" b="1">
                          <a:solidFill>
                            <a:srgbClr val="FFD166"/>
                          </a:solidFill>
                        </a:rPr>
                        <a:t>Definition</a:t>
                      </a:r>
                    </a:p>
                  </a:txBody>
                  <a:tcPr marL="109728" marR="109728" anchor="ctr">
                    <a:solidFill>
                      <a:srgbClr val="1E1238">
                        <a:alpha val="85000"/>
                      </a:srgbClr>
                    </a:solidFill>
                  </a:tcPr>
                </a:tc>
                <a:tc>
                  <a:txBody>
                    <a:bodyPr/>
                    <a:lstStyle/>
                    <a:p>
                      <a:r>
                        <a:rPr sz="1400" b="1">
                          <a:solidFill>
                            <a:srgbClr val="FFD166"/>
                          </a:solidFill>
                        </a:rPr>
                        <a:t>Reported as</a:t>
                      </a:r>
                    </a:p>
                  </a:txBody>
                  <a:tcPr marL="109728" marR="109728" anchor="ctr">
                    <a:solidFill>
                      <a:srgbClr val="1E1238">
                        <a:alpha val="85000"/>
                      </a:srgbClr>
                    </a:solidFill>
                  </a:tcPr>
                </a:tc>
                <a:extLst>
                  <a:ext uri="{0D108BD9-81ED-4DB2-BD59-A6C34878D82A}">
                    <a16:rowId xmlns:a16="http://schemas.microsoft.com/office/drawing/2014/main" val="10000"/>
                  </a:ext>
                </a:extLst>
              </a:tr>
              <a:tr h="457200">
                <a:tc>
                  <a:txBody>
                    <a:bodyPr/>
                    <a:lstStyle/>
                    <a:p>
                      <a:r>
                        <a:rPr sz="1400" b="1">
                          <a:solidFill>
                            <a:srgbClr val="FFFFFF"/>
                          </a:solidFill>
                        </a:rPr>
                        <a:t>Vanna</a:t>
                      </a:r>
                    </a:p>
                  </a:txBody>
                  <a:tcPr marL="109728" marR="109728" anchor="ctr">
                    <a:solidFill>
                      <a:srgbClr val="2A1B4D">
                        <a:alpha val="50000"/>
                      </a:srgbClr>
                    </a:solidFill>
                  </a:tcPr>
                </a:tc>
                <a:tc>
                  <a:txBody>
                    <a:bodyPr/>
                    <a:lstStyle/>
                    <a:p>
                      <a:r>
                        <a:rPr sz="1400" b="0">
                          <a:solidFill>
                            <a:srgbClr val="FFFFFF"/>
                          </a:solidFill>
                        </a:rPr>
                        <a:t>∂Δ/∂σ</a:t>
                      </a:r>
                    </a:p>
                  </a:txBody>
                  <a:tcPr marL="109728" marR="109728" anchor="ctr">
                    <a:solidFill>
                      <a:srgbClr val="2A1B4D">
                        <a:alpha val="50000"/>
                      </a:srgbClr>
                    </a:solidFill>
                  </a:tcPr>
                </a:tc>
                <a:tc>
                  <a:txBody>
                    <a:bodyPr/>
                    <a:lstStyle/>
                    <a:p>
                      <a:r>
                        <a:rPr sz="1400" b="0">
                          <a:solidFill>
                            <a:srgbClr val="FFFFFF"/>
                          </a:solidFill>
                        </a:rPr>
                        <a:t>per vol point</a:t>
                      </a:r>
                    </a:p>
                  </a:txBody>
                  <a:tcPr marL="109728" marR="109728" anchor="ctr">
                    <a:solidFill>
                      <a:srgbClr val="2A1B4D">
                        <a:alpha val="50000"/>
                      </a:srgbClr>
                    </a:solidFill>
                  </a:tcPr>
                </a:tc>
                <a:tc>
                  <a:txBody>
                    <a:bodyPr/>
                    <a:lstStyle/>
                    <a:p>
                      <a:r>
                        <a:rPr sz="1400" b="0">
                          <a:solidFill>
                            <a:srgbClr val="FFFFFF"/>
                          </a:solidFill>
                        </a:rPr>
                        <a:t>Speed</a:t>
                      </a:r>
                    </a:p>
                  </a:txBody>
                  <a:tcPr marL="109728" marR="109728" anchor="ctr">
                    <a:solidFill>
                      <a:srgbClr val="2A1B4D">
                        <a:alpha val="50000"/>
                      </a:srgbClr>
                    </a:solidFill>
                  </a:tcPr>
                </a:tc>
                <a:tc>
                  <a:txBody>
                    <a:bodyPr/>
                    <a:lstStyle/>
                    <a:p>
                      <a:r>
                        <a:rPr sz="1400" b="0">
                          <a:solidFill>
                            <a:srgbClr val="FFFFFF"/>
                          </a:solidFill>
                        </a:rPr>
                        <a:t>∂Γ/∂F</a:t>
                      </a:r>
                    </a:p>
                  </a:txBody>
                  <a:tcPr marL="109728" marR="109728" anchor="ctr">
                    <a:solidFill>
                      <a:srgbClr val="2A1B4D">
                        <a:alpha val="50000"/>
                      </a:srgbClr>
                    </a:solidFill>
                  </a:tcPr>
                </a:tc>
                <a:tc>
                  <a:txBody>
                    <a:bodyPr/>
                    <a:lstStyle/>
                    <a:p>
                      <a:r>
                        <a:rPr sz="1400" b="0">
                          <a:solidFill>
                            <a:srgbClr val="FFFFFF"/>
                          </a:solidFill>
                        </a:rPr>
                        <a:t>per ₹1 in F</a:t>
                      </a:r>
                    </a:p>
                  </a:txBody>
                  <a:tcPr marL="109728" marR="109728" anchor="ctr">
                    <a:solidFill>
                      <a:srgbClr val="2A1B4D">
                        <a:alpha val="50000"/>
                      </a:srgbClr>
                    </a:solidFill>
                  </a:tcPr>
                </a:tc>
                <a:extLst>
                  <a:ext uri="{0D108BD9-81ED-4DB2-BD59-A6C34878D82A}">
                    <a16:rowId xmlns:a16="http://schemas.microsoft.com/office/drawing/2014/main" val="10001"/>
                  </a:ext>
                </a:extLst>
              </a:tr>
              <a:tr h="457200">
                <a:tc>
                  <a:txBody>
                    <a:bodyPr/>
                    <a:lstStyle/>
                    <a:p>
                      <a:r>
                        <a:rPr sz="1400" b="1">
                          <a:solidFill>
                            <a:srgbClr val="FFFFFF"/>
                          </a:solidFill>
                        </a:rPr>
                        <a:t>Vomma</a:t>
                      </a:r>
                    </a:p>
                  </a:txBody>
                  <a:tcPr marL="109728" marR="109728" anchor="ctr">
                    <a:solidFill>
                      <a:srgbClr val="2A1B4D">
                        <a:alpha val="50000"/>
                      </a:srgbClr>
                    </a:solidFill>
                  </a:tcPr>
                </a:tc>
                <a:tc>
                  <a:txBody>
                    <a:bodyPr/>
                    <a:lstStyle/>
                    <a:p>
                      <a:r>
                        <a:rPr sz="1400" b="0">
                          <a:solidFill>
                            <a:srgbClr val="FFFFFF"/>
                          </a:solidFill>
                        </a:rPr>
                        <a:t>∂Vega/∂σ</a:t>
                      </a:r>
                    </a:p>
                  </a:txBody>
                  <a:tcPr marL="109728" marR="109728" anchor="ctr">
                    <a:solidFill>
                      <a:srgbClr val="2A1B4D">
                        <a:alpha val="50000"/>
                      </a:srgbClr>
                    </a:solidFill>
                  </a:tcPr>
                </a:tc>
                <a:tc>
                  <a:txBody>
                    <a:bodyPr/>
                    <a:lstStyle/>
                    <a:p>
                      <a:r>
                        <a:rPr sz="1400" b="0">
                          <a:solidFill>
                            <a:srgbClr val="FFFFFF"/>
                          </a:solidFill>
                        </a:rPr>
                        <a:t>₹ per vol pt²</a:t>
                      </a:r>
                    </a:p>
                  </a:txBody>
                  <a:tcPr marL="109728" marR="109728" anchor="ctr">
                    <a:solidFill>
                      <a:srgbClr val="2A1B4D">
                        <a:alpha val="50000"/>
                      </a:srgbClr>
                    </a:solidFill>
                  </a:tcPr>
                </a:tc>
                <a:tc>
                  <a:txBody>
                    <a:bodyPr/>
                    <a:lstStyle/>
                    <a:p>
                      <a:r>
                        <a:rPr sz="1400" b="0">
                          <a:solidFill>
                            <a:srgbClr val="FFFFFF"/>
                          </a:solidFill>
                        </a:rPr>
                        <a:t>Zomma</a:t>
                      </a:r>
                    </a:p>
                  </a:txBody>
                  <a:tcPr marL="109728" marR="109728" anchor="ctr">
                    <a:solidFill>
                      <a:srgbClr val="2A1B4D">
                        <a:alpha val="50000"/>
                      </a:srgbClr>
                    </a:solidFill>
                  </a:tcPr>
                </a:tc>
                <a:tc>
                  <a:txBody>
                    <a:bodyPr/>
                    <a:lstStyle/>
                    <a:p>
                      <a:r>
                        <a:rPr sz="1400" b="0">
                          <a:solidFill>
                            <a:srgbClr val="FFFFFF"/>
                          </a:solidFill>
                        </a:rPr>
                        <a:t>∂Γ/∂σ</a:t>
                      </a:r>
                    </a:p>
                  </a:txBody>
                  <a:tcPr marL="109728" marR="109728" anchor="ctr">
                    <a:solidFill>
                      <a:srgbClr val="2A1B4D">
                        <a:alpha val="50000"/>
                      </a:srgbClr>
                    </a:solidFill>
                  </a:tcPr>
                </a:tc>
                <a:tc>
                  <a:txBody>
                    <a:bodyPr/>
                    <a:lstStyle/>
                    <a:p>
                      <a:r>
                        <a:rPr sz="1400" b="0">
                          <a:solidFill>
                            <a:srgbClr val="FFFFFF"/>
                          </a:solidFill>
                        </a:rPr>
                        <a:t>per vol point</a:t>
                      </a:r>
                    </a:p>
                  </a:txBody>
                  <a:tcPr marL="109728" marR="109728" anchor="ctr">
                    <a:solidFill>
                      <a:srgbClr val="2A1B4D">
                        <a:alpha val="50000"/>
                      </a:srgbClr>
                    </a:solidFill>
                  </a:tcPr>
                </a:tc>
                <a:extLst>
                  <a:ext uri="{0D108BD9-81ED-4DB2-BD59-A6C34878D82A}">
                    <a16:rowId xmlns:a16="http://schemas.microsoft.com/office/drawing/2014/main" val="10002"/>
                  </a:ext>
                </a:extLst>
              </a:tr>
              <a:tr h="457200">
                <a:tc>
                  <a:txBody>
                    <a:bodyPr/>
                    <a:lstStyle/>
                    <a:p>
                      <a:r>
                        <a:rPr sz="1400" b="1">
                          <a:solidFill>
                            <a:srgbClr val="FFFFFF"/>
                          </a:solidFill>
                        </a:rPr>
                        <a:t>Charm</a:t>
                      </a:r>
                    </a:p>
                  </a:txBody>
                  <a:tcPr marL="109728" marR="109728" anchor="ctr">
                    <a:solidFill>
                      <a:srgbClr val="2A1B4D">
                        <a:alpha val="50000"/>
                      </a:srgbClr>
                    </a:solidFill>
                  </a:tcPr>
                </a:tc>
                <a:tc>
                  <a:txBody>
                    <a:bodyPr/>
                    <a:lstStyle/>
                    <a:p>
                      <a:r>
                        <a:rPr sz="1400" b="0">
                          <a:solidFill>
                            <a:srgbClr val="FFFFFF"/>
                          </a:solidFill>
                        </a:rPr>
                        <a:t>∂Δ/∂t = −∂Δ/∂τ</a:t>
                      </a:r>
                    </a:p>
                  </a:txBody>
                  <a:tcPr marL="109728" marR="109728" anchor="ctr">
                    <a:solidFill>
                      <a:srgbClr val="2A1B4D">
                        <a:alpha val="50000"/>
                      </a:srgbClr>
                    </a:solidFill>
                  </a:tcPr>
                </a:tc>
                <a:tc>
                  <a:txBody>
                    <a:bodyPr/>
                    <a:lstStyle/>
                    <a:p>
                      <a:r>
                        <a:rPr sz="1400" b="0">
                          <a:solidFill>
                            <a:srgbClr val="FFFFFF"/>
                          </a:solidFill>
                        </a:rPr>
                        <a:t>per calendar day</a:t>
                      </a:r>
                    </a:p>
                  </a:txBody>
                  <a:tcPr marL="109728" marR="109728" anchor="ctr">
                    <a:solidFill>
                      <a:srgbClr val="2A1B4D">
                        <a:alpha val="50000"/>
                      </a:srgbClr>
                    </a:solidFill>
                  </a:tcPr>
                </a:tc>
                <a:tc>
                  <a:txBody>
                    <a:bodyPr/>
                    <a:lstStyle/>
                    <a:p>
                      <a:r>
                        <a:rPr sz="1400" b="0">
                          <a:solidFill>
                            <a:srgbClr val="FFFFFF"/>
                          </a:solidFill>
                        </a:rPr>
                        <a:t>Color</a:t>
                      </a:r>
                    </a:p>
                  </a:txBody>
                  <a:tcPr marL="109728" marR="109728" anchor="ctr">
                    <a:solidFill>
                      <a:srgbClr val="2A1B4D">
                        <a:alpha val="50000"/>
                      </a:srgbClr>
                    </a:solidFill>
                  </a:tcPr>
                </a:tc>
                <a:tc>
                  <a:txBody>
                    <a:bodyPr/>
                    <a:lstStyle/>
                    <a:p>
                      <a:r>
                        <a:rPr sz="1400" b="0" dirty="0">
                          <a:solidFill>
                            <a:srgbClr val="FFFFFF"/>
                          </a:solidFill>
                        </a:rPr>
                        <a:t>∂Γ/∂t = −∂Γ/</a:t>
                      </a:r>
                      <a:r>
                        <a:rPr sz="1400" b="0" dirty="0" smtClean="0">
                          <a:solidFill>
                            <a:srgbClr val="FFFFFF"/>
                          </a:solidFill>
                        </a:rPr>
                        <a:t>∂τ</a:t>
                      </a:r>
                      <a:endParaRPr sz="1400" b="0" dirty="0">
                        <a:solidFill>
                          <a:srgbClr val="FFFFFF"/>
                        </a:solidFill>
                      </a:endParaRPr>
                    </a:p>
                  </a:txBody>
                  <a:tcPr marL="109728" marR="109728" anchor="ctr">
                    <a:solidFill>
                      <a:srgbClr val="2A1B4D">
                        <a:alpha val="50000"/>
                      </a:srgbClr>
                    </a:solidFill>
                  </a:tcPr>
                </a:tc>
                <a:tc>
                  <a:txBody>
                    <a:bodyPr/>
                    <a:lstStyle/>
                    <a:p>
                      <a:r>
                        <a:rPr sz="1400" b="0">
                          <a:solidFill>
                            <a:srgbClr val="FFFFFF"/>
                          </a:solidFill>
                        </a:rPr>
                        <a:t>per calendar day</a:t>
                      </a:r>
                    </a:p>
                  </a:txBody>
                  <a:tcPr marL="109728" marR="109728" anchor="ctr">
                    <a:solidFill>
                      <a:srgbClr val="2A1B4D">
                        <a:alpha val="50000"/>
                      </a:srgbClr>
                    </a:solidFill>
                  </a:tcPr>
                </a:tc>
                <a:extLst>
                  <a:ext uri="{0D108BD9-81ED-4DB2-BD59-A6C34878D82A}">
                    <a16:rowId xmlns:a16="http://schemas.microsoft.com/office/drawing/2014/main" val="10003"/>
                  </a:ext>
                </a:extLst>
              </a:tr>
              <a:tr h="457200">
                <a:tc>
                  <a:txBody>
                    <a:bodyPr/>
                    <a:lstStyle/>
                    <a:p>
                      <a:r>
                        <a:rPr sz="1400" b="1">
                          <a:solidFill>
                            <a:srgbClr val="FFFFFF"/>
                          </a:solidFill>
                        </a:rPr>
                        <a:t>Veta</a:t>
                      </a:r>
                    </a:p>
                  </a:txBody>
                  <a:tcPr marL="109728" marR="109728" anchor="ctr">
                    <a:solidFill>
                      <a:srgbClr val="2A1B4D">
                        <a:alpha val="50000"/>
                      </a:srgbClr>
                    </a:solidFill>
                  </a:tcPr>
                </a:tc>
                <a:tc>
                  <a:txBody>
                    <a:bodyPr/>
                    <a:lstStyle/>
                    <a:p>
                      <a:r>
                        <a:rPr sz="1400" b="0">
                          <a:solidFill>
                            <a:srgbClr val="FFFFFF"/>
                          </a:solidFill>
                        </a:rPr>
                        <a:t>∂Vega/∂t = −∂Vega/∂τ</a:t>
                      </a:r>
                    </a:p>
                  </a:txBody>
                  <a:tcPr marL="109728" marR="109728" anchor="ctr">
                    <a:solidFill>
                      <a:srgbClr val="2A1B4D">
                        <a:alpha val="50000"/>
                      </a:srgbClr>
                    </a:solidFill>
                  </a:tcPr>
                </a:tc>
                <a:tc>
                  <a:txBody>
                    <a:bodyPr/>
                    <a:lstStyle/>
                    <a:p>
                      <a:r>
                        <a:rPr sz="1400" b="0">
                          <a:solidFill>
                            <a:srgbClr val="FFFFFF"/>
                          </a:solidFill>
                        </a:rPr>
                        <a:t>₹/vol pt per day</a:t>
                      </a:r>
                    </a:p>
                  </a:txBody>
                  <a:tcPr marL="109728" marR="109728" anchor="ctr">
                    <a:solidFill>
                      <a:srgbClr val="2A1B4D">
                        <a:alpha val="50000"/>
                      </a:srgbClr>
                    </a:solidFill>
                  </a:tcPr>
                </a:tc>
                <a:tc>
                  <a:txBody>
                    <a:bodyPr/>
                    <a:lstStyle/>
                    <a:p>
                      <a:r>
                        <a:rPr sz="1400" b="0">
                          <a:solidFill>
                            <a:srgbClr val="FFFFFF"/>
                          </a:solidFill>
                        </a:rPr>
                        <a:t>Ultima</a:t>
                      </a:r>
                    </a:p>
                  </a:txBody>
                  <a:tcPr marL="109728" marR="109728" anchor="ctr">
                    <a:solidFill>
                      <a:srgbClr val="2A1B4D">
                        <a:alpha val="50000"/>
                      </a:srgbClr>
                    </a:solidFill>
                  </a:tcPr>
                </a:tc>
                <a:tc>
                  <a:txBody>
                    <a:bodyPr/>
                    <a:lstStyle/>
                    <a:p>
                      <a:r>
                        <a:rPr sz="1400" b="0">
                          <a:solidFill>
                            <a:srgbClr val="FFFFFF"/>
                          </a:solidFill>
                        </a:rPr>
                        <a:t>∂³V/∂σ³</a:t>
                      </a:r>
                    </a:p>
                  </a:txBody>
                  <a:tcPr marL="109728" marR="109728" anchor="ctr">
                    <a:solidFill>
                      <a:srgbClr val="2A1B4D">
                        <a:alpha val="50000"/>
                      </a:srgbClr>
                    </a:solidFill>
                  </a:tcPr>
                </a:tc>
                <a:tc>
                  <a:txBody>
                    <a:bodyPr/>
                    <a:lstStyle/>
                    <a:p>
                      <a:r>
                        <a:rPr sz="1400" b="0">
                          <a:solidFill>
                            <a:srgbClr val="FFFFFF"/>
                          </a:solidFill>
                        </a:rPr>
                        <a:t>per unit σ³</a:t>
                      </a:r>
                    </a:p>
                  </a:txBody>
                  <a:tcPr marL="109728" marR="109728" anchor="ctr">
                    <a:solidFill>
                      <a:srgbClr val="2A1B4D">
                        <a:alpha val="50000"/>
                      </a:srgbClr>
                    </a:solidFill>
                  </a:tcPr>
                </a:tc>
                <a:extLst>
                  <a:ext uri="{0D108BD9-81ED-4DB2-BD59-A6C34878D82A}">
                    <a16:rowId xmlns:a16="http://schemas.microsoft.com/office/drawing/2014/main" val="10004"/>
                  </a:ext>
                </a:extLst>
              </a:tr>
              <a:tr h="457200">
                <a:tc>
                  <a:txBody>
                    <a:bodyPr/>
                    <a:lstStyle/>
                    <a:p>
                      <a:r>
                        <a:rPr sz="1400" b="1">
                          <a:solidFill>
                            <a:srgbClr val="FFFFFF"/>
                          </a:solidFill>
                        </a:rPr>
                        <a:t>Dual Δ</a:t>
                      </a:r>
                    </a:p>
                  </a:txBody>
                  <a:tcPr marL="109728" marR="109728" anchor="ctr">
                    <a:solidFill>
                      <a:srgbClr val="2A1B4D">
                        <a:alpha val="50000"/>
                      </a:srgbClr>
                    </a:solidFill>
                  </a:tcPr>
                </a:tc>
                <a:tc>
                  <a:txBody>
                    <a:bodyPr/>
                    <a:lstStyle/>
                    <a:p>
                      <a:r>
                        <a:rPr sz="1400" b="0">
                          <a:solidFill>
                            <a:srgbClr val="FFFFFF"/>
                          </a:solidFill>
                        </a:rPr>
                        <a:t>∂V/∂K</a:t>
                      </a:r>
                    </a:p>
                  </a:txBody>
                  <a:tcPr marL="109728" marR="109728" anchor="ctr">
                    <a:solidFill>
                      <a:srgbClr val="2A1B4D">
                        <a:alpha val="50000"/>
                      </a:srgbClr>
                    </a:solidFill>
                  </a:tcPr>
                </a:tc>
                <a:tc>
                  <a:txBody>
                    <a:bodyPr/>
                    <a:lstStyle/>
                    <a:p>
                      <a:r>
                        <a:rPr sz="1400" b="0">
                          <a:solidFill>
                            <a:srgbClr val="FFFFFF"/>
                          </a:solidFill>
                        </a:rPr>
                        <a:t>per ₹1 in K</a:t>
                      </a:r>
                    </a:p>
                  </a:txBody>
                  <a:tcPr marL="109728" marR="109728" anchor="ctr">
                    <a:solidFill>
                      <a:srgbClr val="2A1B4D">
                        <a:alpha val="50000"/>
                      </a:srgbClr>
                    </a:solidFill>
                  </a:tcPr>
                </a:tc>
                <a:tc>
                  <a:txBody>
                    <a:bodyPr/>
                    <a:lstStyle/>
                    <a:p>
                      <a:r>
                        <a:rPr sz="1400" b="0">
                          <a:solidFill>
                            <a:srgbClr val="FFFFFF"/>
                          </a:solidFill>
                        </a:rPr>
                        <a:t>Dual Γ</a:t>
                      </a:r>
                    </a:p>
                  </a:txBody>
                  <a:tcPr marL="109728" marR="109728" anchor="ctr">
                    <a:solidFill>
                      <a:srgbClr val="2A1B4D">
                        <a:alpha val="50000"/>
                      </a:srgbClr>
                    </a:solidFill>
                  </a:tcPr>
                </a:tc>
                <a:tc>
                  <a:txBody>
                    <a:bodyPr/>
                    <a:lstStyle/>
                    <a:p>
                      <a:r>
                        <a:rPr sz="1400" b="0">
                          <a:solidFill>
                            <a:srgbClr val="FFFFFF"/>
                          </a:solidFill>
                        </a:rPr>
                        <a:t>∂²V/∂K²</a:t>
                      </a:r>
                    </a:p>
                  </a:txBody>
                  <a:tcPr marL="109728" marR="109728" anchor="ctr">
                    <a:solidFill>
                      <a:srgbClr val="2A1B4D">
                        <a:alpha val="50000"/>
                      </a:srgbClr>
                    </a:solidFill>
                  </a:tcPr>
                </a:tc>
                <a:tc>
                  <a:txBody>
                    <a:bodyPr/>
                    <a:lstStyle/>
                    <a:p>
                      <a:r>
                        <a:rPr sz="1400" b="0" dirty="0">
                          <a:solidFill>
                            <a:srgbClr val="FFFFFF"/>
                          </a:solidFill>
                        </a:rPr>
                        <a:t>per ₹1² in K</a:t>
                      </a:r>
                    </a:p>
                  </a:txBody>
                  <a:tcPr marL="109728" marR="109728" anchor="ctr">
                    <a:solidFill>
                      <a:srgbClr val="2A1B4D">
                        <a:alpha val="50000"/>
                      </a:srgbClr>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Black-76</a:t>
            </a:r>
          </a:p>
        </p:txBody>
      </p:sp>
      <p:sp>
        <p:nvSpPr>
          <p:cNvPr id="3" name="Rounded Rectangle 2"/>
          <p:cNvSpPr/>
          <p:nvPr/>
        </p:nvSpPr>
        <p:spPr>
          <a:xfrm>
            <a:off x="685800" y="1965960"/>
            <a:ext cx="5212080" cy="3275144"/>
          </a:xfrm>
          <a:prstGeom prst="roundRect">
            <a:avLst>
              <a:gd name="adj" fmla="val 6000"/>
            </a:avLst>
          </a:prstGeom>
          <a:solidFill>
            <a:srgbClr val="1E1238">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4" name="TextBox 3"/>
              <p:cNvSpPr txBox="1"/>
              <p:nvPr/>
            </p:nvSpPr>
            <p:spPr>
              <a:xfrm>
                <a:off x="1051560" y="2286000"/>
                <a:ext cx="4572000" cy="2955104"/>
              </a:xfrm>
              <a:prstGeom prst="rect">
                <a:avLst/>
              </a:prstGeom>
              <a:noFill/>
            </p:spPr>
            <p:txBody>
              <a:bodyPr wrap="square" lIns="0" tIns="18288" rIns="0" bIns="18288" anchor="t">
                <a:spAutoFit/>
              </a:bodyPr>
              <a:lstStyle/>
              <a:p>
                <a:pPr algn="l">
                  <a:spcAft>
                    <a:spcPts val="1800"/>
                  </a:spcAft>
                </a:pPr>
                <a14:m>
                  <m:oMathPara xmlns:m="http://schemas.openxmlformats.org/officeDocument/2006/math">
                    <m:oMathParaPr>
                      <m:jc m:val="centerGroup"/>
                    </m:oMathParaPr>
                    <m:oMath xmlns:m="http://schemas.openxmlformats.org/officeDocument/2006/math">
                      <m:r>
                        <a:rPr lang="en-IN" sz="2200" b="0" i="1" smtClean="0">
                          <a:solidFill>
                            <a:srgbClr val="FFFFFF"/>
                          </a:solidFill>
                          <a:latin typeface="Cambria Math" panose="02040503050406030204" pitchFamily="18" charset="0"/>
                        </a:rPr>
                        <m:t>𝐶</m:t>
                      </m:r>
                      <m:r>
                        <a:rPr lang="en-IN" sz="2200" b="0" i="1" smtClean="0">
                          <a:solidFill>
                            <a:srgbClr val="FFFFFF"/>
                          </a:solidFill>
                          <a:latin typeface="Cambria Math" panose="02040503050406030204" pitchFamily="18" charset="0"/>
                        </a:rPr>
                        <m:t>=</m:t>
                      </m:r>
                      <m:sSup>
                        <m:sSupPr>
                          <m:ctrlPr>
                            <a:rPr lang="en-IN" sz="2200" b="0" i="1" smtClean="0">
                              <a:solidFill>
                                <a:srgbClr val="FFFFFF"/>
                              </a:solidFill>
                              <a:latin typeface="Cambria Math" panose="02040503050406030204" pitchFamily="18" charset="0"/>
                            </a:rPr>
                          </m:ctrlPr>
                        </m:sSupPr>
                        <m:e>
                          <m:r>
                            <a:rPr lang="en-IN" sz="2200" b="0" i="1" smtClean="0">
                              <a:solidFill>
                                <a:srgbClr val="FFFFFF"/>
                              </a:solidFill>
                              <a:latin typeface="Cambria Math" panose="02040503050406030204" pitchFamily="18" charset="0"/>
                            </a:rPr>
                            <m:t>𝑒</m:t>
                          </m:r>
                        </m:e>
                        <m:sup>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𝑟𝑡</m:t>
                          </m:r>
                        </m:sup>
                      </m:sSup>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𝐹𝑁</m:t>
                      </m:r>
                      <m:d>
                        <m:dPr>
                          <m:ctrlPr>
                            <a:rPr lang="en-IN" sz="2200" b="0" i="1" smtClean="0">
                              <a:solidFill>
                                <a:srgbClr val="FFFFFF"/>
                              </a:solidFill>
                              <a:latin typeface="Cambria Math" panose="02040503050406030204" pitchFamily="18" charset="0"/>
                            </a:rPr>
                          </m:ctrlPr>
                        </m:dPr>
                        <m:e>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1</m:t>
                              </m:r>
                            </m:sub>
                          </m:sSub>
                        </m:e>
                      </m:d>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𝐾𝑁</m:t>
                      </m:r>
                      <m:d>
                        <m:dPr>
                          <m:ctrlPr>
                            <a:rPr lang="en-IN" sz="2200" b="0" i="1" smtClean="0">
                              <a:solidFill>
                                <a:srgbClr val="FFFFFF"/>
                              </a:solidFill>
                              <a:latin typeface="Cambria Math" panose="02040503050406030204" pitchFamily="18" charset="0"/>
                            </a:rPr>
                          </m:ctrlPr>
                        </m:dPr>
                        <m:e>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2</m:t>
                              </m:r>
                            </m:sub>
                          </m:sSub>
                        </m:e>
                      </m:d>
                    </m:oMath>
                  </m:oMathPara>
                </a14:m>
                <a:endParaRPr lang="en-IN" sz="2200" b="0" i="0" dirty="0">
                  <a:solidFill>
                    <a:srgbClr val="FFFFFF"/>
                  </a:solidFill>
                  <a:latin typeface="Cambria"/>
                </a:endParaRPr>
              </a:p>
              <a:p>
                <a:pPr algn="l">
                  <a:spcAft>
                    <a:spcPts val="1800"/>
                  </a:spcAft>
                </a:pPr>
                <a14:m>
                  <m:oMathPara xmlns:m="http://schemas.openxmlformats.org/officeDocument/2006/math">
                    <m:oMathParaPr>
                      <m:jc m:val="centerGroup"/>
                    </m:oMathParaPr>
                    <m:oMath xmlns:m="http://schemas.openxmlformats.org/officeDocument/2006/math">
                      <m:r>
                        <a:rPr lang="en-IN" sz="2200" b="0" i="1" smtClean="0">
                          <a:solidFill>
                            <a:srgbClr val="FFFFFF"/>
                          </a:solidFill>
                          <a:latin typeface="Cambria Math" panose="02040503050406030204" pitchFamily="18" charset="0"/>
                        </a:rPr>
                        <m:t>𝑃</m:t>
                      </m:r>
                      <m:r>
                        <a:rPr lang="en-IN" sz="2200" b="0" i="1" smtClean="0">
                          <a:solidFill>
                            <a:srgbClr val="FFFFFF"/>
                          </a:solidFill>
                          <a:latin typeface="Cambria Math" panose="02040503050406030204" pitchFamily="18" charset="0"/>
                        </a:rPr>
                        <m:t>=</m:t>
                      </m:r>
                      <m:sSup>
                        <m:sSupPr>
                          <m:ctrlPr>
                            <a:rPr lang="en-IN" sz="2200" b="0" i="1" smtClean="0">
                              <a:solidFill>
                                <a:srgbClr val="FFFFFF"/>
                              </a:solidFill>
                              <a:latin typeface="Cambria Math" panose="02040503050406030204" pitchFamily="18" charset="0"/>
                            </a:rPr>
                          </m:ctrlPr>
                        </m:sSupPr>
                        <m:e>
                          <m:r>
                            <a:rPr lang="en-IN" sz="2200" b="0" i="1" smtClean="0">
                              <a:solidFill>
                                <a:srgbClr val="FFFFFF"/>
                              </a:solidFill>
                              <a:latin typeface="Cambria Math" panose="02040503050406030204" pitchFamily="18" charset="0"/>
                            </a:rPr>
                            <m:t>𝑒</m:t>
                          </m:r>
                        </m:e>
                        <m:sup>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𝑟𝑡</m:t>
                          </m:r>
                        </m:sup>
                      </m:sSup>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𝐾𝑁</m:t>
                      </m:r>
                      <m:d>
                        <m:dPr>
                          <m:ctrlPr>
                            <a:rPr lang="en-IN" sz="2200" b="0" i="1" smtClean="0">
                              <a:solidFill>
                                <a:srgbClr val="FFFFFF"/>
                              </a:solidFill>
                              <a:latin typeface="Cambria Math" panose="02040503050406030204" pitchFamily="18" charset="0"/>
                            </a:rPr>
                          </m:ctrlPr>
                        </m:dPr>
                        <m:e>
                          <m:r>
                            <a:rPr lang="en-IN" sz="2200" b="0" i="1" smtClean="0">
                              <a:solidFill>
                                <a:srgbClr val="FFFFFF"/>
                              </a:solidFill>
                              <a:latin typeface="Cambria Math" panose="02040503050406030204" pitchFamily="18" charset="0"/>
                            </a:rPr>
                            <m:t>−</m:t>
                          </m:r>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2</m:t>
                              </m:r>
                            </m:sub>
                          </m:sSub>
                        </m:e>
                      </m:d>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𝐹𝑁</m:t>
                      </m:r>
                      <m:d>
                        <m:dPr>
                          <m:ctrlPr>
                            <a:rPr lang="en-IN" sz="2200" b="0" i="1" smtClean="0">
                              <a:solidFill>
                                <a:srgbClr val="FFFFFF"/>
                              </a:solidFill>
                              <a:latin typeface="Cambria Math" panose="02040503050406030204" pitchFamily="18" charset="0"/>
                            </a:rPr>
                          </m:ctrlPr>
                        </m:dPr>
                        <m:e>
                          <m:r>
                            <a:rPr lang="en-IN" sz="2200" b="0" i="1" smtClean="0">
                              <a:solidFill>
                                <a:srgbClr val="FFFFFF"/>
                              </a:solidFill>
                              <a:latin typeface="Cambria Math" panose="02040503050406030204" pitchFamily="18" charset="0"/>
                            </a:rPr>
                            <m:t>−</m:t>
                          </m:r>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1</m:t>
                              </m:r>
                            </m:sub>
                          </m:sSub>
                        </m:e>
                      </m:d>
                      <m:r>
                        <a:rPr lang="en-IN" sz="2200" b="0" i="1" smtClean="0">
                          <a:solidFill>
                            <a:srgbClr val="FFFFFF"/>
                          </a:solidFill>
                          <a:latin typeface="Cambria Math" panose="02040503050406030204" pitchFamily="18" charset="0"/>
                        </a:rPr>
                        <m:t>]</m:t>
                      </m:r>
                    </m:oMath>
                  </m:oMathPara>
                </a14:m>
                <a:endParaRPr lang="en-IN" sz="2200" b="0" i="0" dirty="0">
                  <a:solidFill>
                    <a:srgbClr val="FFFFFF"/>
                  </a:solidFill>
                  <a:latin typeface="Cambria"/>
                </a:endParaRPr>
              </a:p>
              <a:p>
                <a:pPr algn="l">
                  <a:spcAft>
                    <a:spcPts val="1800"/>
                  </a:spcAft>
                </a:pPr>
                <a14:m>
                  <m:oMathPara xmlns:m="http://schemas.openxmlformats.org/officeDocument/2006/math">
                    <m:oMathParaPr>
                      <m:jc m:val="centerGroup"/>
                    </m:oMathParaPr>
                    <m:oMath xmlns:m="http://schemas.openxmlformats.org/officeDocument/2006/math">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1</m:t>
                          </m:r>
                        </m:sub>
                      </m:sSub>
                      <m:r>
                        <a:rPr lang="en-IN" sz="2200" b="0" i="1" smtClean="0">
                          <a:solidFill>
                            <a:srgbClr val="FFFFFF"/>
                          </a:solidFill>
                          <a:latin typeface="Cambria Math" panose="02040503050406030204" pitchFamily="18" charset="0"/>
                        </a:rPr>
                        <m:t>=</m:t>
                      </m:r>
                      <m:f>
                        <m:fPr>
                          <m:ctrlPr>
                            <a:rPr lang="en-IN" sz="2200" b="0" i="1" smtClean="0">
                              <a:solidFill>
                                <a:srgbClr val="FFFFFF"/>
                              </a:solidFill>
                              <a:latin typeface="Cambria Math" panose="02040503050406030204" pitchFamily="18" charset="0"/>
                            </a:rPr>
                          </m:ctrlPr>
                        </m:fPr>
                        <m:num>
                          <m:func>
                            <m:funcPr>
                              <m:ctrlPr>
                                <a:rPr lang="en-IN" sz="2200" b="0" i="1" smtClean="0">
                                  <a:solidFill>
                                    <a:srgbClr val="FFFFFF"/>
                                  </a:solidFill>
                                  <a:latin typeface="Cambria Math" panose="02040503050406030204" pitchFamily="18" charset="0"/>
                                </a:rPr>
                              </m:ctrlPr>
                            </m:funcPr>
                            <m:fName>
                              <m:r>
                                <m:rPr>
                                  <m:sty m:val="p"/>
                                </m:rPr>
                                <a:rPr lang="en-IN" sz="2200" b="0" i="0" smtClean="0">
                                  <a:solidFill>
                                    <a:srgbClr val="FFFFFF"/>
                                  </a:solidFill>
                                  <a:latin typeface="Cambria Math" panose="02040503050406030204" pitchFamily="18" charset="0"/>
                                </a:rPr>
                                <m:t>ln</m:t>
                              </m:r>
                            </m:fName>
                            <m:e>
                              <m:d>
                                <m:dPr>
                                  <m:ctrlPr>
                                    <a:rPr lang="en-IN" sz="2200" b="0" i="1" smtClean="0">
                                      <a:solidFill>
                                        <a:srgbClr val="FFFFFF"/>
                                      </a:solidFill>
                                      <a:latin typeface="Cambria Math" panose="02040503050406030204" pitchFamily="18" charset="0"/>
                                    </a:rPr>
                                  </m:ctrlPr>
                                </m:dPr>
                                <m:e>
                                  <m:f>
                                    <m:fPr>
                                      <m:ctrlPr>
                                        <a:rPr lang="en-IN" sz="2200" b="0" i="1" smtClean="0">
                                          <a:solidFill>
                                            <a:srgbClr val="FFFFFF"/>
                                          </a:solidFill>
                                          <a:latin typeface="Cambria Math" panose="02040503050406030204" pitchFamily="18" charset="0"/>
                                        </a:rPr>
                                      </m:ctrlPr>
                                    </m:fPr>
                                    <m:num>
                                      <m:r>
                                        <a:rPr lang="en-IN" sz="2200" b="0" i="1" smtClean="0">
                                          <a:solidFill>
                                            <a:srgbClr val="FFFFFF"/>
                                          </a:solidFill>
                                          <a:latin typeface="Cambria Math" panose="02040503050406030204" pitchFamily="18" charset="0"/>
                                        </a:rPr>
                                        <m:t>𝐹</m:t>
                                      </m:r>
                                    </m:num>
                                    <m:den>
                                      <m:r>
                                        <a:rPr lang="en-IN" sz="2200" b="0" i="1" smtClean="0">
                                          <a:solidFill>
                                            <a:srgbClr val="FFFFFF"/>
                                          </a:solidFill>
                                          <a:latin typeface="Cambria Math" panose="02040503050406030204" pitchFamily="18" charset="0"/>
                                        </a:rPr>
                                        <m:t>𝐾</m:t>
                                      </m:r>
                                    </m:den>
                                  </m:f>
                                </m:e>
                              </m:d>
                              <m:r>
                                <a:rPr lang="en-IN" sz="2200" b="0" i="1" smtClean="0">
                                  <a:solidFill>
                                    <a:srgbClr val="FFFFFF"/>
                                  </a:solidFill>
                                  <a:latin typeface="Cambria Math" panose="02040503050406030204" pitchFamily="18" charset="0"/>
                                </a:rPr>
                                <m:t>+</m:t>
                              </m:r>
                              <m:f>
                                <m:fPr>
                                  <m:ctrlPr>
                                    <a:rPr lang="en-IN" sz="2200" b="0" i="1" smtClean="0">
                                      <a:solidFill>
                                        <a:srgbClr val="FFFFFF"/>
                                      </a:solidFill>
                                      <a:latin typeface="Cambria Math" panose="02040503050406030204" pitchFamily="18" charset="0"/>
                                    </a:rPr>
                                  </m:ctrlPr>
                                </m:fPr>
                                <m:num>
                                  <m:sSup>
                                    <m:sSupPr>
                                      <m:ctrlPr>
                                        <a:rPr lang="en-IN" sz="2200" b="0" i="1" smtClean="0">
                                          <a:solidFill>
                                            <a:srgbClr val="FFFFFF"/>
                                          </a:solidFill>
                                          <a:latin typeface="Cambria Math" panose="02040503050406030204" pitchFamily="18" charset="0"/>
                                        </a:rPr>
                                      </m:ctrlPr>
                                    </m:sSupPr>
                                    <m:e>
                                      <m:r>
                                        <a:rPr lang="en-IN" sz="2200" b="0" i="1" smtClean="0">
                                          <a:solidFill>
                                            <a:srgbClr val="FFFFFF"/>
                                          </a:solidFill>
                                          <a:latin typeface="Cambria Math" panose="02040503050406030204" pitchFamily="18" charset="0"/>
                                        </a:rPr>
                                        <m:t>𝜎</m:t>
                                      </m:r>
                                    </m:e>
                                    <m:sup>
                                      <m:r>
                                        <a:rPr lang="en-IN" sz="2200" b="0" i="1" smtClean="0">
                                          <a:solidFill>
                                            <a:srgbClr val="FFFFFF"/>
                                          </a:solidFill>
                                          <a:latin typeface="Cambria Math" panose="02040503050406030204" pitchFamily="18" charset="0"/>
                                        </a:rPr>
                                        <m:t>2</m:t>
                                      </m:r>
                                    </m:sup>
                                  </m:sSup>
                                  <m:r>
                                    <a:rPr lang="en-IN" sz="2200" b="0" i="1" smtClean="0">
                                      <a:solidFill>
                                        <a:srgbClr val="FFFFFF"/>
                                      </a:solidFill>
                                      <a:latin typeface="Cambria Math" panose="02040503050406030204" pitchFamily="18" charset="0"/>
                                    </a:rPr>
                                    <m:t>𝑇</m:t>
                                  </m:r>
                                </m:num>
                                <m:den>
                                  <m:r>
                                    <a:rPr lang="en-IN" sz="2200" b="0" i="1" smtClean="0">
                                      <a:solidFill>
                                        <a:srgbClr val="FFFFFF"/>
                                      </a:solidFill>
                                      <a:latin typeface="Cambria Math" panose="02040503050406030204" pitchFamily="18" charset="0"/>
                                    </a:rPr>
                                    <m:t>2</m:t>
                                  </m:r>
                                </m:den>
                              </m:f>
                            </m:e>
                          </m:func>
                        </m:num>
                        <m:den>
                          <m:r>
                            <a:rPr lang="en-IN" sz="2200" b="0" i="1" smtClean="0">
                              <a:solidFill>
                                <a:srgbClr val="FFFFFF"/>
                              </a:solidFill>
                              <a:latin typeface="Cambria Math" panose="02040503050406030204" pitchFamily="18" charset="0"/>
                            </a:rPr>
                            <m:t>𝜎</m:t>
                          </m:r>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𝑇</m:t>
                          </m:r>
                        </m:den>
                      </m:f>
                    </m:oMath>
                  </m:oMathPara>
                </a14:m>
                <a:endParaRPr lang="en-IN" sz="2200" b="0" i="0" dirty="0" smtClean="0">
                  <a:solidFill>
                    <a:srgbClr val="FFFFFF"/>
                  </a:solidFill>
                  <a:latin typeface="Cambria"/>
                </a:endParaRPr>
              </a:p>
              <a:p>
                <a:pPr algn="l">
                  <a:spcAft>
                    <a:spcPts val="1800"/>
                  </a:spcAft>
                </a:pPr>
                <a14:m>
                  <m:oMathPara xmlns:m="http://schemas.openxmlformats.org/officeDocument/2006/math">
                    <m:oMathParaPr>
                      <m:jc m:val="centerGroup"/>
                    </m:oMathParaPr>
                    <m:oMath xmlns:m="http://schemas.openxmlformats.org/officeDocument/2006/math">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2</m:t>
                          </m:r>
                        </m:sub>
                      </m:sSub>
                      <m:r>
                        <a:rPr lang="en-IN" sz="2200" b="0" i="1" smtClean="0">
                          <a:solidFill>
                            <a:srgbClr val="FFFFFF"/>
                          </a:solidFill>
                          <a:latin typeface="Cambria Math" panose="02040503050406030204" pitchFamily="18" charset="0"/>
                        </a:rPr>
                        <m:t>=</m:t>
                      </m:r>
                      <m:sSub>
                        <m:sSubPr>
                          <m:ctrlPr>
                            <a:rPr lang="en-IN" sz="2200" b="0" i="1" smtClean="0">
                              <a:solidFill>
                                <a:srgbClr val="FFFFFF"/>
                              </a:solidFill>
                              <a:latin typeface="Cambria Math" panose="02040503050406030204" pitchFamily="18" charset="0"/>
                            </a:rPr>
                          </m:ctrlPr>
                        </m:sSubPr>
                        <m:e>
                          <m:r>
                            <a:rPr lang="en-IN" sz="2200" b="0" i="1" smtClean="0">
                              <a:solidFill>
                                <a:srgbClr val="FFFFFF"/>
                              </a:solidFill>
                              <a:latin typeface="Cambria Math" panose="02040503050406030204" pitchFamily="18" charset="0"/>
                            </a:rPr>
                            <m:t>𝑑</m:t>
                          </m:r>
                        </m:e>
                        <m:sub>
                          <m:r>
                            <a:rPr lang="en-IN" sz="2200" b="0" i="1" smtClean="0">
                              <a:solidFill>
                                <a:srgbClr val="FFFFFF"/>
                              </a:solidFill>
                              <a:latin typeface="Cambria Math" panose="02040503050406030204" pitchFamily="18" charset="0"/>
                            </a:rPr>
                            <m:t>1</m:t>
                          </m:r>
                        </m:sub>
                      </m:sSub>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𝜎</m:t>
                      </m:r>
                      <m:r>
                        <a:rPr lang="en-IN" sz="2200" b="0" i="1" smtClean="0">
                          <a:solidFill>
                            <a:srgbClr val="FFFFFF"/>
                          </a:solidFill>
                          <a:latin typeface="Cambria Math" panose="02040503050406030204" pitchFamily="18" charset="0"/>
                        </a:rPr>
                        <m:t>√</m:t>
                      </m:r>
                      <m:r>
                        <a:rPr lang="en-IN" sz="2200" b="0" i="1" smtClean="0">
                          <a:solidFill>
                            <a:srgbClr val="FFFFFF"/>
                          </a:solidFill>
                          <a:latin typeface="Cambria Math" panose="02040503050406030204" pitchFamily="18" charset="0"/>
                        </a:rPr>
                        <m:t>𝑇</m:t>
                      </m:r>
                    </m:oMath>
                  </m:oMathPara>
                </a14:m>
                <a:endParaRPr lang="en-IN" sz="2200" b="0" i="0" dirty="0">
                  <a:solidFill>
                    <a:srgbClr val="FFFFFF"/>
                  </a:solidFill>
                  <a:latin typeface="Cambria"/>
                </a:endParaRPr>
              </a:p>
            </p:txBody>
          </p:sp>
        </mc:Choice>
        <mc:Fallback>
          <p:sp>
            <p:nvSpPr>
              <p:cNvPr id="4" name="TextBox 3"/>
              <p:cNvSpPr txBox="1">
                <a:spLocks noRot="1" noChangeAspect="1" noMove="1" noResize="1" noEditPoints="1" noAdjustHandles="1" noChangeArrowheads="1" noChangeShapeType="1" noTextEdit="1"/>
              </p:cNvSpPr>
              <p:nvPr/>
            </p:nvSpPr>
            <p:spPr>
              <a:xfrm>
                <a:off x="1051560" y="2286000"/>
                <a:ext cx="4572000" cy="2955104"/>
              </a:xfrm>
              <a:prstGeom prst="rect">
                <a:avLst/>
              </a:prstGeom>
              <a:blipFill>
                <a:blip r:embed="rId3"/>
                <a:stretch>
                  <a:fillRect/>
                </a:stretch>
              </a:blipFill>
            </p:spPr>
            <p:txBody>
              <a:bodyPr/>
              <a:lstStyle/>
              <a:p>
                <a:r>
                  <a:rPr lang="en-IN">
                    <a:noFill/>
                  </a:rPr>
                  <a:t> </a:t>
                </a:r>
              </a:p>
            </p:txBody>
          </p:sp>
        </mc:Fallback>
      </mc:AlternateContent>
      <p:sp>
        <p:nvSpPr>
          <p:cNvPr id="5" name="TextBox 4"/>
          <p:cNvSpPr txBox="1"/>
          <p:nvPr/>
        </p:nvSpPr>
        <p:spPr>
          <a:xfrm>
            <a:off x="6432083" y="2401503"/>
            <a:ext cx="5120640" cy="457200"/>
          </a:xfrm>
          <a:prstGeom prst="rect">
            <a:avLst/>
          </a:prstGeom>
          <a:noFill/>
        </p:spPr>
        <p:txBody>
          <a:bodyPr wrap="square" lIns="0" tIns="18288" rIns="0" bIns="18288" anchor="t">
            <a:spAutoFit/>
          </a:bodyPr>
          <a:lstStyle/>
          <a:p>
            <a:pPr algn="l">
              <a:spcAft>
                <a:spcPts val="800"/>
              </a:spcAft>
            </a:pPr>
            <a:r>
              <a:rPr sz="2200" b="1" i="0" dirty="0">
                <a:solidFill>
                  <a:srgbClr val="FFD166"/>
                </a:solidFill>
              </a:rPr>
              <a:t>Assumptions</a:t>
            </a:r>
          </a:p>
        </p:txBody>
      </p:sp>
      <p:sp>
        <p:nvSpPr>
          <p:cNvPr id="6" name="TextBox 5"/>
          <p:cNvSpPr txBox="1"/>
          <p:nvPr/>
        </p:nvSpPr>
        <p:spPr>
          <a:xfrm>
            <a:off x="6355080" y="3093625"/>
            <a:ext cx="5120640" cy="1339854"/>
          </a:xfrm>
          <a:prstGeom prst="rect">
            <a:avLst/>
          </a:prstGeom>
          <a:noFill/>
        </p:spPr>
        <p:txBody>
          <a:bodyPr wrap="square" lIns="0" tIns="18288" rIns="0" bIns="18288" anchor="t">
            <a:spAutoFit/>
          </a:bodyPr>
          <a:lstStyle/>
          <a:p>
            <a:pPr algn="l">
              <a:spcAft>
                <a:spcPts val="1000"/>
              </a:spcAft>
            </a:pPr>
            <a:r>
              <a:rPr sz="1700" b="1" i="0" dirty="0">
                <a:solidFill>
                  <a:srgbClr val="FFD166"/>
                </a:solidFill>
              </a:rPr>
              <a:t>•  </a:t>
            </a:r>
            <a:r>
              <a:rPr sz="1700" b="0" i="0" dirty="0">
                <a:solidFill>
                  <a:srgbClr val="FFFFFF"/>
                </a:solidFill>
              </a:rPr>
              <a:t>European exercise, which matches NIFTY options</a:t>
            </a:r>
          </a:p>
          <a:p>
            <a:pPr algn="l">
              <a:spcAft>
                <a:spcPts val="1000"/>
              </a:spcAft>
            </a:pPr>
            <a:r>
              <a:rPr sz="1700" b="1" i="0" dirty="0">
                <a:solidFill>
                  <a:srgbClr val="FFD166"/>
                </a:solidFill>
              </a:rPr>
              <a:t>•  </a:t>
            </a:r>
            <a:r>
              <a:rPr sz="1700" b="0" i="0" dirty="0">
                <a:solidFill>
                  <a:srgbClr val="FFFFFF"/>
                </a:solidFill>
              </a:rPr>
              <a:t>Lognormal forward with one constant σ per contract</a:t>
            </a:r>
          </a:p>
          <a:p>
            <a:pPr algn="l">
              <a:spcAft>
                <a:spcPts val="1000"/>
              </a:spcAft>
            </a:pPr>
            <a:r>
              <a:rPr sz="1700" b="1" i="0" dirty="0">
                <a:solidFill>
                  <a:srgbClr val="FFD166"/>
                </a:solidFill>
              </a:rPr>
              <a:t>•  </a:t>
            </a:r>
            <a:r>
              <a:rPr sz="1700" b="0" i="0" dirty="0">
                <a:solidFill>
                  <a:srgbClr val="FFFFFF"/>
                </a:solidFill>
              </a:rPr>
              <a:t>F </a:t>
            </a:r>
            <a:r>
              <a:rPr lang="en-IN" sz="1700" b="0" i="0" dirty="0" smtClean="0">
                <a:solidFill>
                  <a:srgbClr val="FFFFFF"/>
                </a:solidFill>
              </a:rPr>
              <a:t>and rate </a:t>
            </a:r>
            <a:r>
              <a:rPr sz="1700" b="0" i="0" dirty="0" smtClean="0">
                <a:solidFill>
                  <a:srgbClr val="FFFFFF"/>
                </a:solidFill>
              </a:rPr>
              <a:t>per </a:t>
            </a:r>
            <a:r>
              <a:rPr sz="1700" b="0" i="0" dirty="0">
                <a:solidFill>
                  <a:srgbClr val="FFFFFF"/>
                </a:solidFill>
              </a:rPr>
              <a:t>expiry from put-call </a:t>
            </a:r>
            <a:r>
              <a:rPr sz="1700" b="0" i="0" dirty="0" smtClean="0">
                <a:solidFill>
                  <a:srgbClr val="FFFFFF"/>
                </a:solidFill>
              </a:rPr>
              <a:t>parity</a:t>
            </a:r>
            <a:endParaRPr sz="1700" b="0" i="0" dirty="0">
              <a:solidFill>
                <a:srgbClr val="FFFFFF"/>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45445"/>
            <a:ext cx="10353761" cy="728312"/>
          </a:xfrm>
        </p:spPr>
        <p:txBody>
          <a:bodyPr/>
          <a:lstStyle/>
          <a:p>
            <a:r>
              <a:rPr dirty="0" smtClean="0"/>
              <a:t>Greeks</a:t>
            </a:r>
            <a:r>
              <a:rPr lang="en-IN" dirty="0" smtClean="0"/>
              <a:t> (using Black 76)</a:t>
            </a:r>
            <a:endParaRPr dirty="0"/>
          </a:p>
        </p:txBody>
      </p:sp>
      <mc:AlternateContent xmlns:mc="http://schemas.openxmlformats.org/markup-compatibility/2006">
        <mc:Choice xmlns:a14="http://schemas.microsoft.com/office/drawing/2010/main" Requires="a14">
          <p:sp>
            <p:nvSpPr>
              <p:cNvPr id="4" name="TextBox 3"/>
              <p:cNvSpPr txBox="1"/>
              <p:nvPr/>
            </p:nvSpPr>
            <p:spPr>
              <a:xfrm>
                <a:off x="2322093" y="809594"/>
                <a:ext cx="8535203" cy="5258747"/>
              </a:xfrm>
              <a:prstGeom prst="rect">
                <a:avLst/>
              </a:prstGeom>
              <a:noFill/>
            </p:spPr>
            <p:txBody>
              <a:bodyPr wrap="square" lIns="0" tIns="18288" rIns="0" bIns="18288" anchor="t">
                <a:spAutoFit/>
              </a:bodyPr>
              <a:lstStyle/>
              <a:p>
                <a:pPr algn="l">
                  <a:spcAft>
                    <a:spcPts val="1600"/>
                  </a:spcAft>
                </a:pPr>
                <a14:m>
                  <m:oMathPara xmlns:m="http://schemas.openxmlformats.org/officeDocument/2006/math">
                    <m:oMathParaPr>
                      <m:jc m:val="centerGroup"/>
                    </m:oMathParaPr>
                    <m:oMath xmlns:m="http://schemas.openxmlformats.org/officeDocument/2006/math">
                      <m:sSub>
                        <m:sSubPr>
                          <m:ctrlPr>
                            <a:rPr lang="en-IN" sz="2100" b="0" i="1" smtClean="0">
                              <a:solidFill>
                                <a:srgbClr val="FFFFFF"/>
                              </a:solidFill>
                              <a:latin typeface="Cambria Math" panose="02040503050406030204" pitchFamily="18" charset="0"/>
                            </a:rPr>
                          </m:ctrlPr>
                        </m:sSubPr>
                        <m:e>
                          <m:r>
                            <m:rPr>
                              <m:sty m:val="p"/>
                            </m:rPr>
                            <a:rPr lang="en-IN" sz="2100" b="0" i="0" smtClean="0">
                              <a:solidFill>
                                <a:srgbClr val="FFFFFF"/>
                              </a:solidFill>
                              <a:latin typeface="Cambria Math" panose="02040503050406030204" pitchFamily="18" charset="0"/>
                            </a:rPr>
                            <m:t>Δ</m:t>
                          </m:r>
                        </m:e>
                        <m:sub>
                          <m:r>
                            <a:rPr lang="en-IN" sz="2100" b="0" i="1" smtClean="0">
                              <a:solidFill>
                                <a:srgbClr val="FFFFFF"/>
                              </a:solidFill>
                              <a:latin typeface="Cambria Math" panose="02040503050406030204" pitchFamily="18" charset="0"/>
                            </a:rPr>
                            <m:t>𝑐</m:t>
                          </m:r>
                        </m:sub>
                      </m:sSub>
                      <m:r>
                        <a:rPr lang="en-IN" sz="2100" b="0" i="1" smtClean="0">
                          <a:solidFill>
                            <a:srgbClr val="FFFFFF"/>
                          </a:solidFill>
                          <a:latin typeface="Cambria Math" panose="02040503050406030204" pitchFamily="18" charset="0"/>
                        </a:rPr>
                        <m:t>=</m:t>
                      </m:r>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𝑒</m:t>
                          </m:r>
                        </m:e>
                        <m:sup>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𝑟𝑡</m:t>
                          </m:r>
                        </m:sup>
                      </m:sSup>
                      <m:r>
                        <a:rPr lang="en-IN" sz="2100" b="0" i="1" smtClean="0">
                          <a:solidFill>
                            <a:srgbClr val="FFFFFF"/>
                          </a:solidFill>
                          <a:latin typeface="Cambria Math" panose="02040503050406030204" pitchFamily="18" charset="0"/>
                        </a:rPr>
                        <m:t>𝑁</m:t>
                      </m:r>
                      <m:d>
                        <m:dPr>
                          <m:ctrlPr>
                            <a:rPr lang="en-IN" sz="2100" b="0" i="1" smtClean="0">
                              <a:solidFill>
                                <a:srgbClr val="FFFFFF"/>
                              </a:solidFill>
                              <a:latin typeface="Cambria Math" panose="02040503050406030204" pitchFamily="18" charset="0"/>
                            </a:rPr>
                          </m:ctrlPr>
                        </m:d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e>
                      </m:d>
                      <m:r>
                        <a:rPr lang="en-IN" sz="2100" b="0" i="1" smtClean="0">
                          <a:solidFill>
                            <a:srgbClr val="FFFFFF"/>
                          </a:solidFill>
                          <a:latin typeface="Cambria Math" panose="02040503050406030204" pitchFamily="18" charset="0"/>
                        </a:rPr>
                        <m:t>, </m:t>
                      </m:r>
                      <m:sSub>
                        <m:sSubPr>
                          <m:ctrlPr>
                            <a:rPr lang="en-IN" sz="2100" b="0" i="1" smtClean="0">
                              <a:solidFill>
                                <a:srgbClr val="FFFFFF"/>
                              </a:solidFill>
                              <a:latin typeface="Cambria Math" panose="02040503050406030204" pitchFamily="18" charset="0"/>
                            </a:rPr>
                          </m:ctrlPr>
                        </m:sSubPr>
                        <m:e>
                          <m:r>
                            <m:rPr>
                              <m:sty m:val="p"/>
                            </m:rPr>
                            <a:rPr lang="en-IN" sz="2100" b="0" i="0" smtClean="0">
                              <a:solidFill>
                                <a:srgbClr val="FFFFFF"/>
                              </a:solidFill>
                              <a:latin typeface="Cambria Math" panose="02040503050406030204" pitchFamily="18" charset="0"/>
                            </a:rPr>
                            <m:t>Δ</m:t>
                          </m:r>
                        </m:e>
                        <m:sub>
                          <m:r>
                            <a:rPr lang="en-IN" sz="2100" b="0" i="1" smtClean="0">
                              <a:solidFill>
                                <a:srgbClr val="FFFFFF"/>
                              </a:solidFill>
                              <a:latin typeface="Cambria Math" panose="02040503050406030204" pitchFamily="18" charset="0"/>
                            </a:rPr>
                            <m:t>𝑝</m:t>
                          </m:r>
                        </m:sub>
                      </m:sSub>
                      <m:r>
                        <a:rPr lang="en-IN" sz="2100" b="0" i="1" smtClean="0">
                          <a:solidFill>
                            <a:srgbClr val="FFFFFF"/>
                          </a:solidFill>
                          <a:latin typeface="Cambria Math" panose="02040503050406030204" pitchFamily="18" charset="0"/>
                        </a:rPr>
                        <m:t>=−</m:t>
                      </m:r>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𝑒</m:t>
                          </m:r>
                        </m:e>
                        <m:sup>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𝑟𝑡</m:t>
                          </m:r>
                        </m:sup>
                      </m:sSup>
                      <m:r>
                        <a:rPr lang="en-IN" sz="2100" b="0" i="1" smtClean="0">
                          <a:solidFill>
                            <a:srgbClr val="FFFFFF"/>
                          </a:solidFill>
                          <a:latin typeface="Cambria Math" panose="02040503050406030204" pitchFamily="18" charset="0"/>
                        </a:rPr>
                        <m:t>𝑁</m:t>
                      </m:r>
                      <m:d>
                        <m:dPr>
                          <m:ctrlPr>
                            <a:rPr lang="en-IN" sz="2100" b="0" i="1" smtClean="0">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m:t>
                          </m:r>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e>
                      </m:d>
                    </m:oMath>
                  </m:oMathPara>
                </a14:m>
                <a:endParaRPr lang="en-IN" sz="2100" b="0" i="0" dirty="0" smtClean="0">
                  <a:solidFill>
                    <a:srgbClr val="FFFFFF"/>
                  </a:solidFill>
                  <a:latin typeface="Cambria"/>
                </a:endParaRPr>
              </a:p>
              <a:p>
                <a:pPr algn="l">
                  <a:spcAft>
                    <a:spcPts val="1600"/>
                  </a:spcAft>
                </a:pPr>
                <a14:m>
                  <m:oMathPara xmlns:m="http://schemas.openxmlformats.org/officeDocument/2006/math">
                    <m:oMathParaPr>
                      <m:jc m:val="centerGroup"/>
                    </m:oMathParaPr>
                    <m:oMath xmlns:m="http://schemas.openxmlformats.org/officeDocument/2006/math">
                      <m:r>
                        <m:rPr>
                          <m:sty m:val="p"/>
                        </m:rPr>
                        <a:rPr lang="en-IN" sz="2100" b="0" i="0" smtClean="0">
                          <a:solidFill>
                            <a:srgbClr val="FFFFFF"/>
                          </a:solidFill>
                          <a:latin typeface="Cambria Math" panose="02040503050406030204" pitchFamily="18" charset="0"/>
                        </a:rPr>
                        <m:t>Γ</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𝑒</m:t>
                              </m:r>
                            </m:e>
                            <m:sup>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𝑟𝑇</m:t>
                              </m:r>
                            </m:sup>
                          </m:sSup>
                          <m:r>
                            <a:rPr lang="en-IN" sz="2100" b="0" i="1" smtClean="0">
                              <a:solidFill>
                                <a:srgbClr val="FFFFFF"/>
                              </a:solidFill>
                              <a:latin typeface="Cambria Math" panose="02040503050406030204" pitchFamily="18" charset="0"/>
                            </a:rPr>
                            <m:t>𝜙</m:t>
                          </m:r>
                          <m:d>
                            <m:dPr>
                              <m:ctrlPr>
                                <a:rPr lang="en-IN" sz="2100" b="0" i="1" smtClean="0">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𝑑</m:t>
                              </m:r>
                              <m:r>
                                <a:rPr lang="en-IN" sz="2100" b="0" i="1" smtClean="0">
                                  <a:solidFill>
                                    <a:srgbClr val="FFFFFF"/>
                                  </a:solidFill>
                                  <a:latin typeface="Cambria Math" panose="02040503050406030204" pitchFamily="18" charset="0"/>
                                </a:rPr>
                                <m:t>1</m:t>
                              </m:r>
                            </m:e>
                          </m:d>
                        </m:num>
                        <m:den>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𝐹</m:t>
                              </m:r>
                            </m:e>
                            <m:sub>
                              <m:r>
                                <a:rPr lang="en-IN" sz="2100" b="0" i="1" smtClean="0">
                                  <a:solidFill>
                                    <a:srgbClr val="FFFFFF"/>
                                  </a:solidFill>
                                  <a:latin typeface="Cambria Math" panose="02040503050406030204" pitchFamily="18" charset="0"/>
                                </a:rPr>
                                <m:t>0</m:t>
                              </m:r>
                            </m:sub>
                          </m:sSub>
                          <m:r>
                            <a:rPr lang="en-IN" sz="2100" b="0" i="1" smtClean="0">
                              <a:solidFill>
                                <a:srgbClr val="FFFFFF"/>
                              </a:solidFill>
                              <a:latin typeface="Cambria Math" panose="02040503050406030204" pitchFamily="18" charset="0"/>
                            </a:rPr>
                            <m:t>𝜎</m:t>
                          </m:r>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𝑇</m:t>
                          </m:r>
                        </m:den>
                      </m:f>
                    </m:oMath>
                  </m:oMathPara>
                </a14:m>
                <a:endParaRPr lang="en-IN" sz="2100" b="0" i="0" dirty="0" smtClean="0">
                  <a:solidFill>
                    <a:srgbClr val="FFFFFF"/>
                  </a:solidFill>
                  <a:latin typeface="Cambria"/>
                </a:endParaRPr>
              </a:p>
              <a:p>
                <a:pPr algn="l">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𝜈</m:t>
                      </m:r>
                      <m:r>
                        <a:rPr lang="en-IN" sz="2100" b="0" i="1" smtClean="0">
                          <a:solidFill>
                            <a:srgbClr val="FFFFFF"/>
                          </a:solidFill>
                          <a:latin typeface="Cambria Math" panose="02040503050406030204" pitchFamily="18" charset="0"/>
                        </a:rPr>
                        <m:t>=</m:t>
                      </m:r>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𝑒</m:t>
                          </m:r>
                        </m:e>
                        <m:sup>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𝑟𝑡</m:t>
                          </m:r>
                        </m:sup>
                      </m:sSup>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𝐹</m:t>
                          </m:r>
                        </m:e>
                        <m:sub>
                          <m:r>
                            <a:rPr lang="en-IN" sz="2100" b="0" i="1" smtClean="0">
                              <a:solidFill>
                                <a:srgbClr val="FFFFFF"/>
                              </a:solidFill>
                              <a:latin typeface="Cambria Math" panose="02040503050406030204" pitchFamily="18" charset="0"/>
                            </a:rPr>
                            <m:t>0</m:t>
                          </m:r>
                        </m:sub>
                      </m:sSub>
                      <m:r>
                        <a:rPr lang="en-IN" sz="2100" b="0" i="1" smtClean="0">
                          <a:solidFill>
                            <a:srgbClr val="FFFFFF"/>
                          </a:solidFill>
                          <a:latin typeface="Cambria Math" panose="02040503050406030204" pitchFamily="18" charset="0"/>
                        </a:rPr>
                        <m:t>𝜙</m:t>
                      </m:r>
                      <m:d>
                        <m:dPr>
                          <m:ctrlPr>
                            <a:rPr lang="en-IN" sz="2100" b="0" i="1" smtClean="0">
                              <a:solidFill>
                                <a:srgbClr val="FFFFFF"/>
                              </a:solidFill>
                              <a:latin typeface="Cambria Math" panose="02040503050406030204" pitchFamily="18" charset="0"/>
                            </a:rPr>
                          </m:ctrlPr>
                        </m:d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e>
                      </m:d>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𝑇</m:t>
                      </m:r>
                    </m:oMath>
                  </m:oMathPara>
                </a14:m>
                <a:endParaRPr lang="en-IN" sz="2100" b="0" i="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sSub>
                        <m:sSubPr>
                          <m:ctrlPr>
                            <a:rPr lang="en-IN" sz="2100" b="0" i="1" smtClean="0">
                              <a:solidFill>
                                <a:srgbClr val="FFFFFF"/>
                              </a:solidFill>
                              <a:latin typeface="Cambria Math" panose="02040503050406030204" pitchFamily="18" charset="0"/>
                            </a:rPr>
                          </m:ctrlPr>
                        </m:sSubPr>
                        <m:e>
                          <m:r>
                            <m:rPr>
                              <m:sty m:val="p"/>
                            </m:rPr>
                            <a:rPr lang="en-IN" sz="2100" b="0" i="0" smtClean="0">
                              <a:solidFill>
                                <a:srgbClr val="FFFFFF"/>
                              </a:solidFill>
                              <a:latin typeface="Cambria Math" panose="02040503050406030204" pitchFamily="18" charset="0"/>
                            </a:rPr>
                            <m:t>Θ</m:t>
                          </m:r>
                        </m:e>
                        <m:sub>
                          <m:r>
                            <a:rPr lang="en-IN" sz="2100" b="0" i="1" smtClean="0">
                              <a:solidFill>
                                <a:srgbClr val="FFFFFF"/>
                              </a:solidFill>
                              <a:latin typeface="Cambria Math" panose="02040503050406030204" pitchFamily="18" charset="0"/>
                            </a:rPr>
                            <m:t>𝑐</m:t>
                          </m:r>
                        </m:sub>
                      </m:sSub>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𝑟𝐶</m:t>
                      </m:r>
                      <m:r>
                        <a:rPr lang="en-IN" sz="2100" b="0" i="1" smtClean="0">
                          <a:solidFill>
                            <a:srgbClr val="FFFFFF"/>
                          </a:solidFill>
                          <a:latin typeface="Cambria Math" panose="02040503050406030204" pitchFamily="18" charset="0"/>
                        </a:rPr>
                        <m:t> −</m:t>
                      </m:r>
                      <m:f>
                        <m:fPr>
                          <m:ctrlPr>
                            <a:rPr lang="en-IN" sz="2100" b="0" i="1" smtClean="0">
                              <a:solidFill>
                                <a:srgbClr val="FFFFFF"/>
                              </a:solidFill>
                              <a:latin typeface="Cambria Math" panose="02040503050406030204" pitchFamily="18" charset="0"/>
                            </a:rPr>
                          </m:ctrlPr>
                        </m:fPr>
                        <m:num>
                          <m:sSup>
                            <m:sSupPr>
                              <m:ctrlPr>
                                <a:rPr lang="en-IN" sz="2100" i="1">
                                  <a:solidFill>
                                    <a:srgbClr val="FFFFFF"/>
                                  </a:solidFill>
                                  <a:latin typeface="Cambria Math" panose="02040503050406030204" pitchFamily="18" charset="0"/>
                                </a:rPr>
                              </m:ctrlPr>
                            </m:sSupPr>
                            <m:e>
                              <m:r>
                                <a:rPr lang="en-IN" sz="2100" i="1">
                                  <a:solidFill>
                                    <a:srgbClr val="FFFFFF"/>
                                  </a:solidFill>
                                  <a:latin typeface="Cambria Math" panose="02040503050406030204" pitchFamily="18" charset="0"/>
                                </a:rPr>
                                <m:t>𝑒</m:t>
                              </m:r>
                            </m:e>
                            <m:sup>
                              <m:r>
                                <a:rPr lang="en-IN" sz="2100" i="1">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𝑟𝑡</m:t>
                              </m:r>
                            </m:sup>
                          </m:sSup>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𝐹</m:t>
                              </m:r>
                            </m:e>
                            <m:sub>
                              <m:r>
                                <a:rPr lang="en-IN" sz="2100" i="1">
                                  <a:solidFill>
                                    <a:srgbClr val="FFFFFF"/>
                                  </a:solidFill>
                                  <a:latin typeface="Cambria Math" panose="02040503050406030204" pitchFamily="18" charset="0"/>
                                </a:rPr>
                                <m:t>0</m:t>
                              </m:r>
                            </m:sub>
                          </m:sSub>
                          <m:r>
                            <a:rPr lang="en-IN" sz="2100" i="1">
                              <a:solidFill>
                                <a:srgbClr val="FFFFFF"/>
                              </a:solidFill>
                              <a:latin typeface="Cambria Math" panose="02040503050406030204" pitchFamily="18" charset="0"/>
                            </a:rPr>
                            <m:t>𝜙</m:t>
                          </m:r>
                          <m:d>
                            <m:dPr>
                              <m:ctrlPr>
                                <a:rPr lang="en-IN" sz="2100" i="1">
                                  <a:solidFill>
                                    <a:srgbClr val="FFFFFF"/>
                                  </a:solidFill>
                                  <a:latin typeface="Cambria Math" panose="02040503050406030204" pitchFamily="18" charset="0"/>
                                </a:rPr>
                              </m:ctrlPr>
                            </m:dPr>
                            <m:e>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1</m:t>
                                  </m:r>
                                </m:sub>
                              </m:sSub>
                            </m:e>
                          </m:d>
                          <m:r>
                            <a:rPr lang="en-IN" sz="2100" b="0" i="1" smtClean="0">
                              <a:solidFill>
                                <a:srgbClr val="FFFFFF"/>
                              </a:solidFill>
                              <a:latin typeface="Cambria Math" panose="02040503050406030204" pitchFamily="18" charset="0"/>
                            </a:rPr>
                            <m:t>𝜎</m:t>
                          </m:r>
                        </m:num>
                        <m:den>
                          <m:r>
                            <a:rPr lang="en-IN" sz="2100" b="0" i="1" smtClean="0">
                              <a:solidFill>
                                <a:srgbClr val="FFFFFF"/>
                              </a:solidFill>
                              <a:latin typeface="Cambria Math" panose="02040503050406030204" pitchFamily="18" charset="0"/>
                            </a:rPr>
                            <m:t>2</m:t>
                          </m:r>
                          <m:rad>
                            <m:radPr>
                              <m:degHide m:val="on"/>
                              <m:ctrlPr>
                                <a:rPr lang="en-IN" sz="2100" i="1">
                                  <a:solidFill>
                                    <a:srgbClr val="FFFFFF"/>
                                  </a:solidFill>
                                  <a:latin typeface="Cambria Math" panose="02040503050406030204" pitchFamily="18" charset="0"/>
                                </a:rPr>
                              </m:ctrlPr>
                            </m:radPr>
                            <m:deg/>
                            <m:e>
                              <m:r>
                                <a:rPr lang="en-IN" sz="2100" i="1">
                                  <a:solidFill>
                                    <a:srgbClr val="FFFFFF"/>
                                  </a:solidFill>
                                  <a:latin typeface="Cambria Math" panose="02040503050406030204" pitchFamily="18" charset="0"/>
                                </a:rPr>
                                <m:t>𝑇</m:t>
                              </m:r>
                            </m:e>
                          </m:rad>
                        </m:den>
                      </m:f>
                      <m:r>
                        <a:rPr lang="en-IN" sz="2100" b="0" i="1" smtClean="0">
                          <a:solidFill>
                            <a:srgbClr val="FFFFFF"/>
                          </a:solidFill>
                          <a:latin typeface="Cambria Math" panose="02040503050406030204" pitchFamily="18" charset="0"/>
                        </a:rPr>
                        <m:t>,</m:t>
                      </m:r>
                      <m:sSub>
                        <m:sSubPr>
                          <m:ctrlPr>
                            <a:rPr lang="en-IN" sz="2100" i="1">
                              <a:solidFill>
                                <a:srgbClr val="FFFFFF"/>
                              </a:solidFill>
                              <a:latin typeface="Cambria Math" panose="02040503050406030204" pitchFamily="18" charset="0"/>
                            </a:rPr>
                          </m:ctrlPr>
                        </m:sSubPr>
                        <m:e>
                          <m:r>
                            <m:rPr>
                              <m:sty m:val="p"/>
                            </m:rPr>
                            <a:rPr lang="en-IN" sz="2100">
                              <a:solidFill>
                                <a:srgbClr val="FFFFFF"/>
                              </a:solidFill>
                              <a:latin typeface="Cambria Math" panose="02040503050406030204" pitchFamily="18" charset="0"/>
                            </a:rPr>
                            <m:t>Θ</m:t>
                          </m:r>
                        </m:e>
                        <m:sub>
                          <m:r>
                            <a:rPr lang="en-IN" sz="2100" b="0" i="1" smtClean="0">
                              <a:solidFill>
                                <a:srgbClr val="FFFFFF"/>
                              </a:solidFill>
                              <a:latin typeface="Cambria Math" panose="02040503050406030204" pitchFamily="18" charset="0"/>
                            </a:rPr>
                            <m:t>𝑝</m:t>
                          </m:r>
                        </m:sub>
                      </m:sSub>
                      <m:r>
                        <a:rPr lang="en-IN" sz="2100" i="1">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𝑟</m:t>
                      </m:r>
                      <m:r>
                        <a:rPr lang="en-IN" sz="2100" b="0" i="1" smtClean="0">
                          <a:solidFill>
                            <a:srgbClr val="FFFFFF"/>
                          </a:solidFill>
                          <a:latin typeface="Cambria Math" panose="02040503050406030204" pitchFamily="18" charset="0"/>
                        </a:rPr>
                        <m:t>𝑃</m:t>
                      </m:r>
                      <m:r>
                        <a:rPr lang="en-IN" sz="2100" i="1">
                          <a:solidFill>
                            <a:srgbClr val="FFFFFF"/>
                          </a:solidFill>
                          <a:latin typeface="Cambria Math" panose="02040503050406030204" pitchFamily="18" charset="0"/>
                        </a:rPr>
                        <m:t> −</m:t>
                      </m:r>
                      <m:f>
                        <m:fPr>
                          <m:ctrlPr>
                            <a:rPr lang="en-IN" sz="2100" i="1">
                              <a:solidFill>
                                <a:srgbClr val="FFFFFF"/>
                              </a:solidFill>
                              <a:latin typeface="Cambria Math" panose="02040503050406030204" pitchFamily="18" charset="0"/>
                            </a:rPr>
                          </m:ctrlPr>
                        </m:fPr>
                        <m:num>
                          <m:sSup>
                            <m:sSupPr>
                              <m:ctrlPr>
                                <a:rPr lang="en-IN" sz="2100" i="1">
                                  <a:solidFill>
                                    <a:srgbClr val="FFFFFF"/>
                                  </a:solidFill>
                                  <a:latin typeface="Cambria Math" panose="02040503050406030204" pitchFamily="18" charset="0"/>
                                </a:rPr>
                              </m:ctrlPr>
                            </m:sSupPr>
                            <m:e>
                              <m:r>
                                <a:rPr lang="en-IN" sz="2100" i="1">
                                  <a:solidFill>
                                    <a:srgbClr val="FFFFFF"/>
                                  </a:solidFill>
                                  <a:latin typeface="Cambria Math" panose="02040503050406030204" pitchFamily="18" charset="0"/>
                                </a:rPr>
                                <m:t>𝑒</m:t>
                              </m:r>
                            </m:e>
                            <m:sup>
                              <m:r>
                                <a:rPr lang="en-IN" sz="2100" i="1">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𝑟𝑡</m:t>
                              </m:r>
                            </m:sup>
                          </m:sSup>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𝐹</m:t>
                              </m:r>
                            </m:e>
                            <m:sub>
                              <m:r>
                                <a:rPr lang="en-IN" sz="2100" i="1">
                                  <a:solidFill>
                                    <a:srgbClr val="FFFFFF"/>
                                  </a:solidFill>
                                  <a:latin typeface="Cambria Math" panose="02040503050406030204" pitchFamily="18" charset="0"/>
                                </a:rPr>
                                <m:t>0</m:t>
                              </m:r>
                            </m:sub>
                          </m:sSub>
                          <m:r>
                            <a:rPr lang="en-IN" sz="2100" i="1">
                              <a:solidFill>
                                <a:srgbClr val="FFFFFF"/>
                              </a:solidFill>
                              <a:latin typeface="Cambria Math" panose="02040503050406030204" pitchFamily="18" charset="0"/>
                            </a:rPr>
                            <m:t>𝜙</m:t>
                          </m:r>
                          <m:d>
                            <m:dPr>
                              <m:ctrlPr>
                                <a:rPr lang="en-IN" sz="2100" i="1">
                                  <a:solidFill>
                                    <a:srgbClr val="FFFFFF"/>
                                  </a:solidFill>
                                  <a:latin typeface="Cambria Math" panose="02040503050406030204" pitchFamily="18" charset="0"/>
                                </a:rPr>
                              </m:ctrlPr>
                            </m:dPr>
                            <m:e>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1</m:t>
                                  </m:r>
                                </m:sub>
                              </m:sSub>
                            </m:e>
                          </m:d>
                          <m:r>
                            <a:rPr lang="en-IN" sz="2100" i="1">
                              <a:solidFill>
                                <a:srgbClr val="FFFFFF"/>
                              </a:solidFill>
                              <a:latin typeface="Cambria Math" panose="02040503050406030204" pitchFamily="18" charset="0"/>
                            </a:rPr>
                            <m:t>𝜎</m:t>
                          </m:r>
                        </m:num>
                        <m:den>
                          <m:r>
                            <a:rPr lang="en-IN" sz="2100" i="1">
                              <a:solidFill>
                                <a:srgbClr val="FFFFFF"/>
                              </a:solidFill>
                              <a:latin typeface="Cambria Math" panose="02040503050406030204" pitchFamily="18" charset="0"/>
                            </a:rPr>
                            <m:t>2</m:t>
                          </m:r>
                          <m:rad>
                            <m:radPr>
                              <m:degHide m:val="on"/>
                              <m:ctrlPr>
                                <a:rPr lang="en-IN" sz="2100" i="1">
                                  <a:solidFill>
                                    <a:srgbClr val="FFFFFF"/>
                                  </a:solidFill>
                                  <a:latin typeface="Cambria Math" panose="02040503050406030204" pitchFamily="18" charset="0"/>
                                </a:rPr>
                              </m:ctrlPr>
                            </m:radPr>
                            <m:deg/>
                            <m:e>
                              <m:r>
                                <a:rPr lang="en-IN" sz="2100" i="1">
                                  <a:solidFill>
                                    <a:srgbClr val="FFFFFF"/>
                                  </a:solidFill>
                                  <a:latin typeface="Cambria Math" panose="02040503050406030204" pitchFamily="18" charset="0"/>
                                </a:rPr>
                                <m:t>𝑇</m:t>
                              </m:r>
                            </m:e>
                          </m:rad>
                        </m:den>
                      </m:f>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𝜌</m:t>
                          </m:r>
                        </m:e>
                        <m:sub>
                          <m:r>
                            <a:rPr lang="en-IN" sz="2100" b="0" i="1" smtClean="0">
                              <a:solidFill>
                                <a:srgbClr val="FFFFFF"/>
                              </a:solidFill>
                              <a:latin typeface="Cambria Math" panose="02040503050406030204" pitchFamily="18" charset="0"/>
                            </a:rPr>
                            <m:t>𝑐</m:t>
                          </m:r>
                        </m:sub>
                      </m:sSub>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𝑇𝐶</m:t>
                      </m:r>
                      <m:r>
                        <a:rPr lang="en-IN" sz="2100" b="0" i="1" smtClean="0">
                          <a:solidFill>
                            <a:srgbClr val="FFFFFF"/>
                          </a:solidFill>
                          <a:latin typeface="Cambria Math" panose="02040503050406030204" pitchFamily="18" charset="0"/>
                        </a:rPr>
                        <m:t>, </m:t>
                      </m:r>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𝜌</m:t>
                          </m:r>
                        </m:e>
                        <m:sub>
                          <m:r>
                            <a:rPr lang="en-IN" sz="2100" b="0" i="1" smtClean="0">
                              <a:solidFill>
                                <a:srgbClr val="FFFFFF"/>
                              </a:solidFill>
                              <a:latin typeface="Cambria Math" panose="02040503050406030204" pitchFamily="18" charset="0"/>
                            </a:rPr>
                            <m:t>𝑝</m:t>
                          </m:r>
                        </m:sub>
                      </m:sSub>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𝑇𝑃</m:t>
                      </m:r>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𝑉𝑎𝑛𝑛𝑎</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r>
                            <a:rPr lang="en-IN" sz="2100" b="0" i="1" smtClean="0">
                              <a:solidFill>
                                <a:srgbClr val="FFFFFF"/>
                              </a:solidFill>
                              <a:latin typeface="Cambria Math" panose="02040503050406030204" pitchFamily="18" charset="0"/>
                            </a:rPr>
                            <m:t>𝜕𝜈</m:t>
                          </m:r>
                        </m:num>
                        <m:den>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𝐹</m:t>
                          </m:r>
                        </m:den>
                      </m:f>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r>
                            <a:rPr lang="en-IN" sz="2100" b="0" i="1" smtClean="0">
                              <a:solidFill>
                                <a:srgbClr val="FFFFFF"/>
                              </a:solidFill>
                              <a:latin typeface="Cambria Math" panose="02040503050406030204" pitchFamily="18" charset="0"/>
                            </a:rPr>
                            <m:t>𝐷</m:t>
                          </m:r>
                          <m:r>
                            <a:rPr lang="en-IN" sz="2100" b="0" i="1" smtClean="0">
                              <a:solidFill>
                                <a:srgbClr val="FFFFFF"/>
                              </a:solidFill>
                              <a:latin typeface="Cambria Math" panose="02040503050406030204" pitchFamily="18" charset="0"/>
                            </a:rPr>
                            <m:t>𝜙</m:t>
                          </m:r>
                          <m:d>
                            <m:dPr>
                              <m:ctrlPr>
                                <a:rPr lang="en-IN" sz="2100" b="0" i="1" smtClean="0">
                                  <a:solidFill>
                                    <a:srgbClr val="FFFFFF"/>
                                  </a:solidFill>
                                  <a:latin typeface="Cambria Math" panose="02040503050406030204" pitchFamily="18" charset="0"/>
                                </a:rPr>
                              </m:ctrlPr>
                            </m:d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e>
                          </m:d>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2</m:t>
                              </m:r>
                            </m:sub>
                          </m:sSub>
                        </m:num>
                        <m:den>
                          <m:r>
                            <a:rPr lang="en-IN" sz="2100" b="0" i="1" smtClean="0">
                              <a:solidFill>
                                <a:srgbClr val="FFFFFF"/>
                              </a:solidFill>
                              <a:latin typeface="Cambria Math" panose="02040503050406030204" pitchFamily="18" charset="0"/>
                            </a:rPr>
                            <m:t>𝜎</m:t>
                          </m:r>
                        </m:den>
                      </m:f>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𝑐h𝑎𝑟𝑚</m:t>
                      </m:r>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𝑑𝑒𝑙𝑡𝑎</m:t>
                      </m:r>
                      <m:r>
                        <a:rPr lang="en-IN" sz="2100" b="0" i="1" smtClean="0">
                          <a:solidFill>
                            <a:srgbClr val="FFFFFF"/>
                          </a:solidFill>
                          <a:latin typeface="Cambria Math" panose="02040503050406030204" pitchFamily="18" charset="0"/>
                        </a:rPr>
                        <m:t> </m:t>
                      </m:r>
                      <m:r>
                        <a:rPr lang="en-IN" sz="2100" b="0" i="1" smtClean="0">
                          <a:solidFill>
                            <a:srgbClr val="FFFFFF"/>
                          </a:solidFill>
                          <a:latin typeface="Cambria Math" panose="02040503050406030204" pitchFamily="18" charset="0"/>
                        </a:rPr>
                        <m:t>𝑑𝑒𝑐𝑎𝑦</m:t>
                      </m:r>
                      <m:r>
                        <a:rPr lang="en-IN" sz="2100" b="0" i="1" smtClean="0">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a:rPr lang="en-IN" sz="2100" i="1">
                              <a:solidFill>
                                <a:srgbClr val="FFFFFF"/>
                              </a:solidFill>
                              <a:latin typeface="Cambria Math" panose="02040503050406030204" pitchFamily="18" charset="0"/>
                            </a:rPr>
                            <m:t>𝜕</m:t>
                          </m:r>
                          <m:r>
                            <m:rPr>
                              <m:sty m:val="p"/>
                            </m:rPr>
                            <a:rPr lang="en-IN" sz="2100" b="0" i="0" smtClean="0">
                              <a:solidFill>
                                <a:srgbClr val="FFFFFF"/>
                              </a:solidFill>
                              <a:latin typeface="Cambria Math" panose="02040503050406030204" pitchFamily="18" charset="0"/>
                            </a:rPr>
                            <m:t>Δ</m:t>
                          </m:r>
                        </m:num>
                        <m:den>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𝑡</m:t>
                          </m:r>
                        </m:den>
                      </m:f>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𝑟</m:t>
                      </m:r>
                      <m:r>
                        <m:rPr>
                          <m:sty m:val="p"/>
                        </m:rPr>
                        <a:rPr lang="en-IN" sz="2100" b="0" i="0" smtClean="0">
                          <a:solidFill>
                            <a:srgbClr val="FFFFFF"/>
                          </a:solidFill>
                          <a:latin typeface="Cambria Math" panose="02040503050406030204" pitchFamily="18" charset="0"/>
                        </a:rPr>
                        <m:t>Δ</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r>
                            <a:rPr lang="en-IN" sz="2100" b="0" i="1" smtClean="0">
                              <a:solidFill>
                                <a:srgbClr val="FFFFFF"/>
                              </a:solidFill>
                              <a:latin typeface="Cambria Math" panose="02040503050406030204" pitchFamily="18" charset="0"/>
                            </a:rPr>
                            <m:t>𝐷</m:t>
                          </m:r>
                          <m:r>
                            <a:rPr lang="en-IN" sz="2100" b="0" i="1" smtClean="0">
                              <a:solidFill>
                                <a:srgbClr val="FFFFFF"/>
                              </a:solidFill>
                              <a:latin typeface="Cambria Math" panose="02040503050406030204" pitchFamily="18" charset="0"/>
                            </a:rPr>
                            <m:t>𝜙</m:t>
                          </m:r>
                          <m:d>
                            <m:dPr>
                              <m:ctrlPr>
                                <a:rPr lang="en-IN" sz="2100" b="0" i="1" smtClean="0">
                                  <a:solidFill>
                                    <a:srgbClr val="FFFFFF"/>
                                  </a:solidFill>
                                  <a:latin typeface="Cambria Math" panose="02040503050406030204" pitchFamily="18" charset="0"/>
                                </a:rPr>
                              </m:ctrlPr>
                            </m:d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e>
                          </m:d>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2</m:t>
                              </m:r>
                            </m:sub>
                          </m:sSub>
                        </m:num>
                        <m:den>
                          <m:r>
                            <a:rPr lang="en-IN" sz="2100" b="0" i="1" smtClean="0">
                              <a:solidFill>
                                <a:srgbClr val="FFFFFF"/>
                              </a:solidFill>
                              <a:latin typeface="Cambria Math" panose="02040503050406030204" pitchFamily="18" charset="0"/>
                            </a:rPr>
                            <m:t>2</m:t>
                          </m:r>
                          <m:r>
                            <a:rPr lang="en-IN" sz="2100" b="0" i="1" smtClean="0">
                              <a:solidFill>
                                <a:srgbClr val="FFFFFF"/>
                              </a:solidFill>
                              <a:latin typeface="Cambria Math" panose="02040503050406030204" pitchFamily="18" charset="0"/>
                            </a:rPr>
                            <m:t>𝑇</m:t>
                          </m:r>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𝑇</m:t>
                          </m:r>
                        </m:den>
                      </m:f>
                    </m:oMath>
                  </m:oMathPara>
                </a14:m>
                <a:endParaRPr lang="en-IN" sz="2100" dirty="0">
                  <a:solidFill>
                    <a:srgbClr val="FFFFFF"/>
                  </a:solidFill>
                  <a:latin typeface="Cambria"/>
                </a:endParaRPr>
              </a:p>
            </p:txBody>
          </p:sp>
        </mc:Choice>
        <mc:Fallback>
          <p:sp>
            <p:nvSpPr>
              <p:cNvPr id="4" name="TextBox 3"/>
              <p:cNvSpPr txBox="1">
                <a:spLocks noRot="1" noChangeAspect="1" noMove="1" noResize="1" noEditPoints="1" noAdjustHandles="1" noChangeArrowheads="1" noChangeShapeType="1" noTextEdit="1"/>
              </p:cNvSpPr>
              <p:nvPr/>
            </p:nvSpPr>
            <p:spPr>
              <a:xfrm>
                <a:off x="2322093" y="809594"/>
                <a:ext cx="8535203" cy="5258747"/>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591522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45445"/>
            <a:ext cx="10353761" cy="728312"/>
          </a:xfrm>
        </p:spPr>
        <p:txBody>
          <a:bodyPr/>
          <a:lstStyle/>
          <a:p>
            <a:r>
              <a:rPr dirty="0" smtClean="0"/>
              <a:t>Greeks</a:t>
            </a:r>
            <a:r>
              <a:rPr lang="en-IN" dirty="0" smtClean="0"/>
              <a:t> (using Black 76)</a:t>
            </a:r>
            <a:endParaRPr dirty="0"/>
          </a:p>
        </p:txBody>
      </p:sp>
      <mc:AlternateContent xmlns:mc="http://schemas.openxmlformats.org/markup-compatibility/2006">
        <mc:Choice xmlns:a14="http://schemas.microsoft.com/office/drawing/2010/main" Requires="a14">
          <p:sp>
            <p:nvSpPr>
              <p:cNvPr id="4" name="TextBox 3"/>
              <p:cNvSpPr txBox="1"/>
              <p:nvPr/>
            </p:nvSpPr>
            <p:spPr>
              <a:xfrm>
                <a:off x="2322093" y="1069477"/>
                <a:ext cx="8535203" cy="4827347"/>
              </a:xfrm>
              <a:prstGeom prst="rect">
                <a:avLst/>
              </a:prstGeom>
              <a:noFill/>
            </p:spPr>
            <p:txBody>
              <a:bodyPr wrap="square" lIns="0" tIns="18288" rIns="0" bIns="18288" anchor="t">
                <a:spAutoFit/>
              </a:bodyPr>
              <a:lstStyle/>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𝑉𝑜𝑚𝑚𝑎</m:t>
                      </m:r>
                      <m:d>
                        <m:dPr>
                          <m:ctrlPr>
                            <a:rPr lang="en-IN" sz="2100" b="0" i="1" smtClean="0">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𝑉𝑜𝑙𝑔𝑎</m:t>
                          </m:r>
                        </m:e>
                      </m:d>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𝑉𝑒𝑔𝑎</m:t>
                      </m:r>
                      <m:r>
                        <a:rPr lang="en-IN" sz="2100" b="0" i="1" smtClean="0">
                          <a:solidFill>
                            <a:srgbClr val="FFFFFF"/>
                          </a:solidFill>
                          <a:latin typeface="Cambria Math" panose="02040503050406030204" pitchFamily="18" charset="0"/>
                        </a:rPr>
                        <m:t> </m:t>
                      </m:r>
                      <m:r>
                        <a:rPr lang="en-IN" sz="2100" b="0" i="1" smtClean="0">
                          <a:solidFill>
                            <a:srgbClr val="FFFFFF"/>
                          </a:solidFill>
                          <a:latin typeface="Cambria Math" panose="02040503050406030204" pitchFamily="18" charset="0"/>
                        </a:rPr>
                        <m:t>𝑐𝑜𝑛𝑣𝑒𝑥𝑖𝑡𝑦</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m:t>
                              </m:r>
                            </m:e>
                            <m:sup>
                              <m:r>
                                <a:rPr lang="en-IN" sz="2100" b="0" i="1" smtClean="0">
                                  <a:solidFill>
                                    <a:srgbClr val="FFFFFF"/>
                                  </a:solidFill>
                                  <a:latin typeface="Cambria Math" panose="02040503050406030204" pitchFamily="18" charset="0"/>
                                </a:rPr>
                                <m:t>2</m:t>
                              </m:r>
                            </m:sup>
                          </m:sSup>
                          <m:r>
                            <a:rPr lang="en-IN" sz="2100" b="0" i="1" smtClean="0">
                              <a:solidFill>
                                <a:srgbClr val="FFFFFF"/>
                              </a:solidFill>
                              <a:latin typeface="Cambria Math" panose="02040503050406030204" pitchFamily="18" charset="0"/>
                            </a:rPr>
                            <m:t>𝜈</m:t>
                          </m:r>
                        </m:num>
                        <m:den>
                          <m:r>
                            <a:rPr lang="en-IN" sz="2100" b="0" i="1" smtClean="0">
                              <a:solidFill>
                                <a:srgbClr val="FFFFFF"/>
                              </a:solidFill>
                              <a:latin typeface="Cambria Math" panose="02040503050406030204" pitchFamily="18" charset="0"/>
                            </a:rPr>
                            <m:t>𝜕</m:t>
                          </m:r>
                          <m:sSup>
                            <m:sSupPr>
                              <m:ctrlPr>
                                <a:rPr lang="en-IN" sz="2100" b="0" i="1" smtClean="0">
                                  <a:solidFill>
                                    <a:srgbClr val="FFFFFF"/>
                                  </a:solidFill>
                                  <a:latin typeface="Cambria Math" panose="02040503050406030204" pitchFamily="18" charset="0"/>
                                </a:rPr>
                              </m:ctrlPr>
                            </m:sSupPr>
                            <m:e>
                              <m:r>
                                <a:rPr lang="en-IN" sz="2100" b="0" i="1" smtClean="0">
                                  <a:solidFill>
                                    <a:srgbClr val="FFFFFF"/>
                                  </a:solidFill>
                                  <a:latin typeface="Cambria Math" panose="02040503050406030204" pitchFamily="18" charset="0"/>
                                </a:rPr>
                                <m:t>𝜎</m:t>
                              </m:r>
                            </m:e>
                            <m:sup>
                              <m:r>
                                <a:rPr lang="en-IN" sz="2100" b="0" i="1" smtClean="0">
                                  <a:solidFill>
                                    <a:srgbClr val="FFFFFF"/>
                                  </a:solidFill>
                                  <a:latin typeface="Cambria Math" panose="02040503050406030204" pitchFamily="18" charset="0"/>
                                </a:rPr>
                                <m:t>2</m:t>
                              </m:r>
                            </m:sup>
                          </m:sSup>
                        </m:den>
                      </m:f>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r>
                            <a:rPr lang="en-IN" sz="2100" b="0" i="1" smtClean="0">
                              <a:solidFill>
                                <a:srgbClr val="FFFFFF"/>
                              </a:solidFill>
                              <a:latin typeface="Cambria Math" panose="02040503050406030204" pitchFamily="18" charset="0"/>
                            </a:rPr>
                            <m:t>𝑣𝑒𝑔𝑎</m:t>
                          </m:r>
                          <m:r>
                            <a:rPr lang="en-IN" sz="2100" b="0" i="1" smtClean="0">
                              <a:solidFill>
                                <a:srgbClr val="FFFFFF"/>
                              </a:solidFill>
                              <a:latin typeface="Cambria Math" panose="02040503050406030204" pitchFamily="18" charset="0"/>
                            </a:rPr>
                            <m:t> .</m:t>
                          </m:r>
                          <m:sSub>
                            <m:sSubPr>
                              <m:ctrlPr>
                                <a:rPr lang="en-IN" sz="2100" b="0" i="1" smtClean="0">
                                  <a:solidFill>
                                    <a:srgbClr val="FFFFFF"/>
                                  </a:solidFill>
                                  <a:latin typeface="Cambria Math" panose="02040503050406030204" pitchFamily="18" charset="0"/>
                                </a:rPr>
                              </m:ctrlPr>
                            </m:sSub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2</m:t>
                              </m:r>
                            </m:sub>
                          </m:sSub>
                        </m:num>
                        <m:den>
                          <m:r>
                            <a:rPr lang="en-IN" sz="2100" b="0" i="1" smtClean="0">
                              <a:solidFill>
                                <a:srgbClr val="FFFFFF"/>
                              </a:solidFill>
                              <a:latin typeface="Cambria Math" panose="02040503050406030204" pitchFamily="18" charset="0"/>
                            </a:rPr>
                            <m:t>𝜎</m:t>
                          </m:r>
                        </m:den>
                      </m:f>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𝑆𝑝𝑒𝑒𝑑</m:t>
                      </m:r>
                      <m:r>
                        <a:rPr lang="en-IN" sz="2100" b="0" i="1" smtClean="0">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a:rPr lang="en-IN" sz="2100" i="1">
                              <a:solidFill>
                                <a:srgbClr val="FFFFFF"/>
                              </a:solidFill>
                              <a:latin typeface="Cambria Math" panose="02040503050406030204" pitchFamily="18" charset="0"/>
                            </a:rPr>
                            <m:t>𝜕</m:t>
                          </m:r>
                          <m:r>
                            <m:rPr>
                              <m:sty m:val="p"/>
                            </m:rPr>
                            <a:rPr lang="en-IN" sz="2100" b="0" i="0" smtClean="0">
                              <a:solidFill>
                                <a:srgbClr val="FFFFFF"/>
                              </a:solidFill>
                              <a:latin typeface="Cambria Math" panose="02040503050406030204" pitchFamily="18" charset="0"/>
                            </a:rPr>
                            <m:t>Γ</m:t>
                          </m:r>
                        </m:num>
                        <m:den>
                          <m:r>
                            <a:rPr lang="en-IN" sz="2100" i="1">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𝐹</m:t>
                          </m:r>
                        </m:den>
                      </m:f>
                      <m:r>
                        <a:rPr lang="en-IN" sz="2100" b="0" i="1" smtClean="0">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m:rPr>
                              <m:sty m:val="p"/>
                            </m:rPr>
                            <a:rPr lang="en-IN" sz="2100">
                              <a:solidFill>
                                <a:srgbClr val="FFFFFF"/>
                              </a:solidFill>
                              <a:latin typeface="Cambria Math" panose="02040503050406030204" pitchFamily="18" charset="0"/>
                            </a:rPr>
                            <m:t>Γ</m:t>
                          </m:r>
                        </m:num>
                        <m:den>
                          <m:r>
                            <a:rPr lang="en-IN" sz="2100" i="1">
                              <a:solidFill>
                                <a:srgbClr val="FFFFFF"/>
                              </a:solidFill>
                              <a:latin typeface="Cambria Math" panose="02040503050406030204" pitchFamily="18" charset="0"/>
                            </a:rPr>
                            <m:t>𝐹</m:t>
                          </m:r>
                        </m:den>
                      </m:f>
                      <m:d>
                        <m:dPr>
                          <m:ctrlPr>
                            <a:rPr lang="en-IN" sz="2100" b="0" i="1" smtClean="0">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1</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num>
                            <m:den>
                              <m:r>
                                <a:rPr lang="en-IN" sz="2100" b="0" i="1" smtClean="0">
                                  <a:solidFill>
                                    <a:srgbClr val="FFFFFF"/>
                                  </a:solidFill>
                                  <a:latin typeface="Cambria Math" panose="02040503050406030204" pitchFamily="18" charset="0"/>
                                </a:rPr>
                                <m:t>𝜎</m:t>
                              </m:r>
                              <m:rad>
                                <m:radPr>
                                  <m:degHide m:val="on"/>
                                  <m:ctrlPr>
                                    <a:rPr lang="en-IN" sz="2100" b="0" i="1" smtClean="0">
                                      <a:solidFill>
                                        <a:srgbClr val="FFFFFF"/>
                                      </a:solidFill>
                                      <a:latin typeface="Cambria Math" panose="02040503050406030204" pitchFamily="18" charset="0"/>
                                    </a:rPr>
                                  </m:ctrlPr>
                                </m:radPr>
                                <m:deg/>
                                <m:e>
                                  <m:r>
                                    <a:rPr lang="en-IN" sz="2100" b="0" i="1" smtClean="0">
                                      <a:solidFill>
                                        <a:srgbClr val="FFFFFF"/>
                                      </a:solidFill>
                                      <a:latin typeface="Cambria Math" panose="02040503050406030204" pitchFamily="18" charset="0"/>
                                    </a:rPr>
                                    <m:t>𝑇</m:t>
                                  </m:r>
                                </m:e>
                              </m:rad>
                            </m:den>
                          </m:f>
                        </m:e>
                      </m:d>
                    </m:oMath>
                  </m:oMathPara>
                </a14:m>
                <a:endParaRPr lang="en-IN" sz="2100" b="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𝑍𝑜𝑚𝑚𝑎</m:t>
                      </m:r>
                      <m:r>
                        <a:rPr lang="en-IN" sz="2100" i="1">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a:rPr lang="en-IN" sz="2100" i="1">
                              <a:solidFill>
                                <a:srgbClr val="FFFFFF"/>
                              </a:solidFill>
                              <a:latin typeface="Cambria Math" panose="02040503050406030204" pitchFamily="18" charset="0"/>
                            </a:rPr>
                            <m:t>𝜕</m:t>
                          </m:r>
                          <m:r>
                            <m:rPr>
                              <m:sty m:val="p"/>
                            </m:rPr>
                            <a:rPr lang="en-IN" sz="2100">
                              <a:solidFill>
                                <a:srgbClr val="FFFFFF"/>
                              </a:solidFill>
                              <a:latin typeface="Cambria Math" panose="02040503050406030204" pitchFamily="18" charset="0"/>
                            </a:rPr>
                            <m:t>Γ</m:t>
                          </m:r>
                        </m:num>
                        <m:den>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𝜎</m:t>
                          </m:r>
                        </m:den>
                      </m:f>
                      <m:r>
                        <a:rPr lang="en-IN" sz="2100" i="1">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m:rPr>
                              <m:sty m:val="p"/>
                            </m:rPr>
                            <a:rPr lang="en-IN" sz="2100">
                              <a:solidFill>
                                <a:srgbClr val="FFFFFF"/>
                              </a:solidFill>
                              <a:latin typeface="Cambria Math" panose="02040503050406030204" pitchFamily="18" charset="0"/>
                            </a:rPr>
                            <m:t>Γ</m:t>
                          </m:r>
                        </m:num>
                        <m:den>
                          <m:r>
                            <a:rPr lang="en-IN" sz="2100" b="0" i="1" smtClean="0">
                              <a:solidFill>
                                <a:srgbClr val="FFFFFF"/>
                              </a:solidFill>
                              <a:latin typeface="Cambria Math" panose="02040503050406030204" pitchFamily="18" charset="0"/>
                            </a:rPr>
                            <m:t>𝜎</m:t>
                          </m:r>
                        </m:den>
                      </m:f>
                      <m:d>
                        <m:dPr>
                          <m:ctrlPr>
                            <a:rPr lang="en-IN" sz="2100" i="1">
                              <a:solidFill>
                                <a:srgbClr val="FFFFFF"/>
                              </a:solidFill>
                              <a:latin typeface="Cambria Math" panose="02040503050406030204" pitchFamily="18" charset="0"/>
                            </a:rPr>
                          </m:ctrlPr>
                        </m:dPr>
                        <m:e>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1</m:t>
                              </m:r>
                            </m:sub>
                          </m:sSub>
                          <m:sSub>
                            <m:sSubPr>
                              <m:ctrlPr>
                                <a:rPr lang="en-IN" sz="2100" b="0" i="1" smtClean="0">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𝑑</m:t>
                              </m:r>
                            </m:e>
                            <m:sub>
                              <m:r>
                                <a:rPr lang="en-IN" sz="2100" b="0" i="1" smtClean="0">
                                  <a:solidFill>
                                    <a:srgbClr val="FFFFFF"/>
                                  </a:solidFill>
                                  <a:latin typeface="Cambria Math" panose="02040503050406030204" pitchFamily="18" charset="0"/>
                                </a:rPr>
                                <m:t>2</m:t>
                              </m:r>
                            </m:sub>
                          </m:sSub>
                          <m:r>
                            <a:rPr lang="en-IN" sz="2100" b="0" i="1" smtClean="0">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1</m:t>
                          </m:r>
                        </m:e>
                      </m:d>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𝐶𝑜𝑙𝑜𝑟</m:t>
                      </m:r>
                      <m:r>
                        <a:rPr lang="en-IN" sz="2100" b="0" i="1" smtClean="0">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𝐺𝑎𝑚𝑚𝑎</m:t>
                      </m:r>
                      <m:r>
                        <a:rPr lang="en-IN" sz="2100" b="0" i="1" smtClean="0">
                          <a:solidFill>
                            <a:srgbClr val="FFFFFF"/>
                          </a:solidFill>
                          <a:latin typeface="Cambria Math" panose="02040503050406030204" pitchFamily="18" charset="0"/>
                        </a:rPr>
                        <m:t> </m:t>
                      </m:r>
                      <m:r>
                        <a:rPr lang="en-IN" sz="2100" b="0" i="1" smtClean="0">
                          <a:solidFill>
                            <a:srgbClr val="FFFFFF"/>
                          </a:solidFill>
                          <a:latin typeface="Cambria Math" panose="02040503050406030204" pitchFamily="18" charset="0"/>
                        </a:rPr>
                        <m:t>𝐷𝑒𝑐𝑎𝑦</m:t>
                      </m:r>
                      <m:r>
                        <a:rPr lang="en-IN" sz="2100" b="0" i="1" smtClean="0">
                          <a:solidFill>
                            <a:srgbClr val="FFFFFF"/>
                          </a:solidFill>
                          <a:latin typeface="Cambria Math" panose="02040503050406030204" pitchFamily="18" charset="0"/>
                        </a:rPr>
                        <m:t>)=</m:t>
                      </m:r>
                      <m:f>
                        <m:fPr>
                          <m:ctrlPr>
                            <a:rPr lang="en-IN" sz="2100" i="1" smtClean="0">
                              <a:solidFill>
                                <a:srgbClr val="FFFFFF"/>
                              </a:solidFill>
                              <a:latin typeface="Cambria Math" panose="02040503050406030204" pitchFamily="18" charset="0"/>
                            </a:rPr>
                          </m:ctrlPr>
                        </m:fPr>
                        <m:num>
                          <m:r>
                            <a:rPr lang="en-IN" sz="2100" i="1">
                              <a:solidFill>
                                <a:srgbClr val="FFFFFF"/>
                              </a:solidFill>
                              <a:latin typeface="Cambria Math" panose="02040503050406030204" pitchFamily="18" charset="0"/>
                            </a:rPr>
                            <m:t>𝜕</m:t>
                          </m:r>
                          <m:r>
                            <m:rPr>
                              <m:sty m:val="p"/>
                            </m:rPr>
                            <a:rPr lang="en-IN" sz="2100">
                              <a:solidFill>
                                <a:srgbClr val="FFFFFF"/>
                              </a:solidFill>
                              <a:latin typeface="Cambria Math" panose="02040503050406030204" pitchFamily="18" charset="0"/>
                            </a:rPr>
                            <m:t>Γ</m:t>
                          </m:r>
                        </m:num>
                        <m:den>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𝑡</m:t>
                          </m:r>
                        </m:den>
                      </m:f>
                      <m:r>
                        <a:rPr lang="en-IN" sz="2100" i="1">
                          <a:solidFill>
                            <a:srgbClr val="FFFFFF"/>
                          </a:solidFill>
                          <a:latin typeface="Cambria Math" panose="02040503050406030204" pitchFamily="18" charset="0"/>
                        </a:rPr>
                        <m:t>=</m:t>
                      </m:r>
                      <m:r>
                        <m:rPr>
                          <m:sty m:val="p"/>
                        </m:rPr>
                        <a:rPr lang="en-IN" sz="2100" b="0" i="0" smtClean="0">
                          <a:solidFill>
                            <a:srgbClr val="FFFFFF"/>
                          </a:solidFill>
                          <a:latin typeface="Cambria Math" panose="02040503050406030204" pitchFamily="18" charset="0"/>
                        </a:rPr>
                        <m:t>Γ</m:t>
                      </m:r>
                      <m:d>
                        <m:dPr>
                          <m:ctrlPr>
                            <a:rPr lang="en-IN" sz="2100" i="1">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𝑟</m:t>
                          </m:r>
                          <m:r>
                            <a:rPr lang="en-IN" sz="2100" b="0" i="1" smtClean="0">
                              <a:solidFill>
                                <a:srgbClr val="FFFFFF"/>
                              </a:solidFill>
                              <a:latin typeface="Cambria Math" panose="02040503050406030204" pitchFamily="18" charset="0"/>
                            </a:rPr>
                            <m:t>+</m:t>
                          </m:r>
                          <m:f>
                            <m:fPr>
                              <m:ctrlPr>
                                <a:rPr lang="en-IN" sz="2100" b="0" i="1" smtClean="0">
                                  <a:solidFill>
                                    <a:srgbClr val="FFFFFF"/>
                                  </a:solidFill>
                                  <a:latin typeface="Cambria Math" panose="02040503050406030204" pitchFamily="18" charset="0"/>
                                </a:rPr>
                              </m:ctrlPr>
                            </m:fPr>
                            <m:num>
                              <m:sSub>
                                <m:sSubPr>
                                  <m:ctrlPr>
                                    <a:rPr lang="en-IN" sz="2100" i="1">
                                      <a:solidFill>
                                        <a:srgbClr val="FFFFFF"/>
                                      </a:solidFill>
                                      <a:latin typeface="Cambria Math" panose="02040503050406030204" pitchFamily="18" charset="0"/>
                                    </a:rPr>
                                  </m:ctrlPr>
                                </m:sSubPr>
                                <m:e>
                                  <m:r>
                                    <a:rPr lang="en-IN" sz="2100" b="0" i="1" smtClean="0">
                                      <a:solidFill>
                                        <a:srgbClr val="FFFFFF"/>
                                      </a:solidFill>
                                      <a:latin typeface="Cambria Math" panose="02040503050406030204" pitchFamily="18" charset="0"/>
                                    </a:rPr>
                                    <m:t>1−</m:t>
                                  </m:r>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1</m:t>
                                  </m:r>
                                </m:sub>
                              </m:sSub>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2</m:t>
                                  </m:r>
                                </m:sub>
                              </m:sSub>
                            </m:num>
                            <m:den>
                              <m:r>
                                <a:rPr lang="en-IN" sz="2100" b="0" i="1" smtClean="0">
                                  <a:solidFill>
                                    <a:srgbClr val="FFFFFF"/>
                                  </a:solidFill>
                                  <a:latin typeface="Cambria Math" panose="02040503050406030204" pitchFamily="18" charset="0"/>
                                </a:rPr>
                                <m:t>2</m:t>
                              </m:r>
                              <m:r>
                                <a:rPr lang="en-IN" sz="2100" b="0" i="1" smtClean="0">
                                  <a:solidFill>
                                    <a:srgbClr val="FFFFFF"/>
                                  </a:solidFill>
                                  <a:latin typeface="Cambria Math" panose="02040503050406030204" pitchFamily="18" charset="0"/>
                                </a:rPr>
                                <m:t>𝑇</m:t>
                              </m:r>
                            </m:den>
                          </m:f>
                        </m:e>
                      </m:d>
                    </m:oMath>
                  </m:oMathPara>
                </a14:m>
                <a:endParaRPr lang="en-IN" sz="2100" dirty="0" smtClean="0">
                  <a:solidFill>
                    <a:srgbClr val="FFFFFF"/>
                  </a:solidFill>
                  <a:latin typeface="Cambria"/>
                </a:endParaRPr>
              </a:p>
              <a:p>
                <a:pPr>
                  <a:spcAft>
                    <a:spcPts val="1600"/>
                  </a:spcAft>
                </a:pPr>
                <a14:m>
                  <m:oMathPara xmlns:m="http://schemas.openxmlformats.org/officeDocument/2006/math">
                    <m:oMathParaPr>
                      <m:jc m:val="centerGroup"/>
                    </m:oMathParaPr>
                    <m:oMath xmlns:m="http://schemas.openxmlformats.org/officeDocument/2006/math">
                      <m:r>
                        <a:rPr lang="en-IN" sz="2100" b="0" i="1" smtClean="0">
                          <a:solidFill>
                            <a:srgbClr val="FFFFFF"/>
                          </a:solidFill>
                          <a:latin typeface="Cambria Math" panose="02040503050406030204" pitchFamily="18" charset="0"/>
                        </a:rPr>
                        <m:t>𝑉𝑒𝑡𝑎</m:t>
                      </m:r>
                      <m:r>
                        <a:rPr lang="en-IN" sz="2100" b="0" i="1" smtClean="0">
                          <a:solidFill>
                            <a:srgbClr val="FFFFFF"/>
                          </a:solidFill>
                          <a:latin typeface="Cambria Math" panose="02040503050406030204" pitchFamily="18" charset="0"/>
                        </a:rPr>
                        <m:t> </m:t>
                      </m:r>
                      <m:d>
                        <m:dPr>
                          <m:ctrlPr>
                            <a:rPr lang="en-IN" sz="2100" b="0" i="1" smtClean="0">
                              <a:solidFill>
                                <a:srgbClr val="FFFFFF"/>
                              </a:solidFill>
                              <a:latin typeface="Cambria Math" panose="02040503050406030204" pitchFamily="18" charset="0"/>
                            </a:rPr>
                          </m:ctrlPr>
                        </m:dPr>
                        <m:e>
                          <m:r>
                            <a:rPr lang="en-IN" sz="2100" b="0" i="1" smtClean="0">
                              <a:solidFill>
                                <a:srgbClr val="FFFFFF"/>
                              </a:solidFill>
                              <a:latin typeface="Cambria Math" panose="02040503050406030204" pitchFamily="18" charset="0"/>
                            </a:rPr>
                            <m:t>𝑉𝑒𝑔𝑎</m:t>
                          </m:r>
                          <m:r>
                            <a:rPr lang="en-IN" sz="2100" b="0" i="1" smtClean="0">
                              <a:solidFill>
                                <a:srgbClr val="FFFFFF"/>
                              </a:solidFill>
                              <a:latin typeface="Cambria Math" panose="02040503050406030204" pitchFamily="18" charset="0"/>
                            </a:rPr>
                            <m:t> </m:t>
                          </m:r>
                          <m:r>
                            <a:rPr lang="en-IN" sz="2100" b="0" i="1" smtClean="0">
                              <a:solidFill>
                                <a:srgbClr val="FFFFFF"/>
                              </a:solidFill>
                              <a:latin typeface="Cambria Math" panose="02040503050406030204" pitchFamily="18" charset="0"/>
                            </a:rPr>
                            <m:t>𝐷𝑒𝑐𝑎𝑦</m:t>
                          </m:r>
                        </m:e>
                      </m:d>
                      <m:r>
                        <a:rPr lang="en-IN" sz="2100" i="1">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𝜈</m:t>
                          </m:r>
                        </m:num>
                        <m:den>
                          <m:r>
                            <a:rPr lang="en-IN" sz="2100" i="1">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𝑡</m:t>
                          </m:r>
                        </m:den>
                      </m:f>
                      <m:r>
                        <a:rPr lang="en-IN" sz="2100" i="1">
                          <a:solidFill>
                            <a:srgbClr val="FFFFFF"/>
                          </a:solidFill>
                          <a:latin typeface="Cambria Math" panose="02040503050406030204" pitchFamily="18" charset="0"/>
                        </a:rPr>
                        <m:t>=</m:t>
                      </m:r>
                      <m:r>
                        <a:rPr lang="en-IN" sz="2100" b="0" i="1" smtClean="0">
                          <a:solidFill>
                            <a:srgbClr val="FFFFFF"/>
                          </a:solidFill>
                          <a:latin typeface="Cambria Math" panose="02040503050406030204" pitchFamily="18" charset="0"/>
                        </a:rPr>
                        <m:t>𝜈</m:t>
                      </m:r>
                      <m:d>
                        <m:dPr>
                          <m:ctrlPr>
                            <a:rPr lang="en-IN" sz="2100" i="1">
                              <a:solidFill>
                                <a:srgbClr val="FFFFFF"/>
                              </a:solidFill>
                              <a:latin typeface="Cambria Math" panose="02040503050406030204" pitchFamily="18" charset="0"/>
                            </a:rPr>
                          </m:ctrlPr>
                        </m:dPr>
                        <m:e>
                          <m:r>
                            <a:rPr lang="en-IN" sz="2100" i="1">
                              <a:solidFill>
                                <a:srgbClr val="FFFFFF"/>
                              </a:solidFill>
                              <a:latin typeface="Cambria Math" panose="02040503050406030204" pitchFamily="18" charset="0"/>
                            </a:rPr>
                            <m:t>𝑟</m:t>
                          </m:r>
                          <m:r>
                            <a:rPr lang="en-IN" sz="2100" b="0" i="1" smtClean="0">
                              <a:solidFill>
                                <a:srgbClr val="FFFFFF"/>
                              </a:solidFill>
                              <a:latin typeface="Cambria Math" panose="02040503050406030204" pitchFamily="18" charset="0"/>
                            </a:rPr>
                            <m:t>−</m:t>
                          </m:r>
                          <m:f>
                            <m:fPr>
                              <m:ctrlPr>
                                <a:rPr lang="en-IN" sz="2100" i="1">
                                  <a:solidFill>
                                    <a:srgbClr val="FFFFFF"/>
                                  </a:solidFill>
                                  <a:latin typeface="Cambria Math" panose="02040503050406030204" pitchFamily="18" charset="0"/>
                                </a:rPr>
                              </m:ctrlPr>
                            </m:fPr>
                            <m:num>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1</m:t>
                                  </m:r>
                                  <m:r>
                                    <a:rPr lang="en-IN" sz="2100" b="0" i="1" smtClean="0">
                                      <a:solidFill>
                                        <a:srgbClr val="FFFFFF"/>
                                      </a:solidFill>
                                      <a:latin typeface="Cambria Math" panose="02040503050406030204" pitchFamily="18" charset="0"/>
                                    </a:rPr>
                                    <m:t>+</m:t>
                                  </m:r>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1</m:t>
                                  </m:r>
                                </m:sub>
                              </m:sSub>
                              <m:sSub>
                                <m:sSubPr>
                                  <m:ctrlPr>
                                    <a:rPr lang="en-IN" sz="2100" i="1">
                                      <a:solidFill>
                                        <a:srgbClr val="FFFFFF"/>
                                      </a:solidFill>
                                      <a:latin typeface="Cambria Math" panose="02040503050406030204" pitchFamily="18" charset="0"/>
                                    </a:rPr>
                                  </m:ctrlPr>
                                </m:sSubPr>
                                <m:e>
                                  <m:r>
                                    <a:rPr lang="en-IN" sz="2100" i="1">
                                      <a:solidFill>
                                        <a:srgbClr val="FFFFFF"/>
                                      </a:solidFill>
                                      <a:latin typeface="Cambria Math" panose="02040503050406030204" pitchFamily="18" charset="0"/>
                                    </a:rPr>
                                    <m:t>𝑑</m:t>
                                  </m:r>
                                </m:e>
                                <m:sub>
                                  <m:r>
                                    <a:rPr lang="en-IN" sz="2100" i="1">
                                      <a:solidFill>
                                        <a:srgbClr val="FFFFFF"/>
                                      </a:solidFill>
                                      <a:latin typeface="Cambria Math" panose="02040503050406030204" pitchFamily="18" charset="0"/>
                                    </a:rPr>
                                    <m:t>2</m:t>
                                  </m:r>
                                </m:sub>
                              </m:sSub>
                            </m:num>
                            <m:den>
                              <m:r>
                                <a:rPr lang="en-IN" sz="2100" i="1">
                                  <a:solidFill>
                                    <a:srgbClr val="FFFFFF"/>
                                  </a:solidFill>
                                  <a:latin typeface="Cambria Math" panose="02040503050406030204" pitchFamily="18" charset="0"/>
                                </a:rPr>
                                <m:t>2</m:t>
                              </m:r>
                              <m:r>
                                <a:rPr lang="en-IN" sz="2100" i="1">
                                  <a:solidFill>
                                    <a:srgbClr val="FFFFFF"/>
                                  </a:solidFill>
                                  <a:latin typeface="Cambria Math" panose="02040503050406030204" pitchFamily="18" charset="0"/>
                                </a:rPr>
                                <m:t>𝑇</m:t>
                              </m:r>
                            </m:den>
                          </m:f>
                        </m:e>
                      </m:d>
                    </m:oMath>
                  </m:oMathPara>
                </a14:m>
                <a:endParaRPr lang="en-IN" sz="2100" dirty="0">
                  <a:solidFill>
                    <a:srgbClr val="FFFFFF"/>
                  </a:solidFill>
                  <a:latin typeface="Cambria"/>
                </a:endParaRPr>
              </a:p>
              <a:p>
                <a:pPr>
                  <a:spcAft>
                    <a:spcPts val="1600"/>
                  </a:spcAft>
                </a:pPr>
                <a:endParaRPr lang="en-IN" sz="2100" dirty="0">
                  <a:solidFill>
                    <a:srgbClr val="FFFFFF"/>
                  </a:solidFill>
                  <a:latin typeface="Cambria"/>
                </a:endParaRPr>
              </a:p>
            </p:txBody>
          </p:sp>
        </mc:Choice>
        <mc:Fallback>
          <p:sp>
            <p:nvSpPr>
              <p:cNvPr id="4" name="TextBox 3"/>
              <p:cNvSpPr txBox="1">
                <a:spLocks noRot="1" noChangeAspect="1" noMove="1" noResize="1" noEditPoints="1" noAdjustHandles="1" noChangeArrowheads="1" noChangeShapeType="1" noTextEdit="1"/>
              </p:cNvSpPr>
              <p:nvPr/>
            </p:nvSpPr>
            <p:spPr>
              <a:xfrm>
                <a:off x="2322093" y="1069477"/>
                <a:ext cx="8535203" cy="4827347"/>
              </a:xfrm>
              <a:prstGeom prst="rect">
                <a:avLst/>
              </a:prstGeom>
              <a:blipFill>
                <a:blip r:embed="rId3"/>
                <a:stretch>
                  <a:fillRect/>
                </a:stretch>
              </a:blipFill>
            </p:spPr>
            <p:txBody>
              <a:bodyPr/>
              <a:lstStyle/>
              <a:p>
                <a:r>
                  <a:rPr lang="en-IN">
                    <a:noFill/>
                  </a:rPr>
                  <a:t> </a:t>
                </a:r>
              </a:p>
            </p:txBody>
          </p:sp>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426720"/>
            <a:ext cx="10353761" cy="743712"/>
          </a:xfrm>
        </p:spPr>
        <p:txBody>
          <a:bodyPr/>
          <a:lstStyle/>
          <a:p>
            <a:r>
              <a:rPr dirty="0"/>
              <a:t>Parity forward and discount factor</a:t>
            </a:r>
          </a:p>
        </p:txBody>
      </p:sp>
      <p:sp>
        <p:nvSpPr>
          <p:cNvPr id="3" name="TextBox 2"/>
          <p:cNvSpPr txBox="1"/>
          <p:nvPr/>
        </p:nvSpPr>
        <p:spPr>
          <a:xfrm>
            <a:off x="685800" y="1542885"/>
            <a:ext cx="3383280" cy="411480"/>
          </a:xfrm>
          <a:prstGeom prst="rect">
            <a:avLst/>
          </a:prstGeom>
          <a:noFill/>
        </p:spPr>
        <p:txBody>
          <a:bodyPr wrap="square" lIns="0" tIns="18288" rIns="0" bIns="18288" anchor="t">
            <a:spAutoFit/>
          </a:bodyPr>
          <a:lstStyle/>
          <a:p>
            <a:pPr algn="l">
              <a:spcAft>
                <a:spcPts val="400"/>
              </a:spcAft>
            </a:pPr>
            <a:r>
              <a:rPr sz="2000" b="1" i="0" dirty="0">
                <a:solidFill>
                  <a:srgbClr val="FFD166"/>
                </a:solidFill>
              </a:rPr>
              <a:t>Forward from parity</a:t>
            </a:r>
          </a:p>
        </p:txBody>
      </p:sp>
      <mc:AlternateContent xmlns:mc="http://schemas.openxmlformats.org/markup-compatibility/2006">
        <mc:Choice xmlns:a14="http://schemas.microsoft.com/office/drawing/2010/main" Requires="a14">
          <p:sp>
            <p:nvSpPr>
              <p:cNvPr id="4" name="TextBox 3"/>
              <p:cNvSpPr txBox="1"/>
              <p:nvPr/>
            </p:nvSpPr>
            <p:spPr>
              <a:xfrm>
                <a:off x="3669631" y="1625514"/>
                <a:ext cx="5637998" cy="283154"/>
              </a:xfrm>
              <a:prstGeom prst="rect">
                <a:avLst/>
              </a:prstGeom>
              <a:noFill/>
            </p:spPr>
            <p:txBody>
              <a:bodyPr wrap="square" lIns="0" tIns="18288" rIns="0" bIns="18288" anchor="t">
                <a:spAutoFit/>
              </a:bodyPr>
              <a:lstStyle/>
              <a:p>
                <a:pPr>
                  <a:spcAft>
                    <a:spcPts val="800"/>
                  </a:spcAft>
                </a:pPr>
                <a:r>
                  <a:rPr sz="1600" b="0" i="0" dirty="0">
                    <a:solidFill>
                      <a:srgbClr val="E6E0F2"/>
                    </a:solidFill>
                  </a:rPr>
                  <a:t>C − P = </a:t>
                </a:r>
                <a14:m>
                  <m:oMath xmlns:m="http://schemas.openxmlformats.org/officeDocument/2006/math">
                    <m:sSup>
                      <m:sSupPr>
                        <m:ctrlPr>
                          <a:rPr lang="en-IN" sz="1600" i="1">
                            <a:solidFill>
                              <a:srgbClr val="FFFFFF"/>
                            </a:solidFill>
                            <a:latin typeface="Cambria Math" panose="02040503050406030204" pitchFamily="18" charset="0"/>
                          </a:rPr>
                        </m:ctrlPr>
                      </m:sSupPr>
                      <m:e>
                        <m:r>
                          <a:rPr lang="en-IN" sz="1600" i="1">
                            <a:solidFill>
                              <a:srgbClr val="FFFFFF"/>
                            </a:solidFill>
                            <a:latin typeface="Cambria Math" panose="02040503050406030204" pitchFamily="18" charset="0"/>
                          </a:rPr>
                          <m:t>𝑒</m:t>
                        </m:r>
                      </m:e>
                      <m:sup>
                        <m:r>
                          <a:rPr lang="en-IN" sz="1600" i="1">
                            <a:solidFill>
                              <a:srgbClr val="FFFFFF"/>
                            </a:solidFill>
                            <a:latin typeface="Cambria Math" panose="02040503050406030204" pitchFamily="18" charset="0"/>
                          </a:rPr>
                          <m:t>−</m:t>
                        </m:r>
                        <m:r>
                          <a:rPr lang="en-IN" sz="1600" i="1">
                            <a:solidFill>
                              <a:srgbClr val="FFFFFF"/>
                            </a:solidFill>
                            <a:latin typeface="Cambria Math" panose="02040503050406030204" pitchFamily="18" charset="0"/>
                          </a:rPr>
                          <m:t>𝑟𝑡</m:t>
                        </m:r>
                      </m:sup>
                    </m:sSup>
                    <m:r>
                      <a:rPr lang="en-IN" sz="1600" i="1">
                        <a:solidFill>
                          <a:srgbClr val="FFFFFF"/>
                        </a:solidFill>
                        <a:latin typeface="Cambria Math" panose="02040503050406030204" pitchFamily="18" charset="0"/>
                      </a:rPr>
                      <m:t> </m:t>
                    </m:r>
                  </m:oMath>
                </a14:m>
                <a:r>
                  <a:rPr sz="1600" b="0" i="0" dirty="0" smtClean="0">
                    <a:solidFill>
                      <a:srgbClr val="E6E0F2"/>
                    </a:solidFill>
                  </a:rPr>
                  <a:t>(</a:t>
                </a:r>
                <a:r>
                  <a:rPr sz="1600" b="0" i="0" dirty="0">
                    <a:solidFill>
                      <a:srgbClr val="E6E0F2"/>
                    </a:solidFill>
                  </a:rPr>
                  <a:t>F − K</a:t>
                </a:r>
                <a:r>
                  <a:rPr sz="1600" b="0" i="0" dirty="0" smtClean="0">
                    <a:solidFill>
                      <a:srgbClr val="E6E0F2"/>
                    </a:solidFill>
                  </a:rPr>
                  <a:t>)</a:t>
                </a:r>
                <a:endParaRPr sz="1600" b="0" i="0" dirty="0">
                  <a:solidFill>
                    <a:srgbClr val="E6E0F2"/>
                  </a:solidFill>
                </a:endParaRPr>
              </a:p>
            </p:txBody>
          </p:sp>
        </mc:Choice>
        <mc:Fallback>
          <p:sp>
            <p:nvSpPr>
              <p:cNvPr id="4" name="TextBox 3"/>
              <p:cNvSpPr txBox="1">
                <a:spLocks noRot="1" noChangeAspect="1" noMove="1" noResize="1" noEditPoints="1" noAdjustHandles="1" noChangeArrowheads="1" noChangeShapeType="1" noTextEdit="1"/>
              </p:cNvSpPr>
              <p:nvPr/>
            </p:nvSpPr>
            <p:spPr>
              <a:xfrm>
                <a:off x="3669631" y="1625514"/>
                <a:ext cx="5637998" cy="283154"/>
              </a:xfrm>
              <a:prstGeom prst="rect">
                <a:avLst/>
              </a:prstGeom>
              <a:blipFill>
                <a:blip r:embed="rId3"/>
                <a:stretch>
                  <a:fillRect l="-2270" t="-17391" b="-36957"/>
                </a:stretch>
              </a:blipFill>
            </p:spPr>
            <p:txBody>
              <a:bodyPr/>
              <a:lstStyle/>
              <a:p>
                <a:r>
                  <a:rPr lang="en-IN">
                    <a:noFill/>
                  </a:rPr>
                  <a:t> </a:t>
                </a:r>
              </a:p>
            </p:txBody>
          </p:sp>
        </mc:Fallback>
      </mc:AlternateContent>
      <p:pic>
        <p:nvPicPr>
          <p:cNvPr id="9" name="Picture 8"/>
          <p:cNvPicPr>
            <a:picLocks noChangeAspect="1"/>
          </p:cNvPicPr>
          <p:nvPr/>
        </p:nvPicPr>
        <p:blipFill>
          <a:blip r:embed="rId4"/>
          <a:stretch>
            <a:fillRect/>
          </a:stretch>
        </p:blipFill>
        <p:spPr>
          <a:xfrm>
            <a:off x="199202" y="2519503"/>
            <a:ext cx="11793596" cy="372479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Delta across strikes</a:t>
            </a:r>
          </a:p>
        </p:txBody>
      </p:sp>
      <p:sp>
        <p:nvSpPr>
          <p:cNvPr id="3" name="TextBox 2"/>
          <p:cNvSpPr txBox="1"/>
          <p:nvPr/>
        </p:nvSpPr>
        <p:spPr>
          <a:xfrm>
            <a:off x="685800" y="1965960"/>
            <a:ext cx="3383280" cy="344710"/>
          </a:xfrm>
          <a:prstGeom prst="rect">
            <a:avLst/>
          </a:prstGeom>
          <a:noFill/>
        </p:spPr>
        <p:txBody>
          <a:bodyPr wrap="square" lIns="0" tIns="18288" rIns="0" bIns="18288" anchor="t">
            <a:spAutoFit/>
          </a:bodyPr>
          <a:lstStyle/>
          <a:p>
            <a:pPr algn="l">
              <a:spcAft>
                <a:spcPts val="400"/>
              </a:spcAft>
            </a:pPr>
            <a:r>
              <a:rPr sz="2000" b="1" i="0" dirty="0">
                <a:solidFill>
                  <a:srgbClr val="FFD166"/>
                </a:solidFill>
              </a:rPr>
              <a:t>Limits </a:t>
            </a:r>
          </a:p>
        </p:txBody>
      </p:sp>
      <p:sp>
        <p:nvSpPr>
          <p:cNvPr id="5" name="TextBox 4"/>
          <p:cNvSpPr txBox="1"/>
          <p:nvPr/>
        </p:nvSpPr>
        <p:spPr>
          <a:xfrm>
            <a:off x="685800" y="3794760"/>
            <a:ext cx="3383280" cy="411480"/>
          </a:xfrm>
          <a:prstGeom prst="rect">
            <a:avLst/>
          </a:prstGeom>
          <a:noFill/>
        </p:spPr>
        <p:txBody>
          <a:bodyPr wrap="square" lIns="0" tIns="18288" rIns="0" bIns="18288" anchor="t">
            <a:spAutoFit/>
          </a:bodyPr>
          <a:lstStyle/>
          <a:p>
            <a:pPr algn="l">
              <a:spcAft>
                <a:spcPts val="400"/>
              </a:spcAft>
            </a:pPr>
            <a:r>
              <a:rPr sz="2000" b="1" i="0" dirty="0">
                <a:solidFill>
                  <a:srgbClr val="FFD166"/>
                </a:solidFill>
              </a:rPr>
              <a:t>Steeper near expiry</a:t>
            </a:r>
          </a:p>
        </p:txBody>
      </p:sp>
      <p:sp>
        <p:nvSpPr>
          <p:cNvPr id="6" name="TextBox 5"/>
          <p:cNvSpPr txBox="1"/>
          <p:nvPr/>
        </p:nvSpPr>
        <p:spPr>
          <a:xfrm>
            <a:off x="685800" y="4251960"/>
            <a:ext cx="3383280" cy="1188720"/>
          </a:xfrm>
          <a:prstGeom prst="rect">
            <a:avLst/>
          </a:prstGeom>
          <a:noFill/>
        </p:spPr>
        <p:txBody>
          <a:bodyPr wrap="square" lIns="0" tIns="18288" rIns="0" bIns="18288" anchor="t">
            <a:spAutoFit/>
          </a:bodyPr>
          <a:lstStyle/>
          <a:p>
            <a:pPr algn="l">
              <a:spcAft>
                <a:spcPts val="800"/>
              </a:spcAft>
            </a:pPr>
            <a:r>
              <a:rPr sz="1600" b="0" i="0" dirty="0">
                <a:solidFill>
                  <a:srgbClr val="E6E0F2"/>
                </a:solidFill>
              </a:rPr>
              <a:t>With 3 days left the curve is almost a step: the option is either in or out.</a:t>
            </a:r>
          </a:p>
        </p:txBody>
      </p:sp>
      <p:sp>
        <p:nvSpPr>
          <p:cNvPr id="8" name="TextBox 7"/>
          <p:cNvSpPr txBox="1"/>
          <p:nvPr/>
        </p:nvSpPr>
        <p:spPr>
          <a:xfrm>
            <a:off x="685800" y="6053328"/>
            <a:ext cx="9509760" cy="320040"/>
          </a:xfrm>
          <a:prstGeom prst="rect">
            <a:avLst/>
          </a:prstGeom>
          <a:noFill/>
        </p:spPr>
        <p:txBody>
          <a:bodyPr wrap="square" lIns="0" tIns="18288" rIns="0" bIns="18288" anchor="t">
            <a:spAutoFit/>
          </a:bodyPr>
          <a:lstStyle/>
          <a:p>
            <a:pPr algn="l">
              <a:spcAft>
                <a:spcPts val="800"/>
              </a:spcAft>
            </a:pPr>
            <a:r>
              <a:rPr sz="1100" b="0" i="0">
                <a:solidFill>
                  <a:srgbClr val="E6E0F2"/>
                </a:solidFill>
              </a:rPr>
              <a:t>NIFTY options, 3 Mar 2025 (spot 22,119). Forward F per expiry from put-call parity; IV from the OTM leg at each strike.</a:t>
            </a:r>
          </a:p>
        </p:txBody>
      </p:sp>
      <p:pic>
        <p:nvPicPr>
          <p:cNvPr id="9" name="Picture 8"/>
          <p:cNvPicPr>
            <a:picLocks noChangeAspect="1"/>
          </p:cNvPicPr>
          <p:nvPr/>
        </p:nvPicPr>
        <p:blipFill>
          <a:blip r:embed="rId3"/>
          <a:stretch>
            <a:fillRect/>
          </a:stretch>
        </p:blipFill>
        <p:spPr>
          <a:xfrm>
            <a:off x="4502226" y="1666954"/>
            <a:ext cx="6765330" cy="4255611"/>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Gamma peaks near the forward</a:t>
            </a:r>
          </a:p>
        </p:txBody>
      </p:sp>
      <p:sp>
        <p:nvSpPr>
          <p:cNvPr id="3" name="TextBox 2"/>
          <p:cNvSpPr txBox="1"/>
          <p:nvPr/>
        </p:nvSpPr>
        <p:spPr>
          <a:xfrm>
            <a:off x="685800" y="1965960"/>
            <a:ext cx="3383280" cy="411480"/>
          </a:xfrm>
          <a:prstGeom prst="rect">
            <a:avLst/>
          </a:prstGeom>
          <a:noFill/>
        </p:spPr>
        <p:txBody>
          <a:bodyPr wrap="square" lIns="0" tIns="18288" rIns="0" bIns="18288" anchor="t">
            <a:spAutoFit/>
          </a:bodyPr>
          <a:lstStyle/>
          <a:p>
            <a:pPr algn="l">
              <a:spcAft>
                <a:spcPts val="400"/>
              </a:spcAft>
            </a:pPr>
            <a:r>
              <a:rPr sz="2000" b="1" i="0">
                <a:solidFill>
                  <a:srgbClr val="FFD166"/>
                </a:solidFill>
              </a:rPr>
              <a:t>Sharp near expiry</a:t>
            </a:r>
          </a:p>
        </p:txBody>
      </p:sp>
      <p:sp>
        <p:nvSpPr>
          <p:cNvPr id="5" name="TextBox 4"/>
          <p:cNvSpPr txBox="1"/>
          <p:nvPr/>
        </p:nvSpPr>
        <p:spPr>
          <a:xfrm>
            <a:off x="685800" y="3794760"/>
            <a:ext cx="3383280" cy="411480"/>
          </a:xfrm>
          <a:prstGeom prst="rect">
            <a:avLst/>
          </a:prstGeom>
          <a:noFill/>
        </p:spPr>
        <p:txBody>
          <a:bodyPr wrap="square" lIns="0" tIns="18288" rIns="0" bIns="18288" anchor="t">
            <a:spAutoFit/>
          </a:bodyPr>
          <a:lstStyle/>
          <a:p>
            <a:pPr algn="l">
              <a:spcAft>
                <a:spcPts val="400"/>
              </a:spcAft>
            </a:pPr>
            <a:r>
              <a:rPr sz="2000" b="1" i="0">
                <a:solidFill>
                  <a:srgbClr val="FFD166"/>
                </a:solidFill>
              </a:rPr>
              <a:t>Flat for long dates</a:t>
            </a:r>
          </a:p>
        </p:txBody>
      </p:sp>
      <p:sp>
        <p:nvSpPr>
          <p:cNvPr id="6" name="TextBox 5"/>
          <p:cNvSpPr txBox="1"/>
          <p:nvPr/>
        </p:nvSpPr>
        <p:spPr>
          <a:xfrm>
            <a:off x="685800" y="4251960"/>
            <a:ext cx="3383280" cy="1188720"/>
          </a:xfrm>
          <a:prstGeom prst="rect">
            <a:avLst/>
          </a:prstGeom>
          <a:noFill/>
        </p:spPr>
        <p:txBody>
          <a:bodyPr wrap="square" lIns="0" tIns="18288" rIns="0" bIns="18288" anchor="t">
            <a:spAutoFit/>
          </a:bodyPr>
          <a:lstStyle/>
          <a:p>
            <a:pPr algn="l">
              <a:spcAft>
                <a:spcPts val="800"/>
              </a:spcAft>
            </a:pPr>
            <a:r>
              <a:rPr sz="1600" b="0" i="0" dirty="0">
                <a:solidFill>
                  <a:srgbClr val="E6E0F2"/>
                </a:solidFill>
              </a:rPr>
              <a:t>Long-dated options spread gamma over a wide band of strikes.</a:t>
            </a:r>
          </a:p>
        </p:txBody>
      </p:sp>
      <p:sp>
        <p:nvSpPr>
          <p:cNvPr id="8" name="TextBox 7"/>
          <p:cNvSpPr txBox="1"/>
          <p:nvPr/>
        </p:nvSpPr>
        <p:spPr>
          <a:xfrm>
            <a:off x="685800" y="6053328"/>
            <a:ext cx="9509760" cy="320040"/>
          </a:xfrm>
          <a:prstGeom prst="rect">
            <a:avLst/>
          </a:prstGeom>
          <a:noFill/>
        </p:spPr>
        <p:txBody>
          <a:bodyPr wrap="square" lIns="0" tIns="18288" rIns="0" bIns="18288" anchor="t">
            <a:spAutoFit/>
          </a:bodyPr>
          <a:lstStyle/>
          <a:p>
            <a:pPr algn="l">
              <a:spcAft>
                <a:spcPts val="800"/>
              </a:spcAft>
            </a:pPr>
            <a:r>
              <a:rPr sz="1100" b="0" i="0">
                <a:solidFill>
                  <a:srgbClr val="E6E0F2"/>
                </a:solidFill>
              </a:rPr>
              <a:t>NIFTY options, 3 Mar 2025 (spot 22,119). Forward F per expiry from put-call parity; IV from the OTM leg at each strike.</a:t>
            </a:r>
          </a:p>
        </p:txBody>
      </p:sp>
      <p:pic>
        <p:nvPicPr>
          <p:cNvPr id="9" name="Picture 8"/>
          <p:cNvPicPr>
            <a:picLocks noChangeAspect="1"/>
          </p:cNvPicPr>
          <p:nvPr/>
        </p:nvPicPr>
        <p:blipFill>
          <a:blip r:embed="rId3"/>
          <a:stretch>
            <a:fillRect/>
          </a:stretch>
        </p:blipFill>
        <p:spPr>
          <a:xfrm>
            <a:off x="5024022" y="1730412"/>
            <a:ext cx="6243534" cy="3916529"/>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Theta: the cost of waiting</a:t>
            </a:r>
          </a:p>
        </p:txBody>
      </p:sp>
      <p:graphicFrame>
        <p:nvGraphicFramePr>
          <p:cNvPr id="7" name="Chart 6"/>
          <p:cNvGraphicFramePr>
            <a:graphicFrameLocks noGrp="1"/>
          </p:cNvGraphicFramePr>
          <p:nvPr>
            <p:extLst>
              <p:ext uri="{D42A27DB-BD31-4B8C-83A1-F6EECF244321}">
                <p14:modId xmlns:p14="http://schemas.microsoft.com/office/powerpoint/2010/main" val="3051610657"/>
              </p:ext>
            </p:extLst>
          </p:nvPr>
        </p:nvGraphicFramePr>
        <p:xfrm>
          <a:off x="2216217" y="1783080"/>
          <a:ext cx="7223760" cy="4160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Vega grows with time</a:t>
            </a:r>
          </a:p>
        </p:txBody>
      </p:sp>
      <p:graphicFrame>
        <p:nvGraphicFramePr>
          <p:cNvPr id="7" name="Chart 6"/>
          <p:cNvGraphicFramePr>
            <a:graphicFrameLocks noGrp="1"/>
          </p:cNvGraphicFramePr>
          <p:nvPr>
            <p:extLst>
              <p:ext uri="{D42A27DB-BD31-4B8C-83A1-F6EECF244321}">
                <p14:modId xmlns:p14="http://schemas.microsoft.com/office/powerpoint/2010/main" val="3957288332"/>
              </p:ext>
            </p:extLst>
          </p:nvPr>
        </p:nvGraphicFramePr>
        <p:xfrm>
          <a:off x="2610853" y="1778267"/>
          <a:ext cx="7223760" cy="4160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Rho: small for short expiries</a:t>
            </a:r>
          </a:p>
        </p:txBody>
      </p:sp>
      <p:graphicFrame>
        <p:nvGraphicFramePr>
          <p:cNvPr id="7" name="Chart 6"/>
          <p:cNvGraphicFramePr>
            <a:graphicFrameLocks noGrp="1"/>
          </p:cNvGraphicFramePr>
          <p:nvPr>
            <p:extLst>
              <p:ext uri="{D42A27DB-BD31-4B8C-83A1-F6EECF244321}">
                <p14:modId xmlns:p14="http://schemas.microsoft.com/office/powerpoint/2010/main" val="1725770278"/>
              </p:ext>
            </p:extLst>
          </p:nvPr>
        </p:nvGraphicFramePr>
        <p:xfrm>
          <a:off x="1994835" y="1783080"/>
          <a:ext cx="7223760" cy="4160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Vanna and vomma</a:t>
            </a:r>
          </a:p>
        </p:txBody>
      </p:sp>
      <p:graphicFrame>
        <p:nvGraphicFramePr>
          <p:cNvPr id="3" name="Chart 2"/>
          <p:cNvGraphicFramePr>
            <a:graphicFrameLocks noGrp="1"/>
          </p:cNvGraphicFramePr>
          <p:nvPr/>
        </p:nvGraphicFramePr>
        <p:xfrm>
          <a:off x="685800" y="1783080"/>
          <a:ext cx="530352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noGrp="1"/>
          </p:cNvGraphicFramePr>
          <p:nvPr/>
        </p:nvGraphicFramePr>
        <p:xfrm>
          <a:off x="6172200" y="1783080"/>
          <a:ext cx="530352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685800" y="5029200"/>
            <a:ext cx="5120640" cy="283154"/>
          </a:xfrm>
          <a:prstGeom prst="rect">
            <a:avLst/>
          </a:prstGeom>
          <a:noFill/>
        </p:spPr>
        <p:txBody>
          <a:bodyPr wrap="square" lIns="0" tIns="18288" rIns="0" bIns="18288" anchor="t">
            <a:spAutoFit/>
          </a:bodyPr>
          <a:lstStyle/>
          <a:p>
            <a:pPr algn="l">
              <a:spcAft>
                <a:spcPts val="800"/>
              </a:spcAft>
            </a:pPr>
            <a:r>
              <a:rPr sz="1600" b="1" i="0" dirty="0" err="1">
                <a:solidFill>
                  <a:srgbClr val="FFD166"/>
                </a:solidFill>
              </a:rPr>
              <a:t>Vanna</a:t>
            </a:r>
            <a:r>
              <a:rPr sz="1600" b="1" i="0" dirty="0">
                <a:solidFill>
                  <a:srgbClr val="FFD166"/>
                </a:solidFill>
              </a:rPr>
              <a:t> flips sign near the forward. </a:t>
            </a:r>
            <a:endParaRPr sz="1600" b="0" i="0" dirty="0">
              <a:solidFill>
                <a:srgbClr val="E6E0F2"/>
              </a:solidFill>
            </a:endParaRPr>
          </a:p>
        </p:txBody>
      </p:sp>
      <p:sp>
        <p:nvSpPr>
          <p:cNvPr id="6" name="TextBox 5"/>
          <p:cNvSpPr txBox="1"/>
          <p:nvPr/>
        </p:nvSpPr>
        <p:spPr>
          <a:xfrm>
            <a:off x="6172200" y="5029200"/>
            <a:ext cx="5303520" cy="283154"/>
          </a:xfrm>
          <a:prstGeom prst="rect">
            <a:avLst/>
          </a:prstGeom>
          <a:noFill/>
        </p:spPr>
        <p:txBody>
          <a:bodyPr wrap="square" lIns="0" tIns="18288" rIns="0" bIns="18288" anchor="t">
            <a:spAutoFit/>
          </a:bodyPr>
          <a:lstStyle/>
          <a:p>
            <a:pPr algn="l">
              <a:spcAft>
                <a:spcPts val="800"/>
              </a:spcAft>
            </a:pPr>
            <a:r>
              <a:rPr sz="1600" b="1" i="0" dirty="0" err="1">
                <a:solidFill>
                  <a:srgbClr val="FFD166"/>
                </a:solidFill>
              </a:rPr>
              <a:t>Vomma</a:t>
            </a:r>
            <a:r>
              <a:rPr sz="1600" b="1" i="0" dirty="0">
                <a:solidFill>
                  <a:srgbClr val="FFD166"/>
                </a:solidFill>
              </a:rPr>
              <a:t> is near zero ATM. </a:t>
            </a:r>
            <a:endParaRPr sz="1600" b="0" i="0" dirty="0">
              <a:solidFill>
                <a:srgbClr val="E6E0F2"/>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1"/>
            <a:ext cx="10353761" cy="622434"/>
          </a:xfrm>
        </p:spPr>
        <p:txBody>
          <a:bodyPr/>
          <a:lstStyle/>
          <a:p>
            <a:r>
              <a:rPr dirty="0"/>
              <a:t>One expiry, followed to the end</a:t>
            </a:r>
          </a:p>
        </p:txBody>
      </p:sp>
      <p:graphicFrame>
        <p:nvGraphicFramePr>
          <p:cNvPr id="7" name="Chart 6"/>
          <p:cNvGraphicFramePr>
            <a:graphicFrameLocks noGrp="1"/>
          </p:cNvGraphicFramePr>
          <p:nvPr>
            <p:extLst>
              <p:ext uri="{D42A27DB-BD31-4B8C-83A1-F6EECF244321}">
                <p14:modId xmlns:p14="http://schemas.microsoft.com/office/powerpoint/2010/main" val="3356492634"/>
              </p:ext>
            </p:extLst>
          </p:nvPr>
        </p:nvGraphicFramePr>
        <p:xfrm>
          <a:off x="2281187" y="1778267"/>
          <a:ext cx="3657600" cy="4160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p:cNvGraphicFramePr>
            <a:graphicFrameLocks noGrp="1"/>
          </p:cNvGraphicFramePr>
          <p:nvPr>
            <p:extLst>
              <p:ext uri="{D42A27DB-BD31-4B8C-83A1-F6EECF244321}">
                <p14:modId xmlns:p14="http://schemas.microsoft.com/office/powerpoint/2010/main" val="1744641577"/>
              </p:ext>
            </p:extLst>
          </p:nvPr>
        </p:nvGraphicFramePr>
        <p:xfrm>
          <a:off x="7306179" y="1778267"/>
          <a:ext cx="3657600" cy="41605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Volatility is not constant</a:t>
            </a:r>
          </a:p>
        </p:txBody>
      </p:sp>
      <p:graphicFrame>
        <p:nvGraphicFramePr>
          <p:cNvPr id="7" name="Chart 6"/>
          <p:cNvGraphicFramePr>
            <a:graphicFrameLocks noGrp="1"/>
          </p:cNvGraphicFramePr>
          <p:nvPr>
            <p:extLst>
              <p:ext uri="{D42A27DB-BD31-4B8C-83A1-F6EECF244321}">
                <p14:modId xmlns:p14="http://schemas.microsoft.com/office/powerpoint/2010/main" val="589924908"/>
              </p:ext>
            </p:extLst>
          </p:nvPr>
        </p:nvGraphicFramePr>
        <p:xfrm>
          <a:off x="2478795" y="1783080"/>
          <a:ext cx="7223760" cy="4160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Option Combinations</a:t>
            </a:r>
            <a:r>
              <a:rPr dirty="0" smtClean="0"/>
              <a:t>: long ATM straddle</a:t>
            </a:r>
            <a:endParaRPr dirty="0"/>
          </a:p>
        </p:txBody>
      </p:sp>
      <p:graphicFrame>
        <p:nvGraphicFramePr>
          <p:cNvPr id="7" name="Chart 6"/>
          <p:cNvGraphicFramePr>
            <a:graphicFrameLocks noGrp="1"/>
          </p:cNvGraphicFramePr>
          <p:nvPr>
            <p:extLst>
              <p:ext uri="{D42A27DB-BD31-4B8C-83A1-F6EECF244321}">
                <p14:modId xmlns:p14="http://schemas.microsoft.com/office/powerpoint/2010/main" val="2829270833"/>
              </p:ext>
            </p:extLst>
          </p:nvPr>
        </p:nvGraphicFramePr>
        <p:xfrm>
          <a:off x="2235467" y="1783080"/>
          <a:ext cx="7223760" cy="4160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grpSp>
        <p:nvGrpSpPr>
          <p:cNvPr id="12" name="Group 11"/>
          <p:cNvGrpSpPr/>
          <p:nvPr/>
        </p:nvGrpSpPr>
        <p:grpSpPr>
          <a:xfrm>
            <a:off x="685800" y="1920240"/>
            <a:ext cx="5303520" cy="794085"/>
            <a:chOff x="685800" y="1920240"/>
            <a:chExt cx="5303520" cy="794085"/>
          </a:xfrm>
        </p:grpSpPr>
        <p:sp>
          <p:nvSpPr>
            <p:cNvPr id="3" name="Rounded Rectangle 2"/>
            <p:cNvSpPr/>
            <p:nvPr/>
          </p:nvSpPr>
          <p:spPr>
            <a:xfrm>
              <a:off x="685800" y="1920240"/>
              <a:ext cx="5303520" cy="794085"/>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2148840"/>
              <a:ext cx="4754880" cy="344710"/>
            </a:xfrm>
            <a:prstGeom prst="rect">
              <a:avLst/>
            </a:prstGeom>
            <a:noFill/>
          </p:spPr>
          <p:txBody>
            <a:bodyPr wrap="square" lIns="0" tIns="18288" rIns="0" bIns="18288" anchor="t">
              <a:spAutoFit/>
            </a:bodyPr>
            <a:lstStyle/>
            <a:p>
              <a:pPr algn="l">
                <a:spcAft>
                  <a:spcPts val="600"/>
                </a:spcAft>
              </a:pPr>
              <a:r>
                <a:rPr lang="en-IN" sz="2000" b="1" i="0" dirty="0" smtClean="0">
                  <a:solidFill>
                    <a:srgbClr val="FFD166"/>
                  </a:solidFill>
                </a:rPr>
                <a:t>Intraday Sensitivity</a:t>
              </a:r>
              <a:endParaRPr sz="2000" b="1" i="0" dirty="0">
                <a:solidFill>
                  <a:srgbClr val="FFD166"/>
                </a:solidFill>
              </a:endParaRPr>
            </a:p>
          </p:txBody>
        </p:sp>
      </p:grpSp>
      <p:sp>
        <p:nvSpPr>
          <p:cNvPr id="5" name="Rounded Rectangle 4"/>
          <p:cNvSpPr/>
          <p:nvPr/>
        </p:nvSpPr>
        <p:spPr>
          <a:xfrm>
            <a:off x="6199632" y="1920241"/>
            <a:ext cx="5303520" cy="794084"/>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73952" y="2148840"/>
            <a:ext cx="4754880" cy="344710"/>
          </a:xfrm>
          <a:prstGeom prst="rect">
            <a:avLst/>
          </a:prstGeom>
          <a:noFill/>
        </p:spPr>
        <p:txBody>
          <a:bodyPr wrap="square" lIns="0" tIns="18288" rIns="0" bIns="18288" anchor="t">
            <a:spAutoFit/>
          </a:bodyPr>
          <a:lstStyle/>
          <a:p>
            <a:pPr algn="l">
              <a:spcAft>
                <a:spcPts val="600"/>
              </a:spcAft>
            </a:pPr>
            <a:r>
              <a:rPr lang="en-IN" sz="2000" b="1" i="0" dirty="0" smtClean="0">
                <a:solidFill>
                  <a:srgbClr val="FFD166"/>
                </a:solidFill>
              </a:rPr>
              <a:t>Sensitivity linked with strategy</a:t>
            </a:r>
            <a:endParaRPr sz="2000" b="1" i="0" dirty="0">
              <a:solidFill>
                <a:srgbClr val="FFD166"/>
              </a:solidFill>
            </a:endParaRPr>
          </a:p>
        </p:txBody>
      </p:sp>
      <p:grpSp>
        <p:nvGrpSpPr>
          <p:cNvPr id="11" name="Group 10"/>
          <p:cNvGrpSpPr/>
          <p:nvPr/>
        </p:nvGrpSpPr>
        <p:grpSpPr>
          <a:xfrm>
            <a:off x="685800" y="3080084"/>
            <a:ext cx="5303520" cy="760396"/>
            <a:chOff x="685800" y="3840480"/>
            <a:chExt cx="5303520" cy="760396"/>
          </a:xfrm>
        </p:grpSpPr>
        <p:sp>
          <p:nvSpPr>
            <p:cNvPr id="7" name="Rounded Rectangle 6"/>
            <p:cNvSpPr/>
            <p:nvPr/>
          </p:nvSpPr>
          <p:spPr>
            <a:xfrm>
              <a:off x="685800" y="3840480"/>
              <a:ext cx="5303520" cy="760396"/>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4069080"/>
              <a:ext cx="4754880" cy="344710"/>
            </a:xfrm>
            <a:prstGeom prst="rect">
              <a:avLst/>
            </a:prstGeom>
            <a:noFill/>
          </p:spPr>
          <p:txBody>
            <a:bodyPr wrap="square" lIns="0" tIns="18288" rIns="0" bIns="18288" anchor="t">
              <a:spAutoFit/>
            </a:bodyPr>
            <a:lstStyle/>
            <a:p>
              <a:pPr algn="l">
                <a:spcAft>
                  <a:spcPts val="600"/>
                </a:spcAft>
              </a:pPr>
              <a:r>
                <a:rPr sz="2000" b="1" i="0" dirty="0">
                  <a:solidFill>
                    <a:srgbClr val="FFD166"/>
                  </a:solidFill>
                </a:rPr>
                <a:t>Hedging </a:t>
              </a:r>
              <a:r>
                <a:rPr sz="2000" b="1" i="0" dirty="0" err="1" smtClean="0">
                  <a:solidFill>
                    <a:srgbClr val="FFD166"/>
                  </a:solidFill>
                </a:rPr>
                <a:t>backtest</a:t>
              </a:r>
              <a:endParaRPr sz="2000" b="1" i="0" dirty="0">
                <a:solidFill>
                  <a:srgbClr val="FFD166"/>
                </a:solidFill>
              </a:endParaRPr>
            </a:p>
          </p:txBody>
        </p:sp>
      </p:grpSp>
      <p:grpSp>
        <p:nvGrpSpPr>
          <p:cNvPr id="13" name="Group 12"/>
          <p:cNvGrpSpPr/>
          <p:nvPr/>
        </p:nvGrpSpPr>
        <p:grpSpPr>
          <a:xfrm>
            <a:off x="6199632" y="3080084"/>
            <a:ext cx="5303520" cy="760396"/>
            <a:chOff x="685800" y="3840480"/>
            <a:chExt cx="5303520" cy="760396"/>
          </a:xfrm>
        </p:grpSpPr>
        <p:sp>
          <p:nvSpPr>
            <p:cNvPr id="14" name="Rounded Rectangle 13"/>
            <p:cNvSpPr/>
            <p:nvPr/>
          </p:nvSpPr>
          <p:spPr>
            <a:xfrm>
              <a:off x="685800" y="3840480"/>
              <a:ext cx="5303520" cy="760396"/>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069080"/>
              <a:ext cx="4754880" cy="344710"/>
            </a:xfrm>
            <a:prstGeom prst="rect">
              <a:avLst/>
            </a:prstGeom>
            <a:noFill/>
          </p:spPr>
          <p:txBody>
            <a:bodyPr wrap="square" lIns="0" tIns="18288" rIns="0" bIns="18288" anchor="t">
              <a:spAutoFit/>
            </a:bodyPr>
            <a:lstStyle/>
            <a:p>
              <a:pPr algn="l">
                <a:spcAft>
                  <a:spcPts val="600"/>
                </a:spcAft>
              </a:pPr>
              <a:r>
                <a:rPr lang="en-IN" sz="2000" b="1" i="0" dirty="0" smtClean="0">
                  <a:solidFill>
                    <a:srgbClr val="FFD166"/>
                  </a:solidFill>
                </a:rPr>
                <a:t>Strategy</a:t>
              </a:r>
              <a:r>
                <a:rPr sz="2000" b="1" i="0" dirty="0" smtClean="0">
                  <a:solidFill>
                    <a:srgbClr val="FFD166"/>
                  </a:solidFill>
                </a:rPr>
                <a:t> </a:t>
              </a:r>
              <a:r>
                <a:rPr sz="2000" b="1" i="0" dirty="0" err="1" smtClean="0">
                  <a:solidFill>
                    <a:srgbClr val="FFD166"/>
                  </a:solidFill>
                </a:rPr>
                <a:t>backtest</a:t>
              </a:r>
              <a:endParaRPr sz="2000" b="1" i="0" dirty="0">
                <a:solidFill>
                  <a:srgbClr val="FFD166"/>
                </a:solidFill>
              </a:endParaRPr>
            </a:p>
          </p:txBody>
        </p:sp>
      </p:grpSp>
      <p:grpSp>
        <p:nvGrpSpPr>
          <p:cNvPr id="16" name="Group 15"/>
          <p:cNvGrpSpPr/>
          <p:nvPr/>
        </p:nvGrpSpPr>
        <p:grpSpPr>
          <a:xfrm>
            <a:off x="685800" y="4206239"/>
            <a:ext cx="5303520" cy="760396"/>
            <a:chOff x="685800" y="3840480"/>
            <a:chExt cx="5303520" cy="760396"/>
          </a:xfrm>
        </p:grpSpPr>
        <p:sp>
          <p:nvSpPr>
            <p:cNvPr id="17" name="Rounded Rectangle 16"/>
            <p:cNvSpPr/>
            <p:nvPr/>
          </p:nvSpPr>
          <p:spPr>
            <a:xfrm>
              <a:off x="685800" y="3840480"/>
              <a:ext cx="5303520" cy="760396"/>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069080"/>
              <a:ext cx="4754880" cy="344710"/>
            </a:xfrm>
            <a:prstGeom prst="rect">
              <a:avLst/>
            </a:prstGeom>
            <a:noFill/>
          </p:spPr>
          <p:txBody>
            <a:bodyPr wrap="square" lIns="0" tIns="18288" rIns="0" bIns="18288" anchor="t">
              <a:spAutoFit/>
            </a:bodyPr>
            <a:lstStyle/>
            <a:p>
              <a:pPr algn="l">
                <a:spcAft>
                  <a:spcPts val="600"/>
                </a:spcAft>
              </a:pPr>
              <a:r>
                <a:rPr lang="en-IN" sz="2000" b="1" i="0" dirty="0" smtClean="0">
                  <a:solidFill>
                    <a:srgbClr val="FFD166"/>
                  </a:solidFill>
                </a:rPr>
                <a:t>Theoretical P&amp;L</a:t>
              </a:r>
              <a:endParaRPr sz="2000" b="1" i="0" dirty="0">
                <a:solidFill>
                  <a:srgbClr val="FFD166"/>
                </a:solidFill>
              </a:endParaRPr>
            </a:p>
          </p:txBody>
        </p:sp>
      </p:grpSp>
      <p:grpSp>
        <p:nvGrpSpPr>
          <p:cNvPr id="19" name="Group 18"/>
          <p:cNvGrpSpPr/>
          <p:nvPr/>
        </p:nvGrpSpPr>
        <p:grpSpPr>
          <a:xfrm>
            <a:off x="6199632" y="4226996"/>
            <a:ext cx="5303520" cy="760396"/>
            <a:chOff x="685800" y="3840480"/>
            <a:chExt cx="5303520" cy="760396"/>
          </a:xfrm>
        </p:grpSpPr>
        <p:sp>
          <p:nvSpPr>
            <p:cNvPr id="20" name="Rounded Rectangle 19"/>
            <p:cNvSpPr/>
            <p:nvPr/>
          </p:nvSpPr>
          <p:spPr>
            <a:xfrm>
              <a:off x="685800" y="3840480"/>
              <a:ext cx="5303520" cy="760396"/>
            </a:xfrm>
            <a:prstGeom prst="roundRect">
              <a:avLst>
                <a:gd name="adj" fmla="val 8000"/>
              </a:avLst>
            </a:prstGeom>
            <a:solidFill>
              <a:srgbClr val="2A1B4D">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069080"/>
              <a:ext cx="4754880" cy="344710"/>
            </a:xfrm>
            <a:prstGeom prst="rect">
              <a:avLst/>
            </a:prstGeom>
            <a:noFill/>
          </p:spPr>
          <p:txBody>
            <a:bodyPr wrap="square" lIns="0" tIns="18288" rIns="0" bIns="18288" anchor="t">
              <a:spAutoFit/>
            </a:bodyPr>
            <a:lstStyle/>
            <a:p>
              <a:pPr algn="l">
                <a:spcAft>
                  <a:spcPts val="600"/>
                </a:spcAft>
              </a:pPr>
              <a:r>
                <a:rPr lang="en-IN" sz="2000" b="1" i="0" dirty="0" smtClean="0">
                  <a:solidFill>
                    <a:srgbClr val="FFD166"/>
                  </a:solidFill>
                </a:rPr>
                <a:t>Trading Cost</a:t>
              </a:r>
              <a:endParaRPr sz="2000" b="1" i="0" dirty="0">
                <a:solidFill>
                  <a:srgbClr val="FFD166"/>
                </a:solidFill>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9615"/>
            <a:ext cx="12191980" cy="6857990"/>
          </a:xfrm>
          <a:prstGeom prst="rect">
            <a:avLst/>
          </a:prstGeom>
        </p:spPr>
      </p:pic>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a:normAutofit/>
          </a:bodyPr>
          <a:lstStyle/>
          <a:p>
            <a:r>
              <a:rPr lang="en-US" dirty="0"/>
              <a:t>Thank </a:t>
            </a:r>
            <a:r>
              <a:rPr lang="en-US" dirty="0" smtClean="0"/>
              <a:t>You</a:t>
            </a:r>
            <a:endParaRPr lang="en-US" dirty="0"/>
          </a:p>
        </p:txBody>
      </p:sp>
      <p:sp>
        <p:nvSpPr>
          <p:cNvPr id="3" name="Subtitle 2">
            <a:extLst>
              <a:ext uri="{FF2B5EF4-FFF2-40B4-BE49-F238E27FC236}">
                <a16:creationId xmlns:a16="http://schemas.microsoft.com/office/drawing/2014/main" id="{4B64FA72-B055-4AE3-A6FD-8071BD687CBE}"/>
              </a:ext>
            </a:extLst>
          </p:cNvPr>
          <p:cNvSpPr>
            <a:spLocks noGrp="1"/>
          </p:cNvSpPr>
          <p:nvPr>
            <p:ph type="subTitle" idx="1"/>
          </p:nvPr>
        </p:nvSpPr>
        <p:spPr>
          <a:xfrm>
            <a:off x="3962399" y="4995332"/>
            <a:ext cx="7197726" cy="1405467"/>
          </a:xfrm>
        </p:spPr>
        <p:txBody>
          <a:bodyPr>
            <a:normAutofit/>
          </a:bodyPr>
          <a:lstStyle/>
          <a:p>
            <a:r>
              <a:rPr lang="en-US" dirty="0">
                <a:solidFill>
                  <a:schemeClr val="accent1">
                    <a:lumMod val="40000"/>
                    <a:lumOff val="60000"/>
                  </a:schemeClr>
                </a:solidFill>
              </a:rPr>
              <a:t>Questions?  |  Code: github.com/akhil-cv/IE612</a:t>
            </a:r>
          </a:p>
        </p:txBody>
      </p:sp>
    </p:spTree>
    <p:extLst>
      <p:ext uri="{BB962C8B-B14F-4D97-AF65-F5344CB8AC3E}">
        <p14:creationId xmlns:p14="http://schemas.microsoft.com/office/powerpoint/2010/main" val="293993086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TM04033921[[fn=Damask]]</Template>
  <TotalTime>215</TotalTime>
  <Words>1902</Words>
  <Application>Microsoft Office PowerPoint</Application>
  <PresentationFormat>Widescreen</PresentationFormat>
  <Paragraphs>237</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Bookman Old Style</vt:lpstr>
      <vt:lpstr>Calibri</vt:lpstr>
      <vt:lpstr>Cambria</vt:lpstr>
      <vt:lpstr>Cambria Math</vt:lpstr>
      <vt:lpstr>Rockwell</vt:lpstr>
      <vt:lpstr>Damask</vt:lpstr>
      <vt:lpstr>Options sensitivities on nifty</vt:lpstr>
      <vt:lpstr>Agenda</vt:lpstr>
      <vt:lpstr>Why sensitivities matter</vt:lpstr>
      <vt:lpstr>OPTION TRADING</vt:lpstr>
      <vt:lpstr>Greeks</vt:lpstr>
      <vt:lpstr>Greeks</vt:lpstr>
      <vt:lpstr>Higher-order Greeks and units</vt:lpstr>
      <vt:lpstr>Model: Black-76</vt:lpstr>
      <vt:lpstr>Greeks (using Black 76)</vt:lpstr>
      <vt:lpstr>Greeks (using Black 76)</vt:lpstr>
      <vt:lpstr>Parity forward and discount factor</vt:lpstr>
      <vt:lpstr>Delta across strikes</vt:lpstr>
      <vt:lpstr>Gamma peaks near the forward</vt:lpstr>
      <vt:lpstr>Theta: the cost of waiting</vt:lpstr>
      <vt:lpstr>Vega grows with time</vt:lpstr>
      <vt:lpstr>Rho: small for short expiries</vt:lpstr>
      <vt:lpstr>Vanna and vomma</vt:lpstr>
      <vt:lpstr>One expiry, followed to the end</vt:lpstr>
      <vt:lpstr>Volatility is not constant</vt:lpstr>
      <vt:lpstr>Option Combinations: long ATM straddle</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Options sensitivities on nifty</dc:title>
  <dc:creator>Aseem Godbole</dc:creator>
  <cp:lastModifiedBy>akhil cv</cp:lastModifiedBy>
  <cp:revision>17</cp:revision>
  <dcterms:created xsi:type="dcterms:W3CDTF">2026-10-30T13:43:59Z</dcterms:created>
  <dcterms:modified xsi:type="dcterms:W3CDTF">2026-10-30T18:11:09Z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